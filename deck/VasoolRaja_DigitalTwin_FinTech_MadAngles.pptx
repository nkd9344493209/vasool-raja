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 rupee-note-style engraving of the team's own design: guilloche rosettes, windowed security thread with micro-text, an engraved ₹ in the watermark window, denomination 100 = the ₹100/day hook, the tagline in eight Indian scripts, bleed lines and ID mark. Clearly marked 'not legal tender'; no issuer name, emblem or portrait.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Problem. Indian banks operate under a detailed RBI rulebook on charges, failed-transaction reversal and compensation (₹100/day when an eligible failed transaction is not reversed within the prescribed time, RBI/2019-20/67), yet customers never read it. Banks collected ₹7,086 crore in minimum-balance penalties in FY26; 13.34 lakh Ombudsman complaints were filed in FY25. Solution. Vasool Raja is a Regulatory Digital Twin: the customer's actual financial state (transactions, balances, reversals) is compared with the expected regulatory state (the versioned RBI rule in force on that date, its required action, deadline and compensation formula); the delta is an evidence-backed potential claim. 22 RBI rules implemented as an open JSON rulebook (40 mapped), 76 automated tests; findings labelled recoverable / avoidable / unclear; complaint prepared and tracked on the statutory 30-day clock; no complaint is filed without human confirmation. A deterministic rule engine decides; an LLM only extracts, explains and communicates (Tamil voice, family Guardian). Feasibility. Built: FastAPI + rule engine + web app; CSV/PDF/passbook-photo OCR, multi-statement history, printed A4 complaint, real one-button guardian email. Impact. Every UPI user; free for consumers; bank-side use: detect regulatory exceptions before they become complaints. Keywords: Digital Twin, Regulatory Twin, RegTech, FinTech, RBI compliance, rule engine, evidence chain, grievance redressal, UPI, financial inclusion, Tamil.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rulebook slide: establishes that Vasool Raja is a rule engine over the RBI consumer rulebook, not an app for failed ATM transactions. 40 rules mapped; 22 implemented as open JSON (rulebook/rules.json), each with circular, effective window, formula, evidence, questions and automated tests (76 passing). Eight shown. Rules change (the ATM cap was ₹21 before 1 May 2025), so every rule is versioned by effective date. Rule-change pipeline: RBI notification → rule update → human verification → test cases →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Passbook table (text, not an image): NEFT pension 6,500; ATM withdrawals 3,000 and 2,000; minimum-balance charge 295.00 and SMS alert charge 17.70 on 30/06/26. Scene: she asks why; counter says system charge; the rule requires notice and one month; months later a Tamil voice call and one WhatsApp to her son. Spine: people have rights they don't know they have, and the process to exercise them is too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all official: ₹7,086.63 crore minimum-balance penalties FY26 (Rajya Sabha, 28 Jul 2026); ₹35,587.68 crore FY18–FY23 (Rajya Sabha, 8 Aug 2023); 13.34 lakh complaints FY25 (RBI Ombudsman annual report); Punjab &amp; Sind Bank ordered to pay ₹59,600 on a ₹10,000 failed ATM withdrawal (Delhi DCDRC, 27 Aug 2026). UPI volume: 24.51 billion transactions, August 2026 (NPCI).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Competitor review, Sept 2026: RBI CMS portal (files a complaint you already know you have), NPCI UPI Help (per-transaction status, reactive), ClaimBack.in (scans a statement PDF and drafts an email; no failed-transaction compensation, no deadline tracking, English only), bank apps and CRED (insights, no recovery). We claim only what we found; the gap is the combination.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is a continuously updated model of the customer's financial-rule state: transactions, balance path, account type, the RBI rules in force on each date, deadlines, claims and outcomes. Actual state (what the statement shows) is compared with expected state (what the rule required by when); the delta, with its evidence lines and confidence label, is the potential claim. ₹0 = compensation actually credited; ₹1,200 = compensation expected under RBI/2019-20/67 for 12 days of delay. The LLM never decides whether the bank owes money; it reads photos (OCR) and explains findings. Guardian: nominee-for-grievances; RBI Ombudsman Scheme permits authorised representatives.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 control by architecture: the LLM sits after the verdict, never before it. In reserve: 'Who cares about ₹20?' (lead with the ₹1,000s, combine small ones, never ask the user to act on one); 'Does the money actually come back?' (not always — labels recoverable / avoidable / unclear; recovery in the prototype is simulated); 'How does an illiterate person use an app?' (called in Tamil; guardian gets one message and one button — accessibility layer, same engine); false alarm on a big legitimate payment (no anomaly detection; a ₹50,000 fee matches no rule — automated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slide, no placeholders. Screenshots from the running app (v0.4.1). Left: Found screen after merging two synthetic Canara statements — ₹5,402.38 is the sum of RECOVERABLE findings on that data. Stateful strip: with only Jun–Aug the June min-balance penalty is UNCLEAR (needs the notice question); merging Mar–May makes May's balances visible (never below ₹500) and the verdict becomes CONFIRMED recoverable — an automated test (test_second_statement_changes_the_verdict). Right: real pytest output (76 passed); three representative tests named as they exist in tests/test_engine.py. If asked for the repo: on the laptop; GitHub link the moment it is public. If asked about a real filed claim: none yet —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demo as a 12-step journey, every step implemented (v0.4.1). Say 'simulated' about recovery before anyone asks. Business model: consumer side free; bank side is the same engine used to find regulatory exceptions before they become complaints — explicitly not a claim-rejection tool. RBI Internal Ombudsman Directions 14 Jan 2026 (source slide 10) create the incentive. No bank customers today; no revenue; no partnerships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on slides 1–5 and every implemented rule traces to one of these. Before submission each URL is opened and the figure re-checked. Not used as a headline: '0.44% of complaints compensated' (Moneylife, FY24) — different denominator from the 13.34 lakh FY25 total; must not appear beside it without its own source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E6CF"/>
        </a:solidFill>
      </p:bgPr>
    </p:bg>
    <p:spTree>
      <p:nvGrpSpPr>
        <p:cNvPr id="1" name=""/>
        <p:cNvGrpSpPr/>
        <p:nvPr/>
      </p:nvGrpSpPr>
      <p:grpSpPr>
        <a:xfrm>
          <a:off x="0" y="0"/>
          <a:ext cx="0" cy="0"/>
          <a:chOff x="0" y="0"/>
          <a:chExt cx="0" cy="0"/>
        </a:xfrm>
      </p:grpSpPr>
      <p:pic>
        <p:nvPicPr>
          <p:cNvPr id="2" name="Image 0" descr="/home/claude/deck/cover-note.png">    </p:cNvPr>
          <p:cNvPicPr>
            <a:picLocks noChangeAspect="1"/>
          </p:cNvPicPr>
          <p:nvPr/>
        </p:nvPicPr>
        <p:blipFill>
          <a:blip r:embed="rId1"/>
          <a:stretch>
            <a:fillRect/>
          </a:stretch>
        </p:blipFill>
        <p:spPr>
          <a:xfrm>
            <a:off x="0" y="0"/>
            <a:ext cx="1218895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4C31"/>
        </a:solidFill>
      </p:bgPr>
    </p:bg>
    <p:spTree>
      <p:nvGrpSpPr>
        <p:cNvPr id="1" name=""/>
        <p:cNvGrpSpPr/>
        <p:nvPr/>
      </p:nvGrpSpPr>
      <p:grpSpPr>
        <a:xfrm>
          <a:off x="0" y="0"/>
          <a:ext cx="0" cy="0"/>
          <a:chOff x="0" y="0"/>
          <a:chExt cx="0" cy="0"/>
        </a:xfrm>
      </p:grpSpPr>
      <p:sp>
        <p:nvSpPr>
          <p:cNvPr id="2" name="Text 0"/>
          <p:cNvSpPr txBox="1"/>
          <p:nvPr/>
        </p:nvSpPr>
        <p:spPr>
          <a:xfrm>
            <a:off x="548640" y="292608"/>
            <a:ext cx="3657600" cy="274320"/>
          </a:xfrm>
          <a:prstGeom prst="rect">
            <a:avLst/>
          </a:prstGeom>
          <a:noFill/>
          <a:ln/>
        </p:spPr>
        <p:txBody>
          <a:bodyPr wrap="square" lIns="0" tIns="0" rIns="0" bIns="0" rtlCol="0" anchor="ctr"/>
          <a:lstStyle/>
          <a:p>
            <a:pPr indent="0" marL="0">
              <a:buNone/>
            </a:pPr>
            <a:r>
              <a:rPr lang="en-US" sz="1000" b="1" spc="300" kern="0" dirty="0">
                <a:solidFill>
                  <a:srgbClr val="C9961A"/>
                </a:solidFill>
                <a:latin typeface="Calibri" pitchFamily="34" charset="0"/>
                <a:ea typeface="Calibri" pitchFamily="34" charset="-122"/>
                <a:cs typeface="Calibri" pitchFamily="34" charset="-120"/>
              </a:rPr>
              <a:t>PROBLEM</a:t>
            </a:r>
            <a:endParaRPr lang="en-US" sz="1000" dirty="0"/>
          </a:p>
        </p:txBody>
      </p:sp>
      <p:sp>
        <p:nvSpPr>
          <p:cNvPr id="3" name="Text 1"/>
          <p:cNvSpPr txBox="1"/>
          <p:nvPr/>
        </p:nvSpPr>
        <p:spPr>
          <a:xfrm>
            <a:off x="548640" y="1234440"/>
            <a:ext cx="11155680" cy="1280160"/>
          </a:xfrm>
          <a:prstGeom prst="rect">
            <a:avLst/>
          </a:prstGeom>
          <a:noFill/>
          <a:ln/>
        </p:spPr>
        <p:txBody>
          <a:bodyPr wrap="square" lIns="0" tIns="0" rIns="0" bIns="0" rtlCol="0" anchor="ctr"/>
          <a:lstStyle/>
          <a:p>
            <a:pPr indent="0" marL="0">
              <a:buNone/>
            </a:pPr>
            <a:r>
              <a:rPr lang="en-US" sz="6800" b="1" dirty="0">
                <a:solidFill>
                  <a:srgbClr val="C9961A"/>
                </a:solidFill>
                <a:latin typeface="Cambria" pitchFamily="34" charset="0"/>
                <a:ea typeface="Cambria" pitchFamily="34" charset="-122"/>
                <a:cs typeface="Cambria" pitchFamily="34" charset="-120"/>
              </a:rPr>
              <a:t>₹100/day compensation</a:t>
            </a:r>
            <a:endParaRPr lang="en-US" sz="6800" dirty="0"/>
          </a:p>
        </p:txBody>
      </p:sp>
      <p:sp>
        <p:nvSpPr>
          <p:cNvPr id="4" name="Text 2"/>
          <p:cNvSpPr txBox="1"/>
          <p:nvPr/>
        </p:nvSpPr>
        <p:spPr>
          <a:xfrm>
            <a:off x="548640" y="2606040"/>
            <a:ext cx="10515600" cy="5486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When an eligible failed transaction is not reversed within the prescribed time.</a:t>
            </a:r>
            <a:endParaRPr lang="en-US" sz="2200" dirty="0"/>
          </a:p>
        </p:txBody>
      </p:sp>
      <p:sp>
        <p:nvSpPr>
          <p:cNvPr id="5" name="Text 3"/>
          <p:cNvSpPr txBox="1"/>
          <p:nvPr/>
        </p:nvSpPr>
        <p:spPr>
          <a:xfrm>
            <a:off x="548640" y="3200400"/>
            <a:ext cx="10515600" cy="548640"/>
          </a:xfrm>
          <a:prstGeom prst="rect">
            <a:avLst/>
          </a:prstGeom>
          <a:noFill/>
          <a:ln/>
        </p:spPr>
        <p:txBody>
          <a:bodyPr wrap="square" lIns="0" tIns="0" rIns="0" bIns="0" rtlCol="0" anchor="ctr"/>
          <a:lstStyle/>
          <a:p>
            <a:pPr indent="0" marL="0">
              <a:buNone/>
            </a:pPr>
            <a:r>
              <a:rPr lang="en-US" sz="1200" dirty="0">
                <a:solidFill>
                  <a:srgbClr val="9DB8A8"/>
                </a:solidFill>
                <a:latin typeface="Calibri" pitchFamily="34" charset="0"/>
                <a:ea typeface="Calibri" pitchFamily="34" charset="-122"/>
                <a:cs typeface="Calibri" pitchFamily="34" charset="-120"/>
              </a:rPr>
              <a:t>RBI/2019-20/67 · in force since 15 Oct 2019 · eligibility and the T+1 / T+5 windows depend on the channel — not every failed transaction qualifies. Most customers never know to check.</a:t>
            </a:r>
            <a:endParaRPr lang="en-US" sz="1200" dirty="0"/>
          </a:p>
        </p:txBody>
      </p:sp>
      <p:sp>
        <p:nvSpPr>
          <p:cNvPr id="6" name="Shape 4"/>
          <p:cNvSpPr/>
          <p:nvPr/>
        </p:nvSpPr>
        <p:spPr>
          <a:xfrm>
            <a:off x="548640" y="3977640"/>
            <a:ext cx="11091672" cy="1051560"/>
          </a:xfrm>
          <a:prstGeom prst="rect">
            <a:avLst/>
          </a:prstGeom>
          <a:solidFill>
            <a:srgbClr val="0E3A25"/>
          </a:solidFill>
          <a:ln w="12700">
            <a:solidFill>
              <a:srgbClr val="0E3A25"/>
            </a:solidFill>
            <a:prstDash val="solid"/>
          </a:ln>
        </p:spPr>
      </p:sp>
      <p:sp>
        <p:nvSpPr>
          <p:cNvPr id="7" name="Text 5"/>
          <p:cNvSpPr txBox="1"/>
          <p:nvPr/>
        </p:nvSpPr>
        <p:spPr>
          <a:xfrm>
            <a:off x="777240" y="3977640"/>
            <a:ext cx="10698480" cy="10515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Vasool Raja checks your statement against the RBI rule that applied on that date.</a:t>
            </a:r>
            <a:endParaRPr lang="en-US" sz="1700" dirty="0"/>
          </a:p>
          <a:p>
            <a:pPr indent="0" marL="0">
              <a:buNone/>
            </a:pPr>
            <a:r>
              <a:rPr lang="en-US" sz="1300" dirty="0">
                <a:solidFill>
                  <a:srgbClr val="C9961A"/>
                </a:solidFill>
                <a:latin typeface="Calibri" pitchFamily="34" charset="0"/>
                <a:ea typeface="Calibri" pitchFamily="34" charset="-122"/>
                <a:cs typeface="Calibri" pitchFamily="34" charset="-120"/>
              </a:rPr>
              <a:t>22 RBI rules implemented  ·  76 automated tests  ·  ready to demo</a:t>
            </a:r>
            <a:endParaRPr lang="en-US" sz="1700" dirty="0"/>
          </a:p>
        </p:txBody>
      </p:sp>
      <p:sp>
        <p:nvSpPr>
          <p:cNvPr id="8" name="Text 6"/>
          <p:cNvSpPr txBox="1"/>
          <p:nvPr/>
        </p:nvSpPr>
        <p:spPr>
          <a:xfrm>
            <a:off x="548640" y="5212080"/>
            <a:ext cx="10515600" cy="365760"/>
          </a:xfrm>
          <a:prstGeom prst="rect">
            <a:avLst/>
          </a:prstGeom>
          <a:noFill/>
          <a:ln/>
        </p:spPr>
        <p:txBody>
          <a:bodyPr wrap="square" lIns="0" tIns="0" rIns="0" bIns="0" rtlCol="0" anchor="ctr"/>
          <a:lstStyle/>
          <a:p>
            <a:pPr indent="0" marL="0">
              <a:buNone/>
            </a:pPr>
            <a:r>
              <a:rPr lang="en-US" sz="1600" i="1" dirty="0">
                <a:solidFill>
                  <a:srgbClr val="F6EDD3"/>
                </a:solidFill>
                <a:latin typeface="Cambria" pitchFamily="34" charset="0"/>
                <a:ea typeface="Cambria" pitchFamily="34" charset="-122"/>
                <a:cs typeface="Cambria" pitchFamily="34" charset="-120"/>
              </a:rPr>
              <a:t>Rule-driven.  Evidence-backed.  Human-confirmed.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3657600" cy="274320"/>
          </a:xfrm>
          <a:prstGeom prst="rect">
            <a:avLst/>
          </a:prstGeom>
          <a:noFill/>
          <a:ln/>
        </p:spPr>
        <p:txBody>
          <a:bodyPr wrap="square" lIns="0" tIns="0" rIns="0" bIns="0" rtlCol="0" anchor="ctr"/>
          <a:lstStyle/>
          <a:p>
            <a:pPr indent="0" marL="0">
              <a:buNone/>
            </a:pPr>
            <a:r>
              <a:rPr lang="en-US" sz="1000" b="1" spc="300" kern="0" dirty="0">
                <a:solidFill>
                  <a:srgbClr val="1E6A44"/>
                </a:solidFill>
                <a:latin typeface="Calibri" pitchFamily="34" charset="0"/>
                <a:ea typeface="Calibri" pitchFamily="34" charset="-122"/>
                <a:cs typeface="Calibri" pitchFamily="34" charset="-120"/>
              </a:rPr>
              <a:t>PROBLEM · REGULATORY ENGINE</a:t>
            </a:r>
            <a:endParaRPr lang="en-US" sz="10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18261F"/>
                </a:solidFill>
                <a:latin typeface="Cambria" pitchFamily="34" charset="0"/>
                <a:ea typeface="Cambria" pitchFamily="34" charset="-122"/>
                <a:cs typeface="Cambria" pitchFamily="34" charset="-120"/>
              </a:rPr>
              <a:t>It's not one rule. It's a rulebook — versioned, tested, deterministic.</a:t>
            </a:r>
            <a:endParaRPr lang="en-US" sz="3000" dirty="0"/>
          </a:p>
        </p:txBody>
      </p:sp>
      <p:sp>
        <p:nvSpPr>
          <p:cNvPr id="4" name="Text 2"/>
          <p:cNvSpPr txBox="1"/>
          <p:nvPr/>
        </p:nvSpPr>
        <p:spPr>
          <a:xfrm>
            <a:off x="548640" y="1463040"/>
            <a:ext cx="7223760" cy="822960"/>
          </a:xfrm>
          <a:prstGeom prst="rect">
            <a:avLst/>
          </a:prstGeom>
          <a:noFill/>
          <a:ln/>
        </p:spPr>
        <p:txBody>
          <a:bodyPr wrap="square" lIns="0" tIns="0" rIns="0" bIns="0" rtlCol="0" anchor="ctr"/>
          <a:lstStyle/>
          <a:p>
            <a:pPr indent="0" marL="0">
              <a:buNone/>
            </a:pPr>
            <a:r>
              <a:rPr lang="en-US" sz="1450" dirty="0">
                <a:solidFill>
                  <a:srgbClr val="4E5D55"/>
                </a:solidFill>
                <a:latin typeface="Calibri" pitchFamily="34" charset="0"/>
                <a:ea typeface="Calibri" pitchFamily="34" charset="-122"/>
                <a:cs typeface="Calibri" pitchFamily="34" charset="-120"/>
              </a:rPr>
              <a:t>₹100/day is one of about forty RBI rules that decide what your bank may charge, what it must tell you first, and what it owes you when it fails. Your bank knows all of them. You know none.</a:t>
            </a:r>
            <a:endParaRPr lang="en-US" sz="1450" dirty="0"/>
          </a:p>
        </p:txBody>
      </p:sp>
      <p:sp>
        <p:nvSpPr>
          <p:cNvPr id="5" name="Shape 3"/>
          <p:cNvSpPr/>
          <p:nvPr/>
        </p:nvSpPr>
        <p:spPr>
          <a:xfrm>
            <a:off x="8092440" y="1417320"/>
            <a:ext cx="3547872" cy="914400"/>
          </a:xfrm>
          <a:prstGeom prst="rect">
            <a:avLst/>
          </a:prstGeom>
          <a:solidFill>
            <a:srgbClr val="144C31"/>
          </a:solidFill>
          <a:ln w="12700">
            <a:solidFill>
              <a:srgbClr val="144C31"/>
            </a:solidFill>
            <a:prstDash val="solid"/>
          </a:ln>
        </p:spPr>
      </p:sp>
      <p:sp>
        <p:nvSpPr>
          <p:cNvPr id="6" name="Text 4"/>
          <p:cNvSpPr txBox="1"/>
          <p:nvPr/>
        </p:nvSpPr>
        <p:spPr>
          <a:xfrm>
            <a:off x="8183880" y="1463040"/>
            <a:ext cx="841248" cy="457200"/>
          </a:xfrm>
          <a:prstGeom prst="rect">
            <a:avLst/>
          </a:prstGeom>
          <a:noFill/>
          <a:ln/>
        </p:spPr>
        <p:txBody>
          <a:bodyPr wrap="square" lIns="0" tIns="0" rIns="0" bIns="0" rtlCol="0" anchor="ctr"/>
          <a:lstStyle/>
          <a:p>
            <a:pPr algn="ctr" indent="0" marL="0">
              <a:buNone/>
            </a:pPr>
            <a:r>
              <a:rPr lang="en-US" sz="2200" b="1" dirty="0">
                <a:solidFill>
                  <a:srgbClr val="C9961A"/>
                </a:solidFill>
                <a:latin typeface="Cambria" pitchFamily="34" charset="0"/>
                <a:ea typeface="Cambria" pitchFamily="34" charset="-122"/>
                <a:cs typeface="Cambria" pitchFamily="34" charset="-120"/>
              </a:rPr>
              <a:t>40</a:t>
            </a:r>
            <a:endParaRPr lang="en-US" sz="2200" dirty="0"/>
          </a:p>
        </p:txBody>
      </p:sp>
      <p:sp>
        <p:nvSpPr>
          <p:cNvPr id="7" name="Text 5"/>
          <p:cNvSpPr txBox="1"/>
          <p:nvPr/>
        </p:nvSpPr>
        <p:spPr>
          <a:xfrm>
            <a:off x="8183880" y="1901952"/>
            <a:ext cx="841248" cy="38404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RBI rules mapped</a:t>
            </a:r>
            <a:endParaRPr lang="en-US" sz="850" dirty="0"/>
          </a:p>
        </p:txBody>
      </p:sp>
      <p:sp>
        <p:nvSpPr>
          <p:cNvPr id="8" name="Text 6"/>
          <p:cNvSpPr txBox="1"/>
          <p:nvPr/>
        </p:nvSpPr>
        <p:spPr>
          <a:xfrm>
            <a:off x="8915400" y="1536192"/>
            <a:ext cx="219456" cy="365760"/>
          </a:xfrm>
          <a:prstGeom prst="rect">
            <a:avLst/>
          </a:prstGeom>
          <a:noFill/>
          <a:ln/>
        </p:spPr>
        <p:txBody>
          <a:bodyPr wrap="square" lIns="0" tIns="0" rIns="0" bIns="0" rtlCol="0" anchor="ctr"/>
          <a:lstStyle/>
          <a:p>
            <a:pPr algn="ctr" indent="0" marL="0">
              <a:buNone/>
            </a:pPr>
            <a:r>
              <a:rPr lang="en-US" sz="1200" dirty="0">
                <a:solidFill>
                  <a:srgbClr val="9DB8A8"/>
                </a:solidFill>
                <a:latin typeface="Cambria" pitchFamily="34" charset="0"/>
                <a:ea typeface="Cambria" pitchFamily="34" charset="-122"/>
                <a:cs typeface="Cambria" pitchFamily="34" charset="-120"/>
              </a:rPr>
              <a:t>→</a:t>
            </a:r>
            <a:endParaRPr lang="en-US" sz="1200" dirty="0"/>
          </a:p>
        </p:txBody>
      </p:sp>
      <p:sp>
        <p:nvSpPr>
          <p:cNvPr id="9" name="Text 7"/>
          <p:cNvSpPr txBox="1"/>
          <p:nvPr/>
        </p:nvSpPr>
        <p:spPr>
          <a:xfrm>
            <a:off x="9025128" y="1463040"/>
            <a:ext cx="841248" cy="457200"/>
          </a:xfrm>
          <a:prstGeom prst="rect">
            <a:avLst/>
          </a:prstGeom>
          <a:noFill/>
          <a:ln/>
        </p:spPr>
        <p:txBody>
          <a:bodyPr wrap="square" lIns="0" tIns="0" rIns="0" bIns="0" rtlCol="0" anchor="ctr"/>
          <a:lstStyle/>
          <a:p>
            <a:pPr algn="ctr" indent="0" marL="0">
              <a:buNone/>
            </a:pPr>
            <a:r>
              <a:rPr lang="en-US" sz="2200" b="1" dirty="0">
                <a:solidFill>
                  <a:srgbClr val="C9961A"/>
                </a:solidFill>
                <a:latin typeface="Cambria" pitchFamily="34" charset="0"/>
                <a:ea typeface="Cambria" pitchFamily="34" charset="-122"/>
                <a:cs typeface="Cambria" pitchFamily="34" charset="-120"/>
              </a:rPr>
              <a:t>22</a:t>
            </a:r>
            <a:endParaRPr lang="en-US" sz="2200" dirty="0"/>
          </a:p>
        </p:txBody>
      </p:sp>
      <p:sp>
        <p:nvSpPr>
          <p:cNvPr id="10" name="Text 8"/>
          <p:cNvSpPr txBox="1"/>
          <p:nvPr/>
        </p:nvSpPr>
        <p:spPr>
          <a:xfrm>
            <a:off x="9025128" y="1901952"/>
            <a:ext cx="841248" cy="38404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fully implemented &amp; tested</a:t>
            </a:r>
            <a:endParaRPr lang="en-US" sz="850" dirty="0"/>
          </a:p>
        </p:txBody>
      </p:sp>
      <p:sp>
        <p:nvSpPr>
          <p:cNvPr id="11" name="Text 9"/>
          <p:cNvSpPr txBox="1"/>
          <p:nvPr/>
        </p:nvSpPr>
        <p:spPr>
          <a:xfrm>
            <a:off x="9756648" y="1536192"/>
            <a:ext cx="219456" cy="365760"/>
          </a:xfrm>
          <a:prstGeom prst="rect">
            <a:avLst/>
          </a:prstGeom>
          <a:noFill/>
          <a:ln/>
        </p:spPr>
        <p:txBody>
          <a:bodyPr wrap="square" lIns="0" tIns="0" rIns="0" bIns="0" rtlCol="0" anchor="ctr"/>
          <a:lstStyle/>
          <a:p>
            <a:pPr algn="ctr" indent="0" marL="0">
              <a:buNone/>
            </a:pPr>
            <a:r>
              <a:rPr lang="en-US" sz="1200" dirty="0">
                <a:solidFill>
                  <a:srgbClr val="9DB8A8"/>
                </a:solidFill>
                <a:latin typeface="Cambria" pitchFamily="34" charset="0"/>
                <a:ea typeface="Cambria" pitchFamily="34" charset="-122"/>
                <a:cs typeface="Cambria" pitchFamily="34" charset="-120"/>
              </a:rPr>
              <a:t>→</a:t>
            </a:r>
            <a:endParaRPr lang="en-US" sz="1200" dirty="0"/>
          </a:p>
        </p:txBody>
      </p:sp>
      <p:sp>
        <p:nvSpPr>
          <p:cNvPr id="12" name="Text 10"/>
          <p:cNvSpPr txBox="1"/>
          <p:nvPr/>
        </p:nvSpPr>
        <p:spPr>
          <a:xfrm>
            <a:off x="9866376" y="1463040"/>
            <a:ext cx="841248" cy="457200"/>
          </a:xfrm>
          <a:prstGeom prst="rect">
            <a:avLst/>
          </a:prstGeom>
          <a:noFill/>
          <a:ln/>
        </p:spPr>
        <p:txBody>
          <a:bodyPr wrap="square" lIns="0" tIns="0" rIns="0" bIns="0" rtlCol="0" anchor="ctr"/>
          <a:lstStyle/>
          <a:p>
            <a:pPr algn="ctr" indent="0" marL="0">
              <a:buNone/>
            </a:pPr>
            <a:r>
              <a:rPr lang="en-US" sz="2200" b="1" dirty="0">
                <a:solidFill>
                  <a:srgbClr val="C9961A"/>
                </a:solidFill>
                <a:latin typeface="Cambria" pitchFamily="34" charset="0"/>
                <a:ea typeface="Cambria" pitchFamily="34" charset="-122"/>
                <a:cs typeface="Cambria" pitchFamily="34" charset="-120"/>
              </a:rPr>
              <a:t>76</a:t>
            </a:r>
            <a:endParaRPr lang="en-US" sz="2200" dirty="0"/>
          </a:p>
        </p:txBody>
      </p:sp>
      <p:sp>
        <p:nvSpPr>
          <p:cNvPr id="13" name="Text 11"/>
          <p:cNvSpPr txBox="1"/>
          <p:nvPr/>
        </p:nvSpPr>
        <p:spPr>
          <a:xfrm>
            <a:off x="9866376" y="1901952"/>
            <a:ext cx="841248" cy="38404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automated tests — all passing</a:t>
            </a:r>
            <a:endParaRPr lang="en-US" sz="850" dirty="0"/>
          </a:p>
        </p:txBody>
      </p:sp>
      <p:sp>
        <p:nvSpPr>
          <p:cNvPr id="14" name="Text 12"/>
          <p:cNvSpPr txBox="1"/>
          <p:nvPr/>
        </p:nvSpPr>
        <p:spPr>
          <a:xfrm>
            <a:off x="10597896" y="1536192"/>
            <a:ext cx="219456" cy="365760"/>
          </a:xfrm>
          <a:prstGeom prst="rect">
            <a:avLst/>
          </a:prstGeom>
          <a:noFill/>
          <a:ln/>
        </p:spPr>
        <p:txBody>
          <a:bodyPr wrap="square" lIns="0" tIns="0" rIns="0" bIns="0" rtlCol="0" anchor="ctr"/>
          <a:lstStyle/>
          <a:p>
            <a:pPr algn="ctr" indent="0" marL="0">
              <a:buNone/>
            </a:pPr>
            <a:r>
              <a:rPr lang="en-US" sz="1200" dirty="0">
                <a:solidFill>
                  <a:srgbClr val="9DB8A8"/>
                </a:solidFill>
                <a:latin typeface="Cambria" pitchFamily="34" charset="0"/>
                <a:ea typeface="Cambria" pitchFamily="34" charset="-122"/>
                <a:cs typeface="Cambria" pitchFamily="34" charset="-120"/>
              </a:rPr>
              <a:t>→</a:t>
            </a:r>
            <a:endParaRPr lang="en-US" sz="1200" dirty="0"/>
          </a:p>
        </p:txBody>
      </p:sp>
      <p:sp>
        <p:nvSpPr>
          <p:cNvPr id="15" name="Text 13"/>
          <p:cNvSpPr txBox="1"/>
          <p:nvPr/>
        </p:nvSpPr>
        <p:spPr>
          <a:xfrm>
            <a:off x="10707624" y="1463040"/>
            <a:ext cx="841248" cy="457200"/>
          </a:xfrm>
          <a:prstGeom prst="rect">
            <a:avLst/>
          </a:prstGeom>
          <a:noFill/>
          <a:ln/>
        </p:spPr>
        <p:txBody>
          <a:bodyPr wrap="square" lIns="0" tIns="0" rIns="0" bIns="0" rtlCol="0" anchor="ctr"/>
          <a:lstStyle/>
          <a:p>
            <a:pPr algn="ctr" indent="0" marL="0">
              <a:buNone/>
            </a:pPr>
            <a:r>
              <a:rPr lang="en-US" sz="2200" b="1" dirty="0">
                <a:solidFill>
                  <a:srgbClr val="C9961A"/>
                </a:solidFill>
                <a:latin typeface="Cambria" pitchFamily="34" charset="0"/>
                <a:ea typeface="Cambria" pitchFamily="34" charset="-122"/>
                <a:cs typeface="Cambria" pitchFamily="34" charset="-120"/>
              </a:rPr>
              <a:t>✓</a:t>
            </a:r>
            <a:endParaRPr lang="en-US" sz="2200" dirty="0"/>
          </a:p>
        </p:txBody>
      </p:sp>
      <p:sp>
        <p:nvSpPr>
          <p:cNvPr id="16" name="Text 14"/>
          <p:cNvSpPr txBox="1"/>
          <p:nvPr/>
        </p:nvSpPr>
        <p:spPr>
          <a:xfrm>
            <a:off x="10707624" y="1901952"/>
            <a:ext cx="841248" cy="384048"/>
          </a:xfrm>
          <a:prstGeom prst="rect">
            <a:avLst/>
          </a:prstGeom>
          <a:noFill/>
          <a:ln/>
        </p:spPr>
        <p:txBody>
          <a:bodyPr wrap="square" lIns="0" tIns="0" rIns="0" bIns="0" rtlCol="0" anchor="t"/>
          <a:lstStyle/>
          <a:p>
            <a:pPr algn="ctr" indent="0" marL="0">
              <a:buNone/>
            </a:pPr>
            <a:r>
              <a:rPr lang="en-US" sz="850" dirty="0">
                <a:solidFill>
                  <a:srgbClr val="FFFFFF"/>
                </a:solidFill>
                <a:latin typeface="Calibri" pitchFamily="34" charset="0"/>
                <a:ea typeface="Calibri" pitchFamily="34" charset="-122"/>
                <a:cs typeface="Calibri" pitchFamily="34" charset="-120"/>
              </a:rPr>
              <a:t>deterministic decision</a:t>
            </a:r>
            <a:endParaRPr lang="en-US" sz="850" dirty="0"/>
          </a:p>
        </p:txBody>
      </p:sp>
      <p:sp>
        <p:nvSpPr>
          <p:cNvPr id="17" name="Text 15"/>
          <p:cNvSpPr txBox="1"/>
          <p:nvPr/>
        </p:nvSpPr>
        <p:spPr>
          <a:xfrm>
            <a:off x="548640" y="2377440"/>
            <a:ext cx="11091672" cy="329184"/>
          </a:xfrm>
          <a:prstGeom prst="rect">
            <a:avLst/>
          </a:prstGeom>
          <a:noFill/>
          <a:ln/>
        </p:spPr>
        <p:txBody>
          <a:bodyPr wrap="square" lIns="0" tIns="0" rIns="0" bIns="0" rtlCol="0" anchor="ctr"/>
          <a:lstStyle/>
          <a:p>
            <a:pPr indent="0" marL="0">
              <a:buNone/>
            </a:pPr>
            <a:r>
              <a:rPr lang="en-US" sz="1050" b="1" i="1" dirty="0">
                <a:solidFill>
                  <a:srgbClr val="A9392C"/>
                </a:solidFill>
                <a:latin typeface="Calibri" pitchFamily="34" charset="0"/>
                <a:ea typeface="Calibri" pitchFamily="34" charset="-122"/>
                <a:cs typeface="Calibri" pitchFamily="34" charset="-120"/>
              </a:rPr>
              <a:t>40 mapped does NOT mean 40 implemented. </a:t>
            </a:r>
            <a:pPr indent="0" marL="0">
              <a:buNone/>
            </a:pPr>
            <a:r>
              <a:rPr lang="en-US" sz="1050" i="1" dirty="0">
                <a:solidFill>
                  <a:srgbClr val="4E5D55"/>
                </a:solidFill>
                <a:latin typeface="Calibri" pitchFamily="34" charset="0"/>
                <a:ea typeface="Calibri" pitchFamily="34" charset="-122"/>
                <a:cs typeface="Calibri" pitchFamily="34" charset="-120"/>
              </a:rPr>
              <a:t>Each of the 22 implemented rules carries: RBI source / circular · effective date · conditions / formula · required evidence · automated tests. A rule engine, not an LLM guessing what RBI says.</a:t>
            </a:r>
            <a:endParaRPr lang="en-US" sz="1050" dirty="0"/>
          </a:p>
        </p:txBody>
      </p:sp>
      <p:sp>
        <p:nvSpPr>
          <p:cNvPr id="18" name="Shape 16"/>
          <p:cNvSpPr/>
          <p:nvPr/>
        </p:nvSpPr>
        <p:spPr>
          <a:xfrm>
            <a:off x="548640" y="2788920"/>
            <a:ext cx="2601468" cy="1554480"/>
          </a:xfrm>
          <a:prstGeom prst="rect">
            <a:avLst/>
          </a:prstGeom>
          <a:solidFill>
            <a:srgbClr val="F5F7F2"/>
          </a:solidFill>
          <a:ln w="9525">
            <a:solidFill>
              <a:srgbClr val="D7DDD6"/>
            </a:solidFill>
            <a:prstDash val="solid"/>
          </a:ln>
        </p:spPr>
      </p:sp>
      <p:sp>
        <p:nvSpPr>
          <p:cNvPr id="19" name="Text 17"/>
          <p:cNvSpPr txBox="1"/>
          <p:nvPr/>
        </p:nvSpPr>
        <p:spPr>
          <a:xfrm>
            <a:off x="713232" y="2898648"/>
            <a:ext cx="2272284" cy="320040"/>
          </a:xfrm>
          <a:prstGeom prst="rect">
            <a:avLst/>
          </a:prstGeom>
          <a:noFill/>
          <a:ln/>
        </p:spPr>
        <p:txBody>
          <a:bodyPr wrap="square" lIns="0" tIns="0" rIns="0" bIns="0" rtlCol="0" anchor="ctr"/>
          <a:lstStyle/>
          <a:p>
            <a:pPr indent="0" marL="0">
              <a:buNone/>
            </a:pPr>
            <a:r>
              <a:rPr lang="en-US" sz="1450" b="1" dirty="0">
                <a:solidFill>
                  <a:srgbClr val="1E6A44"/>
                </a:solidFill>
                <a:latin typeface="Cambria" pitchFamily="34" charset="0"/>
                <a:ea typeface="Cambria" pitchFamily="34" charset="-122"/>
                <a:cs typeface="Cambria" pitchFamily="34" charset="-120"/>
              </a:rPr>
              <a:t>Failed transaction</a:t>
            </a:r>
            <a:endParaRPr lang="en-US" sz="1450" dirty="0"/>
          </a:p>
        </p:txBody>
      </p:sp>
      <p:sp>
        <p:nvSpPr>
          <p:cNvPr id="20" name="Text 18"/>
          <p:cNvSpPr txBox="1"/>
          <p:nvPr/>
        </p:nvSpPr>
        <p:spPr>
          <a:xfrm>
            <a:off x="713232" y="3246120"/>
            <a:ext cx="2272284" cy="731520"/>
          </a:xfrm>
          <a:prstGeom prst="rect">
            <a:avLst/>
          </a:prstGeom>
          <a:noFill/>
          <a:ln/>
        </p:spPr>
        <p:txBody>
          <a:bodyPr wrap="square" lIns="0" tIns="0" rIns="0" bIns="0" rtlCol="0" anchor="t"/>
          <a:lstStyle/>
          <a:p>
            <a:pPr indent="0" marL="0">
              <a:buNone/>
            </a:pPr>
            <a:r>
              <a:rPr lang="en-US" sz="1100" dirty="0">
                <a:solidFill>
                  <a:srgbClr val="18261F"/>
                </a:solidFill>
                <a:latin typeface="Calibri" pitchFamily="34" charset="0"/>
                <a:ea typeface="Calibri" pitchFamily="34" charset="-122"/>
                <a:cs typeface="Calibri" pitchFamily="34" charset="-120"/>
              </a:rPr>
              <a:t>Reversal by T+1 (UPI) or T+5 (ATM); ₹100/day after, paid without a complaint</a:t>
            </a:r>
            <a:endParaRPr lang="en-US" sz="1100" dirty="0"/>
          </a:p>
        </p:txBody>
      </p:sp>
      <p:sp>
        <p:nvSpPr>
          <p:cNvPr id="21" name="Text 19"/>
          <p:cNvSpPr txBox="1"/>
          <p:nvPr/>
        </p:nvSpPr>
        <p:spPr>
          <a:xfrm>
            <a:off x="713232" y="3995928"/>
            <a:ext cx="2272284" cy="256032"/>
          </a:xfrm>
          <a:prstGeom prst="rect">
            <a:avLst/>
          </a:prstGeom>
          <a:noFill/>
          <a:ln/>
        </p:spPr>
        <p:txBody>
          <a:bodyPr wrap="square" lIns="0" tIns="0" rIns="0" bIns="0" rtlCol="0" anchor="ctr"/>
          <a:lstStyle/>
          <a:p>
            <a:pPr indent="0" marL="0">
              <a:buNone/>
            </a:pPr>
            <a:r>
              <a:rPr lang="en-US" sz="950" dirty="0">
                <a:solidFill>
                  <a:srgbClr val="4E5D55"/>
                </a:solidFill>
                <a:latin typeface="Calibri" pitchFamily="34" charset="0"/>
                <a:ea typeface="Calibri" pitchFamily="34" charset="-122"/>
                <a:cs typeface="Calibri" pitchFamily="34" charset="-120"/>
              </a:rPr>
              <a:t>RBI/2019-20/67 · 2019</a:t>
            </a:r>
            <a:endParaRPr lang="en-US" sz="950" dirty="0"/>
          </a:p>
        </p:txBody>
      </p:sp>
      <p:sp>
        <p:nvSpPr>
          <p:cNvPr id="22" name="Shape 20"/>
          <p:cNvSpPr/>
          <p:nvPr/>
        </p:nvSpPr>
        <p:spPr>
          <a:xfrm>
            <a:off x="3378708" y="2788920"/>
            <a:ext cx="2601468" cy="1554480"/>
          </a:xfrm>
          <a:prstGeom prst="rect">
            <a:avLst/>
          </a:prstGeom>
          <a:solidFill>
            <a:srgbClr val="F5F7F2"/>
          </a:solidFill>
          <a:ln w="9525">
            <a:solidFill>
              <a:srgbClr val="D7DDD6"/>
            </a:solidFill>
            <a:prstDash val="solid"/>
          </a:ln>
        </p:spPr>
      </p:sp>
      <p:sp>
        <p:nvSpPr>
          <p:cNvPr id="23" name="Text 21"/>
          <p:cNvSpPr txBox="1"/>
          <p:nvPr/>
        </p:nvSpPr>
        <p:spPr>
          <a:xfrm>
            <a:off x="3543300" y="2898648"/>
            <a:ext cx="2272284" cy="320040"/>
          </a:xfrm>
          <a:prstGeom prst="rect">
            <a:avLst/>
          </a:prstGeom>
          <a:noFill/>
          <a:ln/>
        </p:spPr>
        <p:txBody>
          <a:bodyPr wrap="square" lIns="0" tIns="0" rIns="0" bIns="0" rtlCol="0" anchor="ctr"/>
          <a:lstStyle/>
          <a:p>
            <a:pPr indent="0" marL="0">
              <a:buNone/>
            </a:pPr>
            <a:r>
              <a:rPr lang="en-US" sz="1450" b="1" dirty="0">
                <a:solidFill>
                  <a:srgbClr val="1E6A44"/>
                </a:solidFill>
                <a:latin typeface="Cambria" pitchFamily="34" charset="0"/>
                <a:ea typeface="Cambria" pitchFamily="34" charset="-122"/>
                <a:cs typeface="Cambria" pitchFamily="34" charset="-120"/>
              </a:rPr>
              <a:t>Minimum balance</a:t>
            </a:r>
            <a:endParaRPr lang="en-US" sz="1450" dirty="0"/>
          </a:p>
        </p:txBody>
      </p:sp>
      <p:sp>
        <p:nvSpPr>
          <p:cNvPr id="24" name="Text 22"/>
          <p:cNvSpPr txBox="1"/>
          <p:nvPr/>
        </p:nvSpPr>
        <p:spPr>
          <a:xfrm>
            <a:off x="3543300" y="3246120"/>
            <a:ext cx="2272284" cy="731520"/>
          </a:xfrm>
          <a:prstGeom prst="rect">
            <a:avLst/>
          </a:prstGeom>
          <a:noFill/>
          <a:ln/>
        </p:spPr>
        <p:txBody>
          <a:bodyPr wrap="square" lIns="0" tIns="0" rIns="0" bIns="0" rtlCol="0" anchor="t"/>
          <a:lstStyle/>
          <a:p>
            <a:pPr indent="0" marL="0">
              <a:buNone/>
            </a:pPr>
            <a:r>
              <a:rPr lang="en-US" sz="1100" dirty="0">
                <a:solidFill>
                  <a:srgbClr val="18261F"/>
                </a:solidFill>
                <a:latin typeface="Calibri" pitchFamily="34" charset="0"/>
                <a:ea typeface="Calibri" pitchFamily="34" charset="-122"/>
                <a:cs typeface="Calibri" pitchFamily="34" charset="-120"/>
              </a:rPr>
              <a:t>Warning notice + one month to restore; penalty proportionate; never negative</a:t>
            </a:r>
            <a:endParaRPr lang="en-US" sz="1100" dirty="0"/>
          </a:p>
        </p:txBody>
      </p:sp>
      <p:sp>
        <p:nvSpPr>
          <p:cNvPr id="25" name="Text 23"/>
          <p:cNvSpPr txBox="1"/>
          <p:nvPr/>
        </p:nvSpPr>
        <p:spPr>
          <a:xfrm>
            <a:off x="3543300" y="3995928"/>
            <a:ext cx="2272284" cy="256032"/>
          </a:xfrm>
          <a:prstGeom prst="rect">
            <a:avLst/>
          </a:prstGeom>
          <a:noFill/>
          <a:ln/>
        </p:spPr>
        <p:txBody>
          <a:bodyPr wrap="square" lIns="0" tIns="0" rIns="0" bIns="0" rtlCol="0" anchor="ctr"/>
          <a:lstStyle/>
          <a:p>
            <a:pPr indent="0" marL="0">
              <a:buNone/>
            </a:pPr>
            <a:r>
              <a:rPr lang="en-US" sz="950" dirty="0">
                <a:solidFill>
                  <a:srgbClr val="4E5D55"/>
                </a:solidFill>
                <a:latin typeface="Calibri" pitchFamily="34" charset="0"/>
                <a:ea typeface="Calibri" pitchFamily="34" charset="-122"/>
                <a:cs typeface="Calibri" pitchFamily="34" charset="-120"/>
              </a:rPr>
              <a:t>RBI · 20 Nov 2014</a:t>
            </a:r>
            <a:endParaRPr lang="en-US" sz="950" dirty="0"/>
          </a:p>
        </p:txBody>
      </p:sp>
      <p:sp>
        <p:nvSpPr>
          <p:cNvPr id="26" name="Shape 24"/>
          <p:cNvSpPr/>
          <p:nvPr/>
        </p:nvSpPr>
        <p:spPr>
          <a:xfrm>
            <a:off x="6208776" y="2788920"/>
            <a:ext cx="2601468" cy="1554480"/>
          </a:xfrm>
          <a:prstGeom prst="rect">
            <a:avLst/>
          </a:prstGeom>
          <a:solidFill>
            <a:srgbClr val="F5F7F2"/>
          </a:solidFill>
          <a:ln w="9525">
            <a:solidFill>
              <a:srgbClr val="D7DDD6"/>
            </a:solidFill>
            <a:prstDash val="solid"/>
          </a:ln>
        </p:spPr>
      </p:sp>
      <p:sp>
        <p:nvSpPr>
          <p:cNvPr id="27" name="Text 25"/>
          <p:cNvSpPr txBox="1"/>
          <p:nvPr/>
        </p:nvSpPr>
        <p:spPr>
          <a:xfrm>
            <a:off x="6373368" y="2898648"/>
            <a:ext cx="2272284" cy="320040"/>
          </a:xfrm>
          <a:prstGeom prst="rect">
            <a:avLst/>
          </a:prstGeom>
          <a:noFill/>
          <a:ln/>
        </p:spPr>
        <p:txBody>
          <a:bodyPr wrap="square" lIns="0" tIns="0" rIns="0" bIns="0" rtlCol="0" anchor="ctr"/>
          <a:lstStyle/>
          <a:p>
            <a:pPr indent="0" marL="0">
              <a:buNone/>
            </a:pPr>
            <a:r>
              <a:rPr lang="en-US" sz="1450" b="1" dirty="0">
                <a:solidFill>
                  <a:srgbClr val="1E6A44"/>
                </a:solidFill>
                <a:latin typeface="Cambria" pitchFamily="34" charset="0"/>
                <a:ea typeface="Cambria" pitchFamily="34" charset="-122"/>
                <a:cs typeface="Cambria" pitchFamily="34" charset="-120"/>
              </a:rPr>
              <a:t>ATM charges</a:t>
            </a:r>
            <a:endParaRPr lang="en-US" sz="1450" dirty="0"/>
          </a:p>
        </p:txBody>
      </p:sp>
      <p:sp>
        <p:nvSpPr>
          <p:cNvPr id="28" name="Text 26"/>
          <p:cNvSpPr txBox="1"/>
          <p:nvPr/>
        </p:nvSpPr>
        <p:spPr>
          <a:xfrm>
            <a:off x="6373368" y="3246120"/>
            <a:ext cx="2272284" cy="731520"/>
          </a:xfrm>
          <a:prstGeom prst="rect">
            <a:avLst/>
          </a:prstGeom>
          <a:noFill/>
          <a:ln/>
        </p:spPr>
        <p:txBody>
          <a:bodyPr wrap="square" lIns="0" tIns="0" rIns="0" bIns="0" rtlCol="0" anchor="t"/>
          <a:lstStyle/>
          <a:p>
            <a:pPr indent="0" marL="0">
              <a:buNone/>
            </a:pPr>
            <a:r>
              <a:rPr lang="en-US" sz="1100" dirty="0">
                <a:solidFill>
                  <a:srgbClr val="18261F"/>
                </a:solidFill>
                <a:latin typeface="Calibri" pitchFamily="34" charset="0"/>
                <a:ea typeface="Calibri" pitchFamily="34" charset="-122"/>
                <a:cs typeface="Calibri" pitchFamily="34" charset="-120"/>
              </a:rPr>
              <a:t>5 free own-bank, 3/5 other-bank, enquiries count; max ₹23 after</a:t>
            </a:r>
            <a:endParaRPr lang="en-US" sz="1100" dirty="0"/>
          </a:p>
        </p:txBody>
      </p:sp>
      <p:sp>
        <p:nvSpPr>
          <p:cNvPr id="29" name="Text 27"/>
          <p:cNvSpPr txBox="1"/>
          <p:nvPr/>
        </p:nvSpPr>
        <p:spPr>
          <a:xfrm>
            <a:off x="6373368" y="3995928"/>
            <a:ext cx="2272284" cy="256032"/>
          </a:xfrm>
          <a:prstGeom prst="rect">
            <a:avLst/>
          </a:prstGeom>
          <a:noFill/>
          <a:ln/>
        </p:spPr>
        <p:txBody>
          <a:bodyPr wrap="square" lIns="0" tIns="0" rIns="0" bIns="0" rtlCol="0" anchor="ctr"/>
          <a:lstStyle/>
          <a:p>
            <a:pPr indent="0" marL="0">
              <a:buNone/>
            </a:pPr>
            <a:r>
              <a:rPr lang="en-US" sz="950" dirty="0">
                <a:solidFill>
                  <a:srgbClr val="4E5D55"/>
                </a:solidFill>
                <a:latin typeface="Calibri" pitchFamily="34" charset="0"/>
                <a:ea typeface="Calibri" pitchFamily="34" charset="-122"/>
                <a:cs typeface="Calibri" pitchFamily="34" charset="-120"/>
              </a:rPr>
              <a:t>RBI · eff. 1 May 2025</a:t>
            </a:r>
            <a:endParaRPr lang="en-US" sz="950" dirty="0"/>
          </a:p>
        </p:txBody>
      </p:sp>
      <p:sp>
        <p:nvSpPr>
          <p:cNvPr id="30" name="Shape 28"/>
          <p:cNvSpPr/>
          <p:nvPr/>
        </p:nvSpPr>
        <p:spPr>
          <a:xfrm>
            <a:off x="9038844" y="2788920"/>
            <a:ext cx="2601468" cy="1554480"/>
          </a:xfrm>
          <a:prstGeom prst="rect">
            <a:avLst/>
          </a:prstGeom>
          <a:solidFill>
            <a:srgbClr val="F5F7F2"/>
          </a:solidFill>
          <a:ln w="9525">
            <a:solidFill>
              <a:srgbClr val="D7DDD6"/>
            </a:solidFill>
            <a:prstDash val="solid"/>
          </a:ln>
        </p:spPr>
      </p:sp>
      <p:sp>
        <p:nvSpPr>
          <p:cNvPr id="31" name="Text 29"/>
          <p:cNvSpPr txBox="1"/>
          <p:nvPr/>
        </p:nvSpPr>
        <p:spPr>
          <a:xfrm>
            <a:off x="9203436" y="2898648"/>
            <a:ext cx="2272284" cy="320040"/>
          </a:xfrm>
          <a:prstGeom prst="rect">
            <a:avLst/>
          </a:prstGeom>
          <a:noFill/>
          <a:ln/>
        </p:spPr>
        <p:txBody>
          <a:bodyPr wrap="square" lIns="0" tIns="0" rIns="0" bIns="0" rtlCol="0" anchor="ctr"/>
          <a:lstStyle/>
          <a:p>
            <a:pPr indent="0" marL="0">
              <a:buNone/>
            </a:pPr>
            <a:r>
              <a:rPr lang="en-US" sz="1450" b="1" dirty="0">
                <a:solidFill>
                  <a:srgbClr val="1E6A44"/>
                </a:solidFill>
                <a:latin typeface="Cambria" pitchFamily="34" charset="0"/>
                <a:ea typeface="Cambria" pitchFamily="34" charset="-122"/>
                <a:cs typeface="Cambria" pitchFamily="34" charset="-120"/>
              </a:rPr>
              <a:t>Credit-card closure</a:t>
            </a:r>
            <a:endParaRPr lang="en-US" sz="1450" dirty="0"/>
          </a:p>
        </p:txBody>
      </p:sp>
      <p:sp>
        <p:nvSpPr>
          <p:cNvPr id="32" name="Text 30"/>
          <p:cNvSpPr txBox="1"/>
          <p:nvPr/>
        </p:nvSpPr>
        <p:spPr>
          <a:xfrm>
            <a:off x="9203436" y="3246120"/>
            <a:ext cx="2272284" cy="731520"/>
          </a:xfrm>
          <a:prstGeom prst="rect">
            <a:avLst/>
          </a:prstGeom>
          <a:noFill/>
          <a:ln/>
        </p:spPr>
        <p:txBody>
          <a:bodyPr wrap="square" lIns="0" tIns="0" rIns="0" bIns="0" rtlCol="0" anchor="t"/>
          <a:lstStyle/>
          <a:p>
            <a:pPr indent="0" marL="0">
              <a:buNone/>
            </a:pPr>
            <a:r>
              <a:rPr lang="en-US" sz="1100" dirty="0">
                <a:solidFill>
                  <a:srgbClr val="18261F"/>
                </a:solidFill>
                <a:latin typeface="Calibri" pitchFamily="34" charset="0"/>
                <a:ea typeface="Calibri" pitchFamily="34" charset="-122"/>
                <a:cs typeface="Calibri" pitchFamily="34" charset="-120"/>
              </a:rPr>
              <a:t>Closed within 7 working days of request, else ₹500/day</a:t>
            </a:r>
            <a:endParaRPr lang="en-US" sz="1100" dirty="0"/>
          </a:p>
        </p:txBody>
      </p:sp>
      <p:sp>
        <p:nvSpPr>
          <p:cNvPr id="33" name="Text 31"/>
          <p:cNvSpPr txBox="1"/>
          <p:nvPr/>
        </p:nvSpPr>
        <p:spPr>
          <a:xfrm>
            <a:off x="9203436" y="3995928"/>
            <a:ext cx="2272284" cy="256032"/>
          </a:xfrm>
          <a:prstGeom prst="rect">
            <a:avLst/>
          </a:prstGeom>
          <a:noFill/>
          <a:ln/>
        </p:spPr>
        <p:txBody>
          <a:bodyPr wrap="square" lIns="0" tIns="0" rIns="0" bIns="0" rtlCol="0" anchor="ctr"/>
          <a:lstStyle/>
          <a:p>
            <a:pPr indent="0" marL="0">
              <a:buNone/>
            </a:pPr>
            <a:r>
              <a:rPr lang="en-US" sz="950" dirty="0">
                <a:solidFill>
                  <a:srgbClr val="4E5D55"/>
                </a:solidFill>
                <a:latin typeface="Calibri" pitchFamily="34" charset="0"/>
                <a:ea typeface="Calibri" pitchFamily="34" charset="-122"/>
                <a:cs typeface="Calibri" pitchFamily="34" charset="-120"/>
              </a:rPr>
              <a:t>Card Directions · 2022</a:t>
            </a:r>
            <a:endParaRPr lang="en-US" sz="950" dirty="0"/>
          </a:p>
        </p:txBody>
      </p:sp>
      <p:sp>
        <p:nvSpPr>
          <p:cNvPr id="34" name="Shape 32"/>
          <p:cNvSpPr/>
          <p:nvPr/>
        </p:nvSpPr>
        <p:spPr>
          <a:xfrm>
            <a:off x="548640" y="4544568"/>
            <a:ext cx="2601468" cy="1554480"/>
          </a:xfrm>
          <a:prstGeom prst="rect">
            <a:avLst/>
          </a:prstGeom>
          <a:solidFill>
            <a:srgbClr val="F5F7F2"/>
          </a:solidFill>
          <a:ln w="9525">
            <a:solidFill>
              <a:srgbClr val="D7DDD6"/>
            </a:solidFill>
            <a:prstDash val="solid"/>
          </a:ln>
        </p:spPr>
      </p:sp>
      <p:sp>
        <p:nvSpPr>
          <p:cNvPr id="35" name="Text 33"/>
          <p:cNvSpPr txBox="1"/>
          <p:nvPr/>
        </p:nvSpPr>
        <p:spPr>
          <a:xfrm>
            <a:off x="713232" y="4654296"/>
            <a:ext cx="2272284" cy="320040"/>
          </a:xfrm>
          <a:prstGeom prst="rect">
            <a:avLst/>
          </a:prstGeom>
          <a:noFill/>
          <a:ln/>
        </p:spPr>
        <p:txBody>
          <a:bodyPr wrap="square" lIns="0" tIns="0" rIns="0" bIns="0" rtlCol="0" anchor="ctr"/>
          <a:lstStyle/>
          <a:p>
            <a:pPr indent="0" marL="0">
              <a:buNone/>
            </a:pPr>
            <a:r>
              <a:rPr lang="en-US" sz="1450" b="1" dirty="0">
                <a:solidFill>
                  <a:srgbClr val="1E6A44"/>
                </a:solidFill>
                <a:latin typeface="Cambria" pitchFamily="34" charset="0"/>
                <a:ea typeface="Cambria" pitchFamily="34" charset="-122"/>
                <a:cs typeface="Cambria" pitchFamily="34" charset="-120"/>
              </a:rPr>
              <a:t>Unauthorised transaction</a:t>
            </a:r>
            <a:endParaRPr lang="en-US" sz="1450" dirty="0"/>
          </a:p>
        </p:txBody>
      </p:sp>
      <p:sp>
        <p:nvSpPr>
          <p:cNvPr id="36" name="Text 34"/>
          <p:cNvSpPr txBox="1"/>
          <p:nvPr/>
        </p:nvSpPr>
        <p:spPr>
          <a:xfrm>
            <a:off x="713232" y="5001768"/>
            <a:ext cx="2272284" cy="731520"/>
          </a:xfrm>
          <a:prstGeom prst="rect">
            <a:avLst/>
          </a:prstGeom>
          <a:noFill/>
          <a:ln/>
        </p:spPr>
        <p:txBody>
          <a:bodyPr wrap="square" lIns="0" tIns="0" rIns="0" bIns="0" rtlCol="0" anchor="t"/>
          <a:lstStyle/>
          <a:p>
            <a:pPr indent="0" marL="0">
              <a:buNone/>
            </a:pPr>
            <a:r>
              <a:rPr lang="en-US" sz="1100" dirty="0">
                <a:solidFill>
                  <a:srgbClr val="18261F"/>
                </a:solidFill>
                <a:latin typeface="Calibri" pitchFamily="34" charset="0"/>
                <a:ea typeface="Calibri" pitchFamily="34" charset="-122"/>
                <a:cs typeface="Calibri" pitchFamily="34" charset="-120"/>
              </a:rPr>
              <a:t>Report within 3 working days → zero liability; shadow credit in 10 days</a:t>
            </a:r>
            <a:endParaRPr lang="en-US" sz="1100" dirty="0"/>
          </a:p>
        </p:txBody>
      </p:sp>
      <p:sp>
        <p:nvSpPr>
          <p:cNvPr id="37" name="Text 35"/>
          <p:cNvSpPr txBox="1"/>
          <p:nvPr/>
        </p:nvSpPr>
        <p:spPr>
          <a:xfrm>
            <a:off x="713232" y="5751576"/>
            <a:ext cx="2272284" cy="256032"/>
          </a:xfrm>
          <a:prstGeom prst="rect">
            <a:avLst/>
          </a:prstGeom>
          <a:noFill/>
          <a:ln/>
        </p:spPr>
        <p:txBody>
          <a:bodyPr wrap="square" lIns="0" tIns="0" rIns="0" bIns="0" rtlCol="0" anchor="ctr"/>
          <a:lstStyle/>
          <a:p>
            <a:pPr indent="0" marL="0">
              <a:buNone/>
            </a:pPr>
            <a:r>
              <a:rPr lang="en-US" sz="950" dirty="0">
                <a:solidFill>
                  <a:srgbClr val="4E5D55"/>
                </a:solidFill>
                <a:latin typeface="Calibri" pitchFamily="34" charset="0"/>
                <a:ea typeface="Calibri" pitchFamily="34" charset="-122"/>
                <a:cs typeface="Calibri" pitchFamily="34" charset="-120"/>
              </a:rPr>
              <a:t>RBI · 6 Jul 2017</a:t>
            </a:r>
            <a:endParaRPr lang="en-US" sz="950" dirty="0"/>
          </a:p>
        </p:txBody>
      </p:sp>
      <p:sp>
        <p:nvSpPr>
          <p:cNvPr id="38" name="Shape 36"/>
          <p:cNvSpPr/>
          <p:nvPr/>
        </p:nvSpPr>
        <p:spPr>
          <a:xfrm>
            <a:off x="3378708" y="4544568"/>
            <a:ext cx="2601468" cy="1554480"/>
          </a:xfrm>
          <a:prstGeom prst="rect">
            <a:avLst/>
          </a:prstGeom>
          <a:solidFill>
            <a:srgbClr val="F5F7F2"/>
          </a:solidFill>
          <a:ln w="9525">
            <a:solidFill>
              <a:srgbClr val="D7DDD6"/>
            </a:solidFill>
            <a:prstDash val="solid"/>
          </a:ln>
        </p:spPr>
      </p:sp>
      <p:sp>
        <p:nvSpPr>
          <p:cNvPr id="39" name="Text 37"/>
          <p:cNvSpPr txBox="1"/>
          <p:nvPr/>
        </p:nvSpPr>
        <p:spPr>
          <a:xfrm>
            <a:off x="3543300" y="4654296"/>
            <a:ext cx="2272284" cy="320040"/>
          </a:xfrm>
          <a:prstGeom prst="rect">
            <a:avLst/>
          </a:prstGeom>
          <a:noFill/>
          <a:ln/>
        </p:spPr>
        <p:txBody>
          <a:bodyPr wrap="square" lIns="0" tIns="0" rIns="0" bIns="0" rtlCol="0" anchor="ctr"/>
          <a:lstStyle/>
          <a:p>
            <a:pPr indent="0" marL="0">
              <a:buNone/>
            </a:pPr>
            <a:r>
              <a:rPr lang="en-US" sz="1450" b="1" dirty="0">
                <a:solidFill>
                  <a:srgbClr val="1E6A44"/>
                </a:solidFill>
                <a:latin typeface="Cambria" pitchFamily="34" charset="0"/>
                <a:ea typeface="Cambria" pitchFamily="34" charset="-122"/>
                <a:cs typeface="Cambria" pitchFamily="34" charset="-120"/>
              </a:rPr>
              <a:t>Loan charges</a:t>
            </a:r>
            <a:endParaRPr lang="en-US" sz="1450" dirty="0"/>
          </a:p>
        </p:txBody>
      </p:sp>
      <p:sp>
        <p:nvSpPr>
          <p:cNvPr id="40" name="Text 38"/>
          <p:cNvSpPr txBox="1"/>
          <p:nvPr/>
        </p:nvSpPr>
        <p:spPr>
          <a:xfrm>
            <a:off x="3543300" y="5001768"/>
            <a:ext cx="2272284" cy="731520"/>
          </a:xfrm>
          <a:prstGeom prst="rect">
            <a:avLst/>
          </a:prstGeom>
          <a:noFill/>
          <a:ln/>
        </p:spPr>
        <p:txBody>
          <a:bodyPr wrap="square" lIns="0" tIns="0" rIns="0" bIns="0" rtlCol="0" anchor="t"/>
          <a:lstStyle/>
          <a:p>
            <a:pPr indent="0" marL="0">
              <a:buNone/>
            </a:pPr>
            <a:r>
              <a:rPr lang="en-US" sz="1100" dirty="0">
                <a:solidFill>
                  <a:srgbClr val="18261F"/>
                </a:solidFill>
                <a:latin typeface="Calibri" pitchFamily="34" charset="0"/>
                <a:ea typeface="Calibri" pitchFamily="34" charset="-122"/>
                <a:cs typeface="Calibri" pitchFamily="34" charset="-120"/>
              </a:rPr>
              <a:t>Nothing outside the Key Fact Statement; penal charges never capitalised</a:t>
            </a:r>
            <a:endParaRPr lang="en-US" sz="1100" dirty="0"/>
          </a:p>
        </p:txBody>
      </p:sp>
      <p:sp>
        <p:nvSpPr>
          <p:cNvPr id="41" name="Text 39"/>
          <p:cNvSpPr txBox="1"/>
          <p:nvPr/>
        </p:nvSpPr>
        <p:spPr>
          <a:xfrm>
            <a:off x="3543300" y="5751576"/>
            <a:ext cx="2272284" cy="256032"/>
          </a:xfrm>
          <a:prstGeom prst="rect">
            <a:avLst/>
          </a:prstGeom>
          <a:noFill/>
          <a:ln/>
        </p:spPr>
        <p:txBody>
          <a:bodyPr wrap="square" lIns="0" tIns="0" rIns="0" bIns="0" rtlCol="0" anchor="ctr"/>
          <a:lstStyle/>
          <a:p>
            <a:pPr indent="0" marL="0">
              <a:buNone/>
            </a:pPr>
            <a:r>
              <a:rPr lang="en-US" sz="950" dirty="0">
                <a:solidFill>
                  <a:srgbClr val="4E5D55"/>
                </a:solidFill>
                <a:latin typeface="Calibri" pitchFamily="34" charset="0"/>
                <a:ea typeface="Calibri" pitchFamily="34" charset="-122"/>
                <a:cs typeface="Calibri" pitchFamily="34" charset="-120"/>
              </a:rPr>
              <a:t>RBI · eff. 1 Oct 2024</a:t>
            </a:r>
            <a:endParaRPr lang="en-US" sz="950" dirty="0"/>
          </a:p>
        </p:txBody>
      </p:sp>
      <p:sp>
        <p:nvSpPr>
          <p:cNvPr id="42" name="Shape 40"/>
          <p:cNvSpPr/>
          <p:nvPr/>
        </p:nvSpPr>
        <p:spPr>
          <a:xfrm>
            <a:off x="6208776" y="4544568"/>
            <a:ext cx="2601468" cy="1554480"/>
          </a:xfrm>
          <a:prstGeom prst="rect">
            <a:avLst/>
          </a:prstGeom>
          <a:solidFill>
            <a:srgbClr val="F5F7F2"/>
          </a:solidFill>
          <a:ln w="9525">
            <a:solidFill>
              <a:srgbClr val="D7DDD6"/>
            </a:solidFill>
            <a:prstDash val="solid"/>
          </a:ln>
        </p:spPr>
      </p:sp>
      <p:sp>
        <p:nvSpPr>
          <p:cNvPr id="43" name="Text 41"/>
          <p:cNvSpPr txBox="1"/>
          <p:nvPr/>
        </p:nvSpPr>
        <p:spPr>
          <a:xfrm>
            <a:off x="6373368" y="4654296"/>
            <a:ext cx="2272284" cy="320040"/>
          </a:xfrm>
          <a:prstGeom prst="rect">
            <a:avLst/>
          </a:prstGeom>
          <a:noFill/>
          <a:ln/>
        </p:spPr>
        <p:txBody>
          <a:bodyPr wrap="square" lIns="0" tIns="0" rIns="0" bIns="0" rtlCol="0" anchor="ctr"/>
          <a:lstStyle/>
          <a:p>
            <a:pPr indent="0" marL="0">
              <a:buNone/>
            </a:pPr>
            <a:r>
              <a:rPr lang="en-US" sz="1450" b="1" dirty="0">
                <a:solidFill>
                  <a:srgbClr val="1E6A44"/>
                </a:solidFill>
                <a:latin typeface="Cambria" pitchFamily="34" charset="0"/>
                <a:ea typeface="Cambria" pitchFamily="34" charset="-122"/>
                <a:cs typeface="Cambria" pitchFamily="34" charset="-120"/>
              </a:rPr>
              <a:t>Inactive accounts</a:t>
            </a:r>
            <a:endParaRPr lang="en-US" sz="1450" dirty="0"/>
          </a:p>
        </p:txBody>
      </p:sp>
      <p:sp>
        <p:nvSpPr>
          <p:cNvPr id="44" name="Text 42"/>
          <p:cNvSpPr txBox="1"/>
          <p:nvPr/>
        </p:nvSpPr>
        <p:spPr>
          <a:xfrm>
            <a:off x="6373368" y="5001768"/>
            <a:ext cx="2272284" cy="731520"/>
          </a:xfrm>
          <a:prstGeom prst="rect">
            <a:avLst/>
          </a:prstGeom>
          <a:noFill/>
          <a:ln/>
        </p:spPr>
        <p:txBody>
          <a:bodyPr wrap="square" lIns="0" tIns="0" rIns="0" bIns="0" rtlCol="0" anchor="t"/>
          <a:lstStyle/>
          <a:p>
            <a:pPr indent="0" marL="0">
              <a:buNone/>
            </a:pPr>
            <a:r>
              <a:rPr lang="en-US" sz="1100" dirty="0">
                <a:solidFill>
                  <a:srgbClr val="18261F"/>
                </a:solidFill>
                <a:latin typeface="Calibri" pitchFamily="34" charset="0"/>
                <a:ea typeface="Calibri" pitchFamily="34" charset="-122"/>
                <a:cs typeface="Calibri" pitchFamily="34" charset="-120"/>
              </a:rPr>
              <a:t>No minimum-balance penalty, no reactivation charge</a:t>
            </a:r>
            <a:endParaRPr lang="en-US" sz="1100" dirty="0"/>
          </a:p>
        </p:txBody>
      </p:sp>
      <p:sp>
        <p:nvSpPr>
          <p:cNvPr id="45" name="Text 43"/>
          <p:cNvSpPr txBox="1"/>
          <p:nvPr/>
        </p:nvSpPr>
        <p:spPr>
          <a:xfrm>
            <a:off x="6373368" y="5751576"/>
            <a:ext cx="2272284" cy="256032"/>
          </a:xfrm>
          <a:prstGeom prst="rect">
            <a:avLst/>
          </a:prstGeom>
          <a:noFill/>
          <a:ln/>
        </p:spPr>
        <p:txBody>
          <a:bodyPr wrap="square" lIns="0" tIns="0" rIns="0" bIns="0" rtlCol="0" anchor="ctr"/>
          <a:lstStyle/>
          <a:p>
            <a:pPr indent="0" marL="0">
              <a:buNone/>
            </a:pPr>
            <a:r>
              <a:rPr lang="en-US" sz="950" dirty="0">
                <a:solidFill>
                  <a:srgbClr val="4E5D55"/>
                </a:solidFill>
                <a:latin typeface="Calibri" pitchFamily="34" charset="0"/>
                <a:ea typeface="Calibri" pitchFamily="34" charset="-122"/>
                <a:cs typeface="Calibri" pitchFamily="34" charset="-120"/>
              </a:rPr>
              <a:t>RBI · eff. 1 Apr 2024</a:t>
            </a:r>
            <a:endParaRPr lang="en-US" sz="950" dirty="0"/>
          </a:p>
        </p:txBody>
      </p:sp>
      <p:sp>
        <p:nvSpPr>
          <p:cNvPr id="46" name="Shape 44"/>
          <p:cNvSpPr/>
          <p:nvPr/>
        </p:nvSpPr>
        <p:spPr>
          <a:xfrm>
            <a:off x="9038844" y="4544568"/>
            <a:ext cx="2601468" cy="1554480"/>
          </a:xfrm>
          <a:prstGeom prst="rect">
            <a:avLst/>
          </a:prstGeom>
          <a:solidFill>
            <a:srgbClr val="F5F7F2"/>
          </a:solidFill>
          <a:ln w="9525">
            <a:solidFill>
              <a:srgbClr val="D7DDD6"/>
            </a:solidFill>
            <a:prstDash val="solid"/>
          </a:ln>
        </p:spPr>
      </p:sp>
      <p:sp>
        <p:nvSpPr>
          <p:cNvPr id="47" name="Text 45"/>
          <p:cNvSpPr txBox="1"/>
          <p:nvPr/>
        </p:nvSpPr>
        <p:spPr>
          <a:xfrm>
            <a:off x="9203436" y="4654296"/>
            <a:ext cx="2272284" cy="320040"/>
          </a:xfrm>
          <a:prstGeom prst="rect">
            <a:avLst/>
          </a:prstGeom>
          <a:noFill/>
          <a:ln/>
        </p:spPr>
        <p:txBody>
          <a:bodyPr wrap="square" lIns="0" tIns="0" rIns="0" bIns="0" rtlCol="0" anchor="ctr"/>
          <a:lstStyle/>
          <a:p>
            <a:pPr indent="0" marL="0">
              <a:buNone/>
            </a:pPr>
            <a:r>
              <a:rPr lang="en-US" sz="1450" b="1" dirty="0">
                <a:solidFill>
                  <a:srgbClr val="1E6A44"/>
                </a:solidFill>
                <a:latin typeface="Cambria" pitchFamily="34" charset="0"/>
                <a:ea typeface="Cambria" pitchFamily="34" charset="-122"/>
                <a:cs typeface="Cambria" pitchFamily="34" charset="-120"/>
              </a:rPr>
              <a:t>Bank lockers</a:t>
            </a:r>
            <a:endParaRPr lang="en-US" sz="1450" dirty="0"/>
          </a:p>
        </p:txBody>
      </p:sp>
      <p:sp>
        <p:nvSpPr>
          <p:cNvPr id="48" name="Text 46"/>
          <p:cNvSpPr txBox="1"/>
          <p:nvPr/>
        </p:nvSpPr>
        <p:spPr>
          <a:xfrm>
            <a:off x="9203436" y="5001768"/>
            <a:ext cx="2272284" cy="731520"/>
          </a:xfrm>
          <a:prstGeom prst="rect">
            <a:avLst/>
          </a:prstGeom>
          <a:noFill/>
          <a:ln/>
        </p:spPr>
        <p:txBody>
          <a:bodyPr wrap="square" lIns="0" tIns="0" rIns="0" bIns="0" rtlCol="0" anchor="t"/>
          <a:lstStyle/>
          <a:p>
            <a:pPr indent="0" marL="0">
              <a:buNone/>
            </a:pPr>
            <a:r>
              <a:rPr lang="en-US" sz="1100" dirty="0">
                <a:solidFill>
                  <a:srgbClr val="18261F"/>
                </a:solidFill>
                <a:latin typeface="Calibri" pitchFamily="34" charset="0"/>
                <a:ea typeface="Calibri" pitchFamily="34" charset="-122"/>
                <a:cs typeface="Calibri" pitchFamily="34" charset="-120"/>
              </a:rPr>
              <a:t>Loss by negligence, fire, theft or staff fraud: up to 100× annual rent</a:t>
            </a:r>
            <a:endParaRPr lang="en-US" sz="1100" dirty="0"/>
          </a:p>
        </p:txBody>
      </p:sp>
      <p:sp>
        <p:nvSpPr>
          <p:cNvPr id="49" name="Text 47"/>
          <p:cNvSpPr txBox="1"/>
          <p:nvPr/>
        </p:nvSpPr>
        <p:spPr>
          <a:xfrm>
            <a:off x="9203436" y="5751576"/>
            <a:ext cx="2272284" cy="256032"/>
          </a:xfrm>
          <a:prstGeom prst="rect">
            <a:avLst/>
          </a:prstGeom>
          <a:noFill/>
          <a:ln/>
        </p:spPr>
        <p:txBody>
          <a:bodyPr wrap="square" lIns="0" tIns="0" rIns="0" bIns="0" rtlCol="0" anchor="ctr"/>
          <a:lstStyle/>
          <a:p>
            <a:pPr indent="0" marL="0">
              <a:buNone/>
            </a:pPr>
            <a:r>
              <a:rPr lang="en-US" sz="950" dirty="0">
                <a:solidFill>
                  <a:srgbClr val="4E5D55"/>
                </a:solidFill>
                <a:latin typeface="Calibri" pitchFamily="34" charset="0"/>
                <a:ea typeface="Calibri" pitchFamily="34" charset="-122"/>
                <a:cs typeface="Calibri" pitchFamily="34" charset="-120"/>
              </a:rPr>
              <a:t>RBI · Aug 2021</a:t>
            </a:r>
            <a:endParaRPr lang="en-US" sz="950" dirty="0"/>
          </a:p>
        </p:txBody>
      </p:sp>
      <p:sp>
        <p:nvSpPr>
          <p:cNvPr id="50" name="Text 48"/>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4E5D55"/>
                </a:solidFill>
                <a:latin typeface="Calibri" pitchFamily="34" charset="0"/>
                <a:ea typeface="Calibri" pitchFamily="34" charset="-122"/>
                <a:cs typeface="Calibri" pitchFamily="34" charset="-120"/>
              </a:rPr>
              <a:t>Vasool Raja  ·  HackVerse 2.0  ·  Digital Twins &amp; FinTech</a:t>
            </a:r>
            <a:endParaRPr lang="en-US" sz="900" dirty="0"/>
          </a:p>
        </p:txBody>
      </p:sp>
      <p:sp>
        <p:nvSpPr>
          <p:cNvPr id="51" name="Text 49"/>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900" dirty="0">
                <a:solidFill>
                  <a:srgbClr val="4E5D5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3657600" cy="274320"/>
          </a:xfrm>
          <a:prstGeom prst="rect">
            <a:avLst/>
          </a:prstGeom>
          <a:noFill/>
          <a:ln/>
        </p:spPr>
        <p:txBody>
          <a:bodyPr wrap="square" lIns="0" tIns="0" rIns="0" bIns="0" rtlCol="0" anchor="ctr"/>
          <a:lstStyle/>
          <a:p>
            <a:pPr indent="0" marL="0">
              <a:buNone/>
            </a:pPr>
            <a:r>
              <a:rPr lang="en-US" sz="1000" b="1" spc="300" kern="0" dirty="0">
                <a:solidFill>
                  <a:srgbClr val="1E6A44"/>
                </a:solidFill>
                <a:latin typeface="Calibri" pitchFamily="34" charset="0"/>
                <a:ea typeface="Calibri" pitchFamily="34" charset="-122"/>
                <a:cs typeface="Calibri" pitchFamily="34" charset="-120"/>
              </a:rPr>
              <a:t>PROBLEM</a:t>
            </a:r>
            <a:endParaRPr lang="en-US" sz="10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3400" b="1" dirty="0">
                <a:solidFill>
                  <a:srgbClr val="18261F"/>
                </a:solidFill>
                <a:latin typeface="Cambria" pitchFamily="34" charset="0"/>
                <a:ea typeface="Cambria" pitchFamily="34" charset="-122"/>
                <a:cs typeface="Cambria" pitchFamily="34" charset="-120"/>
              </a:rPr>
              <a:t>Amma's passbook: ₹295 gone. “System charge, ma’am.”</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400800" cy="914400"/>
        </p:xfrm>
        <a:graphic>
          <a:graphicData uri="http://schemas.openxmlformats.org/drawingml/2006/table">
            <a:tbl>
              <a:tblPr/>
              <a:tblGrid>
                <a:gridCol w="960120"/>
                <a:gridCol w="2514600"/>
                <a:gridCol w="1005840"/>
                <a:gridCol w="914400"/>
                <a:gridCol w="1005840"/>
              </a:tblGrid>
              <a:tr h="329184">
                <a:tc>
                  <a:txBody>
                    <a:bodyPr/>
                    <a:lstStyle/>
                    <a:p>
                      <a:pPr indent="0" marL="0">
                        <a:buNone/>
                      </a:pPr>
                      <a:r>
                        <a:rPr lang="en-US" sz="1050" b="1" dirty="0">
                          <a:solidFill>
                            <a:srgbClr val="4E5D55"/>
                          </a:solidFill>
                          <a:latin typeface="Courier New" pitchFamily="34" charset="0"/>
                          <a:ea typeface="Courier New" pitchFamily="34" charset="-122"/>
                          <a:cs typeface="Courier New" pitchFamily="34" charset="-120"/>
                        </a:rPr>
                        <a:t>Date</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indent="0" marL="0">
                        <a:buNone/>
                      </a:pPr>
                      <a:r>
                        <a:rPr lang="en-US" sz="1050" b="1" dirty="0">
                          <a:solidFill>
                            <a:srgbClr val="4E5D55"/>
                          </a:solidFill>
                          <a:latin typeface="Courier New" pitchFamily="34" charset="0"/>
                          <a:ea typeface="Courier New" pitchFamily="34" charset="-122"/>
                          <a:cs typeface="Courier New" pitchFamily="34" charset="-120"/>
                        </a:rPr>
                        <a:t>Particulars</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algn="r" indent="0" marL="0">
                        <a:buNone/>
                      </a:pPr>
                      <a:r>
                        <a:rPr lang="en-US" sz="1050" b="1" dirty="0">
                          <a:solidFill>
                            <a:srgbClr val="4E5D55"/>
                          </a:solidFill>
                          <a:latin typeface="Courier New" pitchFamily="34" charset="0"/>
                          <a:ea typeface="Courier New" pitchFamily="34" charset="-122"/>
                          <a:cs typeface="Courier New" pitchFamily="34" charset="-120"/>
                        </a:rPr>
                        <a:t>Withdrawal</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algn="r" indent="0" marL="0">
                        <a:buNone/>
                      </a:pPr>
                      <a:r>
                        <a:rPr lang="en-US" sz="1050" b="1" dirty="0">
                          <a:solidFill>
                            <a:srgbClr val="4E5D55"/>
                          </a:solidFill>
                          <a:latin typeface="Courier New" pitchFamily="34" charset="0"/>
                          <a:ea typeface="Courier New" pitchFamily="34" charset="-122"/>
                          <a:cs typeface="Courier New" pitchFamily="34" charset="-120"/>
                        </a:rPr>
                        <a:t>Deposit</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algn="r" indent="0" marL="0">
                        <a:buNone/>
                      </a:pPr>
                      <a:r>
                        <a:rPr lang="en-US" sz="1050" b="1" dirty="0">
                          <a:solidFill>
                            <a:srgbClr val="4E5D55"/>
                          </a:solidFill>
                          <a:latin typeface="Courier New" pitchFamily="34" charset="0"/>
                          <a:ea typeface="Courier New" pitchFamily="34" charset="-122"/>
                          <a:cs typeface="Courier New" pitchFamily="34" charset="-120"/>
                        </a:rPr>
                        <a:t>Balance</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r>
              <a:tr h="329184">
                <a:tc>
                  <a:txBody>
                    <a:bodyPr/>
                    <a:lstStyle/>
                    <a:p>
                      <a:pPr indent="0" marL="0">
                        <a:buNone/>
                      </a:pPr>
                      <a:r>
                        <a:rPr lang="en-US" sz="1050" dirty="0">
                          <a:solidFill>
                            <a:srgbClr val="18261F"/>
                          </a:solidFill>
                          <a:latin typeface="Courier New" pitchFamily="34" charset="0"/>
                          <a:ea typeface="Courier New" pitchFamily="34" charset="-122"/>
                          <a:cs typeface="Courier New" pitchFamily="34" charset="-120"/>
                        </a:rPr>
                        <a:t>02/06/26</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indent="0" marL="0">
                        <a:buNone/>
                      </a:pPr>
                      <a:r>
                        <a:rPr lang="en-US" sz="1050" dirty="0">
                          <a:solidFill>
                            <a:srgbClr val="18261F"/>
                          </a:solidFill>
                          <a:latin typeface="Courier New" pitchFamily="34" charset="0"/>
                          <a:ea typeface="Courier New" pitchFamily="34" charset="-122"/>
                          <a:cs typeface="Courier New" pitchFamily="34" charset="-120"/>
                        </a:rPr>
                        <a:t>NEFT PENSION JUN</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indent="0" marL="0">
                        <a:buNone/>
                      </a:pP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algn="r" indent="0" marL="0">
                        <a:buNone/>
                      </a:pPr>
                      <a:r>
                        <a:rPr lang="en-US" sz="1050" dirty="0">
                          <a:solidFill>
                            <a:srgbClr val="18261F"/>
                          </a:solidFill>
                          <a:latin typeface="Courier New" pitchFamily="34" charset="0"/>
                          <a:ea typeface="Courier New" pitchFamily="34" charset="-122"/>
                          <a:cs typeface="Courier New" pitchFamily="34" charset="-120"/>
                        </a:rPr>
                        <a:t>6,500.00</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algn="r" indent="0" marL="0">
                        <a:buNone/>
                      </a:pPr>
                      <a:r>
                        <a:rPr lang="en-US" sz="1050" dirty="0">
                          <a:solidFill>
                            <a:srgbClr val="18261F"/>
                          </a:solidFill>
                          <a:latin typeface="Courier New" pitchFamily="34" charset="0"/>
                          <a:ea typeface="Courier New" pitchFamily="34" charset="-122"/>
                          <a:cs typeface="Courier New" pitchFamily="34" charset="-120"/>
                        </a:rPr>
                        <a:t>8,214.00</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r>
              <a:tr h="329184">
                <a:tc>
                  <a:txBody>
                    <a:bodyPr/>
                    <a:lstStyle/>
                    <a:p>
                      <a:pPr indent="0" marL="0">
                        <a:buNone/>
                      </a:pPr>
                      <a:r>
                        <a:rPr lang="en-US" sz="1050" dirty="0">
                          <a:solidFill>
                            <a:srgbClr val="18261F"/>
                          </a:solidFill>
                          <a:latin typeface="Courier New" pitchFamily="34" charset="0"/>
                          <a:ea typeface="Courier New" pitchFamily="34" charset="-122"/>
                          <a:cs typeface="Courier New" pitchFamily="34" charset="-120"/>
                        </a:rPr>
                        <a:t>04/06/26</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indent="0" marL="0">
                        <a:buNone/>
                      </a:pPr>
                      <a:r>
                        <a:rPr lang="en-US" sz="1050" dirty="0">
                          <a:solidFill>
                            <a:srgbClr val="18261F"/>
                          </a:solidFill>
                          <a:latin typeface="Courier New" pitchFamily="34" charset="0"/>
                          <a:ea typeface="Courier New" pitchFamily="34" charset="-122"/>
                          <a:cs typeface="Courier New" pitchFamily="34" charset="-120"/>
                        </a:rPr>
                        <a:t>ATM WDL CANARA RS PURAM</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algn="r" indent="0" marL="0">
                        <a:buNone/>
                      </a:pPr>
                      <a:r>
                        <a:rPr lang="en-US" sz="1050" dirty="0">
                          <a:solidFill>
                            <a:srgbClr val="18261F"/>
                          </a:solidFill>
                          <a:latin typeface="Courier New" pitchFamily="34" charset="0"/>
                          <a:ea typeface="Courier New" pitchFamily="34" charset="-122"/>
                          <a:cs typeface="Courier New" pitchFamily="34" charset="-120"/>
                        </a:rPr>
                        <a:t>3,000.00</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indent="0" marL="0">
                        <a:buNone/>
                      </a:pP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algn="r" indent="0" marL="0">
                        <a:buNone/>
                      </a:pPr>
                      <a:r>
                        <a:rPr lang="en-US" sz="1050" dirty="0">
                          <a:solidFill>
                            <a:srgbClr val="18261F"/>
                          </a:solidFill>
                          <a:latin typeface="Courier New" pitchFamily="34" charset="0"/>
                          <a:ea typeface="Courier New" pitchFamily="34" charset="-122"/>
                          <a:cs typeface="Courier New" pitchFamily="34" charset="-120"/>
                        </a:rPr>
                        <a:t>5,214.00</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r>
              <a:tr h="329184">
                <a:tc>
                  <a:txBody>
                    <a:bodyPr/>
                    <a:lstStyle/>
                    <a:p>
                      <a:pPr indent="0" marL="0">
                        <a:buNone/>
                      </a:pPr>
                      <a:r>
                        <a:rPr lang="en-US" sz="1050" dirty="0">
                          <a:solidFill>
                            <a:srgbClr val="18261F"/>
                          </a:solidFill>
                          <a:latin typeface="Courier New" pitchFamily="34" charset="0"/>
                          <a:ea typeface="Courier New" pitchFamily="34" charset="-122"/>
                          <a:cs typeface="Courier New" pitchFamily="34" charset="-120"/>
                        </a:rPr>
                        <a:t>11/06/26</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indent="0" marL="0">
                        <a:buNone/>
                      </a:pPr>
                      <a:r>
                        <a:rPr lang="en-US" sz="1050" dirty="0">
                          <a:solidFill>
                            <a:srgbClr val="18261F"/>
                          </a:solidFill>
                          <a:latin typeface="Courier New" pitchFamily="34" charset="0"/>
                          <a:ea typeface="Courier New" pitchFamily="34" charset="-122"/>
                          <a:cs typeface="Courier New" pitchFamily="34" charset="-120"/>
                        </a:rPr>
                        <a:t>ATM WDL SBI GANDHIPURAM</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algn="r" indent="0" marL="0">
                        <a:buNone/>
                      </a:pPr>
                      <a:r>
                        <a:rPr lang="en-US" sz="1050" dirty="0">
                          <a:solidFill>
                            <a:srgbClr val="18261F"/>
                          </a:solidFill>
                          <a:latin typeface="Courier New" pitchFamily="34" charset="0"/>
                          <a:ea typeface="Courier New" pitchFamily="34" charset="-122"/>
                          <a:cs typeface="Courier New" pitchFamily="34" charset="-120"/>
                        </a:rPr>
                        <a:t>2,000.00</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indent="0" marL="0">
                        <a:buNone/>
                      </a:pP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algn="r" indent="0" marL="0">
                        <a:buNone/>
                      </a:pPr>
                      <a:r>
                        <a:rPr lang="en-US" sz="1050" dirty="0">
                          <a:solidFill>
                            <a:srgbClr val="18261F"/>
                          </a:solidFill>
                          <a:latin typeface="Courier New" pitchFamily="34" charset="0"/>
                          <a:ea typeface="Courier New" pitchFamily="34" charset="-122"/>
                          <a:cs typeface="Courier New" pitchFamily="34" charset="-120"/>
                        </a:rPr>
                        <a:t>3,214.00</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r>
              <a:tr h="329184">
                <a:tc>
                  <a:txBody>
                    <a:bodyPr/>
                    <a:lstStyle/>
                    <a:p>
                      <a:pPr indent="0" marL="0">
                        <a:buNone/>
                      </a:pPr>
                      <a:r>
                        <a:rPr lang="en-US" sz="1050" dirty="0">
                          <a:solidFill>
                            <a:srgbClr val="18261F"/>
                          </a:solidFill>
                          <a:latin typeface="Courier New" pitchFamily="34" charset="0"/>
                          <a:ea typeface="Courier New" pitchFamily="34" charset="-122"/>
                          <a:cs typeface="Courier New" pitchFamily="34" charset="-120"/>
                        </a:rPr>
                        <a:t>30/06/26</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7E3DF"/>
                    </a:solidFill>
                  </a:tcPr>
                </a:tc>
                <a:tc>
                  <a:txBody>
                    <a:bodyPr/>
                    <a:lstStyle/>
                    <a:p>
                      <a:pPr indent="0" marL="0">
                        <a:buNone/>
                      </a:pPr>
                      <a:r>
                        <a:rPr lang="en-US" sz="1050" b="1" dirty="0">
                          <a:solidFill>
                            <a:srgbClr val="A9392C"/>
                          </a:solidFill>
                          <a:latin typeface="Courier New" pitchFamily="34" charset="0"/>
                          <a:ea typeface="Courier New" pitchFamily="34" charset="-122"/>
                          <a:cs typeface="Courier New" pitchFamily="34" charset="-120"/>
                        </a:rPr>
                        <a:t>CHRG MIN BAL NON MAINT   ?</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7E3DF"/>
                    </a:solidFill>
                  </a:tcPr>
                </a:tc>
                <a:tc>
                  <a:txBody>
                    <a:bodyPr/>
                    <a:lstStyle/>
                    <a:p>
                      <a:pPr algn="r" indent="0" marL="0">
                        <a:buNone/>
                      </a:pPr>
                      <a:r>
                        <a:rPr lang="en-US" sz="1050" b="1" dirty="0">
                          <a:solidFill>
                            <a:srgbClr val="A9392C"/>
                          </a:solidFill>
                          <a:latin typeface="Courier New" pitchFamily="34" charset="0"/>
                          <a:ea typeface="Courier New" pitchFamily="34" charset="-122"/>
                          <a:cs typeface="Courier New" pitchFamily="34" charset="-120"/>
                        </a:rPr>
                        <a:t>295.00</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7E3DF"/>
                    </a:solidFill>
                  </a:tcPr>
                </a:tc>
                <a:tc>
                  <a:txBody>
                    <a:bodyPr/>
                    <a:lstStyle/>
                    <a:p>
                      <a:pPr indent="0" marL="0">
                        <a:buNone/>
                      </a:pP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7E3DF"/>
                    </a:solidFill>
                  </a:tcPr>
                </a:tc>
                <a:tc>
                  <a:txBody>
                    <a:bodyPr/>
                    <a:lstStyle/>
                    <a:p>
                      <a:pPr algn="r" indent="0" marL="0">
                        <a:buNone/>
                      </a:pPr>
                      <a:r>
                        <a:rPr lang="en-US" sz="1050" dirty="0">
                          <a:solidFill>
                            <a:srgbClr val="18261F"/>
                          </a:solidFill>
                          <a:latin typeface="Courier New" pitchFamily="34" charset="0"/>
                          <a:ea typeface="Courier New" pitchFamily="34" charset="-122"/>
                          <a:cs typeface="Courier New" pitchFamily="34" charset="-120"/>
                        </a:rPr>
                        <a:t>2,919.00</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7E3DF"/>
                    </a:solidFill>
                  </a:tcPr>
                </a:tc>
              </a:tr>
              <a:tr h="329184">
                <a:tc>
                  <a:txBody>
                    <a:bodyPr/>
                    <a:lstStyle/>
                    <a:p>
                      <a:pPr indent="0" marL="0">
                        <a:buNone/>
                      </a:pPr>
                      <a:r>
                        <a:rPr lang="en-US" sz="1050" dirty="0">
                          <a:solidFill>
                            <a:srgbClr val="18261F"/>
                          </a:solidFill>
                          <a:latin typeface="Courier New" pitchFamily="34" charset="0"/>
                          <a:ea typeface="Courier New" pitchFamily="34" charset="-122"/>
                          <a:cs typeface="Courier New" pitchFamily="34" charset="-120"/>
                        </a:rPr>
                        <a:t>30/06/26</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7E3DF"/>
                    </a:solidFill>
                  </a:tcPr>
                </a:tc>
                <a:tc>
                  <a:txBody>
                    <a:bodyPr/>
                    <a:lstStyle/>
                    <a:p>
                      <a:pPr indent="0" marL="0">
                        <a:buNone/>
                      </a:pPr>
                      <a:r>
                        <a:rPr lang="en-US" sz="1050" b="1" dirty="0">
                          <a:solidFill>
                            <a:srgbClr val="A9392C"/>
                          </a:solidFill>
                          <a:latin typeface="Courier New" pitchFamily="34" charset="0"/>
                          <a:ea typeface="Courier New" pitchFamily="34" charset="-122"/>
                          <a:cs typeface="Courier New" pitchFamily="34" charset="-120"/>
                        </a:rPr>
                        <a:t>SMS ALERT CHRG Q1   ?</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7E3DF"/>
                    </a:solidFill>
                  </a:tcPr>
                </a:tc>
                <a:tc>
                  <a:txBody>
                    <a:bodyPr/>
                    <a:lstStyle/>
                    <a:p>
                      <a:pPr algn="r" indent="0" marL="0">
                        <a:buNone/>
                      </a:pPr>
                      <a:r>
                        <a:rPr lang="en-US" sz="1050" b="1" dirty="0">
                          <a:solidFill>
                            <a:srgbClr val="A9392C"/>
                          </a:solidFill>
                          <a:latin typeface="Courier New" pitchFamily="34" charset="0"/>
                          <a:ea typeface="Courier New" pitchFamily="34" charset="-122"/>
                          <a:cs typeface="Courier New" pitchFamily="34" charset="-120"/>
                        </a:rPr>
                        <a:t>17.70</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7E3DF"/>
                    </a:solidFill>
                  </a:tcPr>
                </a:tc>
                <a:tc>
                  <a:txBody>
                    <a:bodyPr/>
                    <a:lstStyle/>
                    <a:p>
                      <a:pPr indent="0" marL="0">
                        <a:buNone/>
                      </a:pP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7E3DF"/>
                    </a:solidFill>
                  </a:tcPr>
                </a:tc>
                <a:tc>
                  <a:txBody>
                    <a:bodyPr/>
                    <a:lstStyle/>
                    <a:p>
                      <a:pPr algn="r" indent="0" marL="0">
                        <a:buNone/>
                      </a:pPr>
                      <a:r>
                        <a:rPr lang="en-US" sz="1050" dirty="0">
                          <a:solidFill>
                            <a:srgbClr val="18261F"/>
                          </a:solidFill>
                          <a:latin typeface="Courier New" pitchFamily="34" charset="0"/>
                          <a:ea typeface="Courier New" pitchFamily="34" charset="-122"/>
                          <a:cs typeface="Courier New" pitchFamily="34" charset="-120"/>
                        </a:rPr>
                        <a:t>2,901.30</a:t>
                      </a:r>
                      <a:endParaRPr lang="en-US" sz="1050" dirty="0">
                        <a:latin typeface="Courier New" charset="0"/>
                        <a:ea typeface="Courier New" charset="0"/>
                        <a:cs typeface="Courier New" charset="0"/>
                      </a:endParaRPr>
                    </a:p>
                  </a:txBody>
                  <a:tcPr marL="54864" marR="54864" marT="54864" marB="54864">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7E3DF"/>
                    </a:solidFill>
                  </a:tcPr>
                </a:tc>
              </a:tr>
            </a:tbl>
          </a:graphicData>
        </a:graphic>
      </p:graphicFrame>
      <p:sp>
        <p:nvSpPr>
          <p:cNvPr id="5" name="Text 2"/>
          <p:cNvSpPr txBox="1"/>
          <p:nvPr/>
        </p:nvSpPr>
        <p:spPr>
          <a:xfrm>
            <a:off x="548640" y="3703320"/>
            <a:ext cx="6400800" cy="256032"/>
          </a:xfrm>
          <a:prstGeom prst="rect">
            <a:avLst/>
          </a:prstGeom>
          <a:noFill/>
          <a:ln/>
        </p:spPr>
        <p:txBody>
          <a:bodyPr wrap="square" lIns="0" tIns="0" rIns="0" bIns="0" rtlCol="0" anchor="ctr"/>
          <a:lstStyle/>
          <a:p>
            <a:pPr indent="0" marL="0">
              <a:buNone/>
            </a:pPr>
            <a:r>
              <a:rPr lang="en-US" sz="1000" i="1" dirty="0">
                <a:solidFill>
                  <a:srgbClr val="4E5D55"/>
                </a:solidFill>
                <a:latin typeface="Calibri" pitchFamily="34" charset="0"/>
                <a:ea typeface="Calibri" pitchFamily="34" charset="-122"/>
                <a:cs typeface="Calibri" pitchFamily="34" charset="-120"/>
              </a:rPr>
              <a:t>A printed passbook page, June 2026. The two lines she cannot explain.</a:t>
            </a:r>
            <a:endParaRPr lang="en-US" sz="1000" dirty="0"/>
          </a:p>
        </p:txBody>
      </p:sp>
      <p:sp>
        <p:nvSpPr>
          <p:cNvPr id="6" name="Shape 3"/>
          <p:cNvSpPr/>
          <p:nvPr/>
        </p:nvSpPr>
        <p:spPr>
          <a:xfrm>
            <a:off x="548640" y="4160520"/>
            <a:ext cx="1412095" cy="603504"/>
          </a:xfrm>
          <a:prstGeom prst="rect">
            <a:avLst/>
          </a:prstGeom>
          <a:solidFill>
            <a:srgbClr val="F5F7F2"/>
          </a:solidFill>
          <a:ln w="9525">
            <a:solidFill>
              <a:srgbClr val="D7DDD6"/>
            </a:solidFill>
            <a:prstDash val="solid"/>
          </a:ln>
        </p:spPr>
      </p:sp>
      <p:sp>
        <p:nvSpPr>
          <p:cNvPr id="7" name="Text 4"/>
          <p:cNvSpPr txBox="1"/>
          <p:nvPr/>
        </p:nvSpPr>
        <p:spPr>
          <a:xfrm>
            <a:off x="621792" y="4187952"/>
            <a:ext cx="1265791" cy="201168"/>
          </a:xfrm>
          <a:prstGeom prst="rect">
            <a:avLst/>
          </a:prstGeom>
          <a:noFill/>
          <a:ln/>
        </p:spPr>
        <p:txBody>
          <a:bodyPr wrap="square" lIns="0" tIns="0" rIns="0" bIns="0" rtlCol="0" anchor="ctr"/>
          <a:lstStyle/>
          <a:p>
            <a:pPr indent="0" marL="0">
              <a:buNone/>
            </a:pPr>
            <a:r>
              <a:rPr lang="en-US" sz="750" b="1" spc="150" kern="0" dirty="0">
                <a:solidFill>
                  <a:srgbClr val="4E5D55"/>
                </a:solidFill>
                <a:latin typeface="Calibri" pitchFamily="34" charset="0"/>
                <a:ea typeface="Calibri" pitchFamily="34" charset="-122"/>
                <a:cs typeface="Calibri" pitchFamily="34" charset="-120"/>
              </a:rPr>
              <a:t>PASSBOOK PHOTO</a:t>
            </a:r>
            <a:endParaRPr lang="en-US" sz="750" dirty="0"/>
          </a:p>
        </p:txBody>
      </p:sp>
      <p:sp>
        <p:nvSpPr>
          <p:cNvPr id="8" name="Text 5"/>
          <p:cNvSpPr txBox="1"/>
          <p:nvPr/>
        </p:nvSpPr>
        <p:spPr>
          <a:xfrm>
            <a:off x="621792" y="4379976"/>
            <a:ext cx="1265791" cy="365760"/>
          </a:xfrm>
          <a:prstGeom prst="rect">
            <a:avLst/>
          </a:prstGeom>
          <a:noFill/>
          <a:ln/>
        </p:spPr>
        <p:txBody>
          <a:bodyPr wrap="square" lIns="0" tIns="0" rIns="0" bIns="0" rtlCol="0" anchor="t"/>
          <a:lstStyle/>
          <a:p>
            <a:pPr indent="0" marL="0">
              <a:buNone/>
            </a:pPr>
            <a:r>
              <a:rPr lang="en-US" sz="900" dirty="0">
                <a:solidFill>
                  <a:srgbClr val="18261F"/>
                </a:solidFill>
                <a:latin typeface="Calibri" pitchFamily="34" charset="0"/>
                <a:ea typeface="Calibri" pitchFamily="34" charset="-122"/>
                <a:cs typeface="Calibri" pitchFamily="34" charset="-120"/>
              </a:rPr>
              <a:t>page photographed · OCR</a:t>
            </a:r>
            <a:endParaRPr lang="en-US" sz="900" dirty="0"/>
          </a:p>
        </p:txBody>
      </p:sp>
      <p:sp>
        <p:nvSpPr>
          <p:cNvPr id="9" name="Text 6"/>
          <p:cNvSpPr txBox="1"/>
          <p:nvPr/>
        </p:nvSpPr>
        <p:spPr>
          <a:xfrm>
            <a:off x="1942447" y="4306824"/>
            <a:ext cx="237744" cy="27432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10" name="Shape 7"/>
          <p:cNvSpPr/>
          <p:nvPr/>
        </p:nvSpPr>
        <p:spPr>
          <a:xfrm>
            <a:off x="2161903" y="4160520"/>
            <a:ext cx="1412095" cy="603504"/>
          </a:xfrm>
          <a:prstGeom prst="rect">
            <a:avLst/>
          </a:prstGeom>
          <a:solidFill>
            <a:srgbClr val="F5F7F2"/>
          </a:solidFill>
          <a:ln w="9525">
            <a:solidFill>
              <a:srgbClr val="D7DDD6"/>
            </a:solidFill>
            <a:prstDash val="solid"/>
          </a:ln>
        </p:spPr>
      </p:sp>
      <p:sp>
        <p:nvSpPr>
          <p:cNvPr id="11" name="Text 8"/>
          <p:cNvSpPr txBox="1"/>
          <p:nvPr/>
        </p:nvSpPr>
        <p:spPr>
          <a:xfrm>
            <a:off x="2235055" y="4187952"/>
            <a:ext cx="1265791" cy="201168"/>
          </a:xfrm>
          <a:prstGeom prst="rect">
            <a:avLst/>
          </a:prstGeom>
          <a:noFill/>
          <a:ln/>
        </p:spPr>
        <p:txBody>
          <a:bodyPr wrap="square" lIns="0" tIns="0" rIns="0" bIns="0" rtlCol="0" anchor="ctr"/>
          <a:lstStyle/>
          <a:p>
            <a:pPr indent="0" marL="0">
              <a:buNone/>
            </a:pPr>
            <a:r>
              <a:rPr lang="en-US" sz="750" b="1" spc="150" kern="0" dirty="0">
                <a:solidFill>
                  <a:srgbClr val="4E5D55"/>
                </a:solidFill>
                <a:latin typeface="Calibri" pitchFamily="34" charset="0"/>
                <a:ea typeface="Calibri" pitchFamily="34" charset="-122"/>
                <a:cs typeface="Calibri" pitchFamily="34" charset="-120"/>
              </a:rPr>
              <a:t>TRANSACTION</a:t>
            </a:r>
            <a:endParaRPr lang="en-US" sz="750" dirty="0"/>
          </a:p>
        </p:txBody>
      </p:sp>
      <p:sp>
        <p:nvSpPr>
          <p:cNvPr id="12" name="Text 9"/>
          <p:cNvSpPr txBox="1"/>
          <p:nvPr/>
        </p:nvSpPr>
        <p:spPr>
          <a:xfrm>
            <a:off x="2235055" y="4379976"/>
            <a:ext cx="1265791" cy="365760"/>
          </a:xfrm>
          <a:prstGeom prst="rect">
            <a:avLst/>
          </a:prstGeom>
          <a:noFill/>
          <a:ln/>
        </p:spPr>
        <p:txBody>
          <a:bodyPr wrap="square" lIns="0" tIns="0" rIns="0" bIns="0" rtlCol="0" anchor="t"/>
          <a:lstStyle/>
          <a:p>
            <a:pPr indent="0" marL="0">
              <a:buNone/>
            </a:pPr>
            <a:r>
              <a:rPr lang="en-US" sz="900" dirty="0">
                <a:solidFill>
                  <a:srgbClr val="18261F"/>
                </a:solidFill>
                <a:latin typeface="Calibri" pitchFamily="34" charset="0"/>
                <a:ea typeface="Calibri" pitchFamily="34" charset="-122"/>
                <a:cs typeface="Calibri" pitchFamily="34" charset="-120"/>
              </a:rPr>
              <a:t>CHRG MIN BAL ₹295 · 30 Jun</a:t>
            </a:r>
            <a:endParaRPr lang="en-US" sz="900" dirty="0"/>
          </a:p>
        </p:txBody>
      </p:sp>
      <p:sp>
        <p:nvSpPr>
          <p:cNvPr id="13" name="Text 10"/>
          <p:cNvSpPr txBox="1"/>
          <p:nvPr/>
        </p:nvSpPr>
        <p:spPr>
          <a:xfrm>
            <a:off x="3555710" y="4306824"/>
            <a:ext cx="237744" cy="27432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14" name="Shape 11"/>
          <p:cNvSpPr/>
          <p:nvPr/>
        </p:nvSpPr>
        <p:spPr>
          <a:xfrm>
            <a:off x="3775166" y="4160520"/>
            <a:ext cx="1412095" cy="603504"/>
          </a:xfrm>
          <a:prstGeom prst="rect">
            <a:avLst/>
          </a:prstGeom>
          <a:solidFill>
            <a:srgbClr val="F5F7F2"/>
          </a:solidFill>
          <a:ln w="9525">
            <a:solidFill>
              <a:srgbClr val="D7DDD6"/>
            </a:solidFill>
            <a:prstDash val="solid"/>
          </a:ln>
        </p:spPr>
      </p:sp>
      <p:sp>
        <p:nvSpPr>
          <p:cNvPr id="15" name="Text 12"/>
          <p:cNvSpPr txBox="1"/>
          <p:nvPr/>
        </p:nvSpPr>
        <p:spPr>
          <a:xfrm>
            <a:off x="3848318" y="4187952"/>
            <a:ext cx="1265791" cy="201168"/>
          </a:xfrm>
          <a:prstGeom prst="rect">
            <a:avLst/>
          </a:prstGeom>
          <a:noFill/>
          <a:ln/>
        </p:spPr>
        <p:txBody>
          <a:bodyPr wrap="square" lIns="0" tIns="0" rIns="0" bIns="0" rtlCol="0" anchor="ctr"/>
          <a:lstStyle/>
          <a:p>
            <a:pPr indent="0" marL="0">
              <a:buNone/>
            </a:pPr>
            <a:r>
              <a:rPr lang="en-US" sz="750" b="1" spc="150" kern="0" dirty="0">
                <a:solidFill>
                  <a:srgbClr val="4E5D55"/>
                </a:solidFill>
                <a:latin typeface="Calibri" pitchFamily="34" charset="0"/>
                <a:ea typeface="Calibri" pitchFamily="34" charset="-122"/>
                <a:cs typeface="Calibri" pitchFamily="34" charset="-120"/>
              </a:rPr>
              <a:t>RBI RULE</a:t>
            </a:r>
            <a:endParaRPr lang="en-US" sz="750" dirty="0"/>
          </a:p>
        </p:txBody>
      </p:sp>
      <p:sp>
        <p:nvSpPr>
          <p:cNvPr id="16" name="Text 13"/>
          <p:cNvSpPr txBox="1"/>
          <p:nvPr/>
        </p:nvSpPr>
        <p:spPr>
          <a:xfrm>
            <a:off x="3848318" y="4379976"/>
            <a:ext cx="1265791" cy="365760"/>
          </a:xfrm>
          <a:prstGeom prst="rect">
            <a:avLst/>
          </a:prstGeom>
          <a:noFill/>
          <a:ln/>
        </p:spPr>
        <p:txBody>
          <a:bodyPr wrap="square" lIns="0" tIns="0" rIns="0" bIns="0" rtlCol="0" anchor="t"/>
          <a:lstStyle/>
          <a:p>
            <a:pPr indent="0" marL="0">
              <a:buNone/>
            </a:pPr>
            <a:r>
              <a:rPr lang="en-US" sz="900" dirty="0">
                <a:solidFill>
                  <a:srgbClr val="18261F"/>
                </a:solidFill>
                <a:latin typeface="Calibri" pitchFamily="34" charset="0"/>
                <a:ea typeface="Calibri" pitchFamily="34" charset="-122"/>
                <a:cs typeface="Calibri" pitchFamily="34" charset="-120"/>
              </a:rPr>
              <a:t>min-balance penalty · 20 Nov 2014</a:t>
            </a:r>
            <a:endParaRPr lang="en-US" sz="900" dirty="0"/>
          </a:p>
        </p:txBody>
      </p:sp>
      <p:sp>
        <p:nvSpPr>
          <p:cNvPr id="17" name="Text 14"/>
          <p:cNvSpPr txBox="1"/>
          <p:nvPr/>
        </p:nvSpPr>
        <p:spPr>
          <a:xfrm>
            <a:off x="5168973" y="4306824"/>
            <a:ext cx="237744" cy="27432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18" name="Shape 15"/>
          <p:cNvSpPr/>
          <p:nvPr/>
        </p:nvSpPr>
        <p:spPr>
          <a:xfrm>
            <a:off x="5388429" y="4160520"/>
            <a:ext cx="1412095" cy="603504"/>
          </a:xfrm>
          <a:prstGeom prst="rect">
            <a:avLst/>
          </a:prstGeom>
          <a:solidFill>
            <a:srgbClr val="F5F7F2"/>
          </a:solidFill>
          <a:ln w="9525">
            <a:solidFill>
              <a:srgbClr val="D7DDD6"/>
            </a:solidFill>
            <a:prstDash val="solid"/>
          </a:ln>
        </p:spPr>
      </p:sp>
      <p:sp>
        <p:nvSpPr>
          <p:cNvPr id="19" name="Text 16"/>
          <p:cNvSpPr txBox="1"/>
          <p:nvPr/>
        </p:nvSpPr>
        <p:spPr>
          <a:xfrm>
            <a:off x="5461581" y="4187952"/>
            <a:ext cx="1265791" cy="201168"/>
          </a:xfrm>
          <a:prstGeom prst="rect">
            <a:avLst/>
          </a:prstGeom>
          <a:noFill/>
          <a:ln/>
        </p:spPr>
        <p:txBody>
          <a:bodyPr wrap="square" lIns="0" tIns="0" rIns="0" bIns="0" rtlCol="0" anchor="ctr"/>
          <a:lstStyle/>
          <a:p>
            <a:pPr indent="0" marL="0">
              <a:buNone/>
            </a:pPr>
            <a:r>
              <a:rPr lang="en-US" sz="750" b="1" spc="150" kern="0" dirty="0">
                <a:solidFill>
                  <a:srgbClr val="4E5D55"/>
                </a:solidFill>
                <a:latin typeface="Calibri" pitchFamily="34" charset="0"/>
                <a:ea typeface="Calibri" pitchFamily="34" charset="-122"/>
                <a:cs typeface="Calibri" pitchFamily="34" charset="-120"/>
              </a:rPr>
              <a:t>ENGINE CHECK</a:t>
            </a:r>
            <a:endParaRPr lang="en-US" sz="750" dirty="0"/>
          </a:p>
        </p:txBody>
      </p:sp>
      <p:sp>
        <p:nvSpPr>
          <p:cNvPr id="20" name="Text 17"/>
          <p:cNvSpPr txBox="1"/>
          <p:nvPr/>
        </p:nvSpPr>
        <p:spPr>
          <a:xfrm>
            <a:off x="5461581" y="4379976"/>
            <a:ext cx="1265791" cy="365760"/>
          </a:xfrm>
          <a:prstGeom prst="rect">
            <a:avLst/>
          </a:prstGeom>
          <a:noFill/>
          <a:ln/>
        </p:spPr>
        <p:txBody>
          <a:bodyPr wrap="square" lIns="0" tIns="0" rIns="0" bIns="0" rtlCol="0" anchor="t"/>
          <a:lstStyle/>
          <a:p>
            <a:pPr indent="0" marL="0">
              <a:buNone/>
            </a:pPr>
            <a:r>
              <a:rPr lang="en-US" sz="900" dirty="0">
                <a:solidFill>
                  <a:srgbClr val="18261F"/>
                </a:solidFill>
                <a:latin typeface="Calibri" pitchFamily="34" charset="0"/>
                <a:ea typeface="Calibri" pitchFamily="34" charset="-122"/>
                <a:cs typeface="Calibri" pitchFamily="34" charset="-120"/>
              </a:rPr>
              <a:t>warning? ✗ · one month? ✗</a:t>
            </a:r>
            <a:endParaRPr lang="en-US" sz="900" dirty="0"/>
          </a:p>
        </p:txBody>
      </p:sp>
      <p:sp>
        <p:nvSpPr>
          <p:cNvPr id="21" name="Text 18"/>
          <p:cNvSpPr txBox="1"/>
          <p:nvPr/>
        </p:nvSpPr>
        <p:spPr>
          <a:xfrm>
            <a:off x="6782235" y="4306824"/>
            <a:ext cx="237744" cy="27432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22" name="Shape 19"/>
          <p:cNvSpPr/>
          <p:nvPr/>
        </p:nvSpPr>
        <p:spPr>
          <a:xfrm>
            <a:off x="7001691" y="4160520"/>
            <a:ext cx="1412095" cy="603504"/>
          </a:xfrm>
          <a:prstGeom prst="rect">
            <a:avLst/>
          </a:prstGeom>
          <a:solidFill>
            <a:srgbClr val="F5F7F2"/>
          </a:solidFill>
          <a:ln w="9525">
            <a:solidFill>
              <a:srgbClr val="D7DDD6"/>
            </a:solidFill>
            <a:prstDash val="solid"/>
          </a:ln>
        </p:spPr>
      </p:sp>
      <p:sp>
        <p:nvSpPr>
          <p:cNvPr id="23" name="Text 20"/>
          <p:cNvSpPr txBox="1"/>
          <p:nvPr/>
        </p:nvSpPr>
        <p:spPr>
          <a:xfrm>
            <a:off x="7074843" y="4187952"/>
            <a:ext cx="1265791" cy="201168"/>
          </a:xfrm>
          <a:prstGeom prst="rect">
            <a:avLst/>
          </a:prstGeom>
          <a:noFill/>
          <a:ln/>
        </p:spPr>
        <p:txBody>
          <a:bodyPr wrap="square" lIns="0" tIns="0" rIns="0" bIns="0" rtlCol="0" anchor="ctr"/>
          <a:lstStyle/>
          <a:p>
            <a:pPr indent="0" marL="0">
              <a:buNone/>
            </a:pPr>
            <a:r>
              <a:rPr lang="en-US" sz="750" b="1" spc="150" kern="0" dirty="0">
                <a:solidFill>
                  <a:srgbClr val="4E5D55"/>
                </a:solidFill>
                <a:latin typeface="Calibri" pitchFamily="34" charset="0"/>
                <a:ea typeface="Calibri" pitchFamily="34" charset="-122"/>
                <a:cs typeface="Calibri" pitchFamily="34" charset="-120"/>
              </a:rPr>
              <a:t>EVIDENCE</a:t>
            </a:r>
            <a:endParaRPr lang="en-US" sz="750" dirty="0"/>
          </a:p>
        </p:txBody>
      </p:sp>
      <p:sp>
        <p:nvSpPr>
          <p:cNvPr id="24" name="Text 21"/>
          <p:cNvSpPr txBox="1"/>
          <p:nvPr/>
        </p:nvSpPr>
        <p:spPr>
          <a:xfrm>
            <a:off x="7074843" y="4379976"/>
            <a:ext cx="1265791" cy="365760"/>
          </a:xfrm>
          <a:prstGeom prst="rect">
            <a:avLst/>
          </a:prstGeom>
          <a:noFill/>
          <a:ln/>
        </p:spPr>
        <p:txBody>
          <a:bodyPr wrap="square" lIns="0" tIns="0" rIns="0" bIns="0" rtlCol="0" anchor="t"/>
          <a:lstStyle/>
          <a:p>
            <a:pPr indent="0" marL="0">
              <a:buNone/>
            </a:pPr>
            <a:r>
              <a:rPr lang="en-US" sz="900" dirty="0">
                <a:solidFill>
                  <a:srgbClr val="18261F"/>
                </a:solidFill>
                <a:latin typeface="Calibri" pitchFamily="34" charset="0"/>
                <a:ea typeface="Calibri" pitchFamily="34" charset="-122"/>
                <a:cs typeface="Calibri" pitchFamily="34" charset="-120"/>
              </a:rPr>
              <a:t>2 statement lines</a:t>
            </a:r>
            <a:endParaRPr lang="en-US" sz="900" dirty="0"/>
          </a:p>
        </p:txBody>
      </p:sp>
      <p:sp>
        <p:nvSpPr>
          <p:cNvPr id="25" name="Text 22"/>
          <p:cNvSpPr txBox="1"/>
          <p:nvPr/>
        </p:nvSpPr>
        <p:spPr>
          <a:xfrm>
            <a:off x="8395498" y="4306824"/>
            <a:ext cx="237744" cy="27432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26" name="Shape 23"/>
          <p:cNvSpPr/>
          <p:nvPr/>
        </p:nvSpPr>
        <p:spPr>
          <a:xfrm>
            <a:off x="8614954" y="4160520"/>
            <a:ext cx="1412095" cy="603504"/>
          </a:xfrm>
          <a:prstGeom prst="rect">
            <a:avLst/>
          </a:prstGeom>
          <a:solidFill>
            <a:srgbClr val="E3EFE7"/>
          </a:solidFill>
          <a:ln w="9525">
            <a:solidFill>
              <a:srgbClr val="1E6A44"/>
            </a:solidFill>
            <a:prstDash val="solid"/>
          </a:ln>
        </p:spPr>
      </p:sp>
      <p:sp>
        <p:nvSpPr>
          <p:cNvPr id="27" name="Text 24"/>
          <p:cNvSpPr txBox="1"/>
          <p:nvPr/>
        </p:nvSpPr>
        <p:spPr>
          <a:xfrm>
            <a:off x="8688106" y="4187952"/>
            <a:ext cx="1265791" cy="201168"/>
          </a:xfrm>
          <a:prstGeom prst="rect">
            <a:avLst/>
          </a:prstGeom>
          <a:noFill/>
          <a:ln/>
        </p:spPr>
        <p:txBody>
          <a:bodyPr wrap="square" lIns="0" tIns="0" rIns="0" bIns="0" rtlCol="0" anchor="ctr"/>
          <a:lstStyle/>
          <a:p>
            <a:pPr indent="0" marL="0">
              <a:buNone/>
            </a:pPr>
            <a:r>
              <a:rPr lang="en-US" sz="750" b="1" spc="150" kern="0" dirty="0">
                <a:solidFill>
                  <a:srgbClr val="1E6A44"/>
                </a:solidFill>
                <a:latin typeface="Calibri" pitchFamily="34" charset="0"/>
                <a:ea typeface="Calibri" pitchFamily="34" charset="-122"/>
                <a:cs typeface="Calibri" pitchFamily="34" charset="-120"/>
              </a:rPr>
              <a:t>VERDICT</a:t>
            </a:r>
            <a:endParaRPr lang="en-US" sz="750" dirty="0"/>
          </a:p>
        </p:txBody>
      </p:sp>
      <p:sp>
        <p:nvSpPr>
          <p:cNvPr id="28" name="Text 25"/>
          <p:cNvSpPr txBox="1"/>
          <p:nvPr/>
        </p:nvSpPr>
        <p:spPr>
          <a:xfrm>
            <a:off x="8688106" y="4379976"/>
            <a:ext cx="1265791" cy="365760"/>
          </a:xfrm>
          <a:prstGeom prst="rect">
            <a:avLst/>
          </a:prstGeom>
          <a:noFill/>
          <a:ln/>
        </p:spPr>
        <p:txBody>
          <a:bodyPr wrap="square" lIns="0" tIns="0" rIns="0" bIns="0" rtlCol="0" anchor="t"/>
          <a:lstStyle/>
          <a:p>
            <a:pPr indent="0" marL="0">
              <a:buNone/>
            </a:pPr>
            <a:r>
              <a:rPr lang="en-US" sz="900" b="1" dirty="0">
                <a:solidFill>
                  <a:srgbClr val="18261F"/>
                </a:solidFill>
                <a:latin typeface="Calibri" pitchFamily="34" charset="0"/>
                <a:ea typeface="Calibri" pitchFamily="34" charset="-122"/>
                <a:cs typeface="Calibri" pitchFamily="34" charset="-120"/>
              </a:rPr>
              <a:t>₹295 potentially recoverable</a:t>
            </a:r>
            <a:endParaRPr lang="en-US" sz="900" dirty="0"/>
          </a:p>
        </p:txBody>
      </p:sp>
      <p:sp>
        <p:nvSpPr>
          <p:cNvPr id="29" name="Text 26"/>
          <p:cNvSpPr txBox="1"/>
          <p:nvPr/>
        </p:nvSpPr>
        <p:spPr>
          <a:xfrm>
            <a:off x="10008761" y="4306824"/>
            <a:ext cx="237744" cy="27432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30" name="Shape 27"/>
          <p:cNvSpPr/>
          <p:nvPr/>
        </p:nvSpPr>
        <p:spPr>
          <a:xfrm>
            <a:off x="10228217" y="4160520"/>
            <a:ext cx="1412095" cy="603504"/>
          </a:xfrm>
          <a:prstGeom prst="rect">
            <a:avLst/>
          </a:prstGeom>
          <a:solidFill>
            <a:srgbClr val="F6EDD3"/>
          </a:solidFill>
          <a:ln w="9525">
            <a:solidFill>
              <a:srgbClr val="C9961A"/>
            </a:solidFill>
            <a:prstDash val="solid"/>
          </a:ln>
        </p:spPr>
      </p:sp>
      <p:sp>
        <p:nvSpPr>
          <p:cNvPr id="31" name="Text 28"/>
          <p:cNvSpPr txBox="1"/>
          <p:nvPr/>
        </p:nvSpPr>
        <p:spPr>
          <a:xfrm>
            <a:off x="10301369" y="4187952"/>
            <a:ext cx="1265791" cy="201168"/>
          </a:xfrm>
          <a:prstGeom prst="rect">
            <a:avLst/>
          </a:prstGeom>
          <a:noFill/>
          <a:ln/>
        </p:spPr>
        <p:txBody>
          <a:bodyPr wrap="square" lIns="0" tIns="0" rIns="0" bIns="0" rtlCol="0" anchor="ctr"/>
          <a:lstStyle/>
          <a:p>
            <a:pPr indent="0" marL="0">
              <a:buNone/>
            </a:pPr>
            <a:r>
              <a:rPr lang="en-US" sz="750" b="1" spc="150" kern="0" dirty="0">
                <a:solidFill>
                  <a:srgbClr val="4E5D55"/>
                </a:solidFill>
                <a:latin typeface="Calibri" pitchFamily="34" charset="0"/>
                <a:ea typeface="Calibri" pitchFamily="34" charset="-122"/>
                <a:cs typeface="Calibri" pitchFamily="34" charset="-120"/>
              </a:rPr>
              <a:t>EXPLANATION</a:t>
            </a:r>
            <a:endParaRPr lang="en-US" sz="750" dirty="0"/>
          </a:p>
        </p:txBody>
      </p:sp>
      <p:sp>
        <p:nvSpPr>
          <p:cNvPr id="32" name="Text 29"/>
          <p:cNvSpPr txBox="1"/>
          <p:nvPr/>
        </p:nvSpPr>
        <p:spPr>
          <a:xfrm>
            <a:off x="10301369" y="4379976"/>
            <a:ext cx="1265791" cy="365760"/>
          </a:xfrm>
          <a:prstGeom prst="rect">
            <a:avLst/>
          </a:prstGeom>
          <a:noFill/>
          <a:ln/>
        </p:spPr>
        <p:txBody>
          <a:bodyPr wrap="square" lIns="0" tIns="0" rIns="0" bIns="0" rtlCol="0" anchor="t"/>
          <a:lstStyle/>
          <a:p>
            <a:pPr indent="0" marL="0">
              <a:buNone/>
            </a:pPr>
            <a:r>
              <a:rPr lang="en-US" sz="900" dirty="0">
                <a:solidFill>
                  <a:srgbClr val="18261F"/>
                </a:solidFill>
                <a:latin typeface="Calibri" pitchFamily="34" charset="0"/>
                <a:ea typeface="Calibri" pitchFamily="34" charset="-122"/>
                <a:cs typeface="Calibri" pitchFamily="34" charset="-120"/>
              </a:rPr>
              <a:t>Tamil · guardian · human confirms</a:t>
            </a:r>
            <a:endParaRPr lang="en-US" sz="900" dirty="0"/>
          </a:p>
        </p:txBody>
      </p:sp>
      <p:sp>
        <p:nvSpPr>
          <p:cNvPr id="33" name="Text 30"/>
          <p:cNvSpPr txBox="1"/>
          <p:nvPr/>
        </p:nvSpPr>
        <p:spPr>
          <a:xfrm>
            <a:off x="7315200" y="1691640"/>
            <a:ext cx="1188720" cy="274320"/>
          </a:xfrm>
          <a:prstGeom prst="rect">
            <a:avLst/>
          </a:prstGeom>
          <a:noFill/>
          <a:ln/>
        </p:spPr>
        <p:txBody>
          <a:bodyPr wrap="square" lIns="0" tIns="0" rIns="0" bIns="0" rtlCol="0" anchor="ctr"/>
          <a:lstStyle/>
          <a:p>
            <a:pPr indent="0" marL="0">
              <a:buNone/>
            </a:pPr>
            <a:r>
              <a:rPr lang="en-US" sz="850" b="1" spc="200" kern="0" dirty="0">
                <a:solidFill>
                  <a:srgbClr val="1E6A44"/>
                </a:solidFill>
                <a:latin typeface="Calibri" pitchFamily="34" charset="0"/>
                <a:ea typeface="Calibri" pitchFamily="34" charset="-122"/>
                <a:cs typeface="Calibri" pitchFamily="34" charset="-120"/>
              </a:rPr>
              <a:t>SHE ASKS</a:t>
            </a:r>
            <a:endParaRPr lang="en-US" sz="850" dirty="0"/>
          </a:p>
        </p:txBody>
      </p:sp>
      <p:sp>
        <p:nvSpPr>
          <p:cNvPr id="34" name="Text 31"/>
          <p:cNvSpPr txBox="1"/>
          <p:nvPr/>
        </p:nvSpPr>
        <p:spPr>
          <a:xfrm>
            <a:off x="8549640" y="1673352"/>
            <a:ext cx="3108960" cy="457200"/>
          </a:xfrm>
          <a:prstGeom prst="rect">
            <a:avLst/>
          </a:prstGeom>
          <a:noFill/>
          <a:ln/>
        </p:spPr>
        <p:txBody>
          <a:bodyPr wrap="square" lIns="0" tIns="0" rIns="0" bIns="0" rtlCol="0" anchor="t"/>
          <a:lstStyle/>
          <a:p>
            <a:pPr indent="0" marL="0">
              <a:buNone/>
            </a:pPr>
            <a:r>
              <a:rPr lang="en-US" sz="1050" dirty="0">
                <a:solidFill>
                  <a:srgbClr val="18261F"/>
                </a:solidFill>
                <a:latin typeface="Calibri" pitchFamily="34" charset="0"/>
                <a:ea typeface="Calibri" pitchFamily="34" charset="-122"/>
                <a:cs typeface="Calibri" pitchFamily="34" charset="-120"/>
              </a:rPr>
              <a:t>“Why ₹295?”</a:t>
            </a:r>
            <a:endParaRPr lang="en-US" sz="1050" dirty="0"/>
          </a:p>
        </p:txBody>
      </p:sp>
      <p:sp>
        <p:nvSpPr>
          <p:cNvPr id="35" name="Text 32"/>
          <p:cNvSpPr txBox="1"/>
          <p:nvPr/>
        </p:nvSpPr>
        <p:spPr>
          <a:xfrm>
            <a:off x="7315200" y="2167128"/>
            <a:ext cx="1188720" cy="274320"/>
          </a:xfrm>
          <a:prstGeom prst="rect">
            <a:avLst/>
          </a:prstGeom>
          <a:noFill/>
          <a:ln/>
        </p:spPr>
        <p:txBody>
          <a:bodyPr wrap="square" lIns="0" tIns="0" rIns="0" bIns="0" rtlCol="0" anchor="ctr"/>
          <a:lstStyle/>
          <a:p>
            <a:pPr indent="0" marL="0">
              <a:buNone/>
            </a:pPr>
            <a:r>
              <a:rPr lang="en-US" sz="850" b="1" spc="200" kern="0" dirty="0">
                <a:solidFill>
                  <a:srgbClr val="1E6A44"/>
                </a:solidFill>
                <a:latin typeface="Calibri" pitchFamily="34" charset="0"/>
                <a:ea typeface="Calibri" pitchFamily="34" charset="-122"/>
                <a:cs typeface="Calibri" pitchFamily="34" charset="-120"/>
              </a:rPr>
              <a:t>COUNTER</a:t>
            </a:r>
            <a:endParaRPr lang="en-US" sz="850" dirty="0"/>
          </a:p>
        </p:txBody>
      </p:sp>
      <p:sp>
        <p:nvSpPr>
          <p:cNvPr id="36" name="Text 33"/>
          <p:cNvSpPr txBox="1"/>
          <p:nvPr/>
        </p:nvSpPr>
        <p:spPr>
          <a:xfrm>
            <a:off x="8549640" y="2148840"/>
            <a:ext cx="3108960" cy="457200"/>
          </a:xfrm>
          <a:prstGeom prst="rect">
            <a:avLst/>
          </a:prstGeom>
          <a:noFill/>
          <a:ln/>
        </p:spPr>
        <p:txBody>
          <a:bodyPr wrap="square" lIns="0" tIns="0" rIns="0" bIns="0" rtlCol="0" anchor="t"/>
          <a:lstStyle/>
          <a:p>
            <a:pPr indent="0" marL="0">
              <a:buNone/>
            </a:pPr>
            <a:r>
              <a:rPr lang="en-US" sz="1050" dirty="0">
                <a:solidFill>
                  <a:srgbClr val="18261F"/>
                </a:solidFill>
                <a:latin typeface="Calibri" pitchFamily="34" charset="0"/>
                <a:ea typeface="Calibri" pitchFamily="34" charset="-122"/>
                <a:cs typeface="Calibri" pitchFamily="34" charset="-120"/>
              </a:rPr>
              <a:t>“System charge, ma’am.” She leaves.</a:t>
            </a:r>
            <a:endParaRPr lang="en-US" sz="1050" dirty="0"/>
          </a:p>
        </p:txBody>
      </p:sp>
      <p:sp>
        <p:nvSpPr>
          <p:cNvPr id="37" name="Text 34"/>
          <p:cNvSpPr txBox="1"/>
          <p:nvPr/>
        </p:nvSpPr>
        <p:spPr>
          <a:xfrm>
            <a:off x="7315200" y="2642616"/>
            <a:ext cx="1188720" cy="274320"/>
          </a:xfrm>
          <a:prstGeom prst="rect">
            <a:avLst/>
          </a:prstGeom>
          <a:noFill/>
          <a:ln/>
        </p:spPr>
        <p:txBody>
          <a:bodyPr wrap="square" lIns="0" tIns="0" rIns="0" bIns="0" rtlCol="0" anchor="ctr"/>
          <a:lstStyle/>
          <a:p>
            <a:pPr indent="0" marL="0">
              <a:buNone/>
            </a:pPr>
            <a:r>
              <a:rPr lang="en-US" sz="850" b="1" spc="200" kern="0" dirty="0">
                <a:solidFill>
                  <a:srgbClr val="1E6A44"/>
                </a:solidFill>
                <a:latin typeface="Calibri" pitchFamily="34" charset="0"/>
                <a:ea typeface="Calibri" pitchFamily="34" charset="-122"/>
                <a:cs typeface="Calibri" pitchFamily="34" charset="-120"/>
              </a:rPr>
              <a:t>THE RULE</a:t>
            </a:r>
            <a:endParaRPr lang="en-US" sz="850" dirty="0"/>
          </a:p>
        </p:txBody>
      </p:sp>
      <p:sp>
        <p:nvSpPr>
          <p:cNvPr id="38" name="Text 35"/>
          <p:cNvSpPr txBox="1"/>
          <p:nvPr/>
        </p:nvSpPr>
        <p:spPr>
          <a:xfrm>
            <a:off x="8549640" y="2624328"/>
            <a:ext cx="3108960" cy="457200"/>
          </a:xfrm>
          <a:prstGeom prst="rect">
            <a:avLst/>
          </a:prstGeom>
          <a:noFill/>
          <a:ln/>
        </p:spPr>
        <p:txBody>
          <a:bodyPr wrap="square" lIns="0" tIns="0" rIns="0" bIns="0" rtlCol="0" anchor="t"/>
          <a:lstStyle/>
          <a:p>
            <a:pPr indent="0" marL="0">
              <a:buNone/>
            </a:pPr>
            <a:r>
              <a:rPr lang="en-US" sz="1050" dirty="0">
                <a:solidFill>
                  <a:srgbClr val="18261F"/>
                </a:solidFill>
                <a:latin typeface="Calibri" pitchFamily="34" charset="0"/>
                <a:ea typeface="Calibri" pitchFamily="34" charset="-122"/>
                <a:cs typeface="Calibri" pitchFamily="34" charset="-120"/>
              </a:rPr>
              <a:t>A minimum-balance penalty needs a warning and one month to restore. She got neither.</a:t>
            </a:r>
            <a:endParaRPr lang="en-US" sz="1050" dirty="0"/>
          </a:p>
        </p:txBody>
      </p:sp>
      <p:sp>
        <p:nvSpPr>
          <p:cNvPr id="39" name="Text 36"/>
          <p:cNvSpPr txBox="1"/>
          <p:nvPr/>
        </p:nvSpPr>
        <p:spPr>
          <a:xfrm>
            <a:off x="7315200" y="3118104"/>
            <a:ext cx="1188720" cy="274320"/>
          </a:xfrm>
          <a:prstGeom prst="rect">
            <a:avLst/>
          </a:prstGeom>
          <a:noFill/>
          <a:ln/>
        </p:spPr>
        <p:txBody>
          <a:bodyPr wrap="square" lIns="0" tIns="0" rIns="0" bIns="0" rtlCol="0" anchor="ctr"/>
          <a:lstStyle/>
          <a:p>
            <a:pPr indent="0" marL="0">
              <a:buNone/>
            </a:pPr>
            <a:r>
              <a:rPr lang="en-US" sz="850" b="1" spc="200" kern="0" dirty="0">
                <a:solidFill>
                  <a:srgbClr val="1E6A44"/>
                </a:solidFill>
                <a:latin typeface="Calibri" pitchFamily="34" charset="0"/>
                <a:ea typeface="Calibri" pitchFamily="34" charset="-122"/>
                <a:cs typeface="Calibri" pitchFamily="34" charset="-120"/>
              </a:rPr>
              <a:t>MONTHS LATER</a:t>
            </a:r>
            <a:endParaRPr lang="en-US" sz="850" dirty="0"/>
          </a:p>
        </p:txBody>
      </p:sp>
      <p:sp>
        <p:nvSpPr>
          <p:cNvPr id="40" name="Text 37"/>
          <p:cNvSpPr txBox="1"/>
          <p:nvPr/>
        </p:nvSpPr>
        <p:spPr>
          <a:xfrm>
            <a:off x="8549640" y="3099816"/>
            <a:ext cx="3108960" cy="457200"/>
          </a:xfrm>
          <a:prstGeom prst="rect">
            <a:avLst/>
          </a:prstGeom>
          <a:noFill/>
          <a:ln/>
        </p:spPr>
        <p:txBody>
          <a:bodyPr wrap="square" lIns="0" tIns="0" rIns="0" bIns="0" rtlCol="0" anchor="t"/>
          <a:lstStyle/>
          <a:p>
            <a:pPr indent="0" marL="0">
              <a:buNone/>
            </a:pPr>
            <a:r>
              <a:rPr lang="en-US" sz="1050" dirty="0">
                <a:solidFill>
                  <a:srgbClr val="18261F"/>
                </a:solidFill>
                <a:latin typeface="Calibri" pitchFamily="34" charset="0"/>
                <a:ea typeface="Calibri" pitchFamily="34" charset="-122"/>
                <a:cs typeface="Calibri" pitchFamily="34" charset="-120"/>
              </a:rPr>
              <a:t>Her phone rings, in Tamil: “Amma, unga account-la ₹590 thappa cut aagirukku. Kumar-ku sollirukkom.”</a:t>
            </a:r>
            <a:endParaRPr lang="en-US" sz="1050" dirty="0"/>
          </a:p>
        </p:txBody>
      </p:sp>
      <p:sp>
        <p:nvSpPr>
          <p:cNvPr id="41" name="Text 38"/>
          <p:cNvSpPr txBox="1"/>
          <p:nvPr/>
        </p:nvSpPr>
        <p:spPr>
          <a:xfrm>
            <a:off x="7315200" y="3593592"/>
            <a:ext cx="1188720" cy="274320"/>
          </a:xfrm>
          <a:prstGeom prst="rect">
            <a:avLst/>
          </a:prstGeom>
          <a:noFill/>
          <a:ln/>
        </p:spPr>
        <p:txBody>
          <a:bodyPr wrap="square" lIns="0" tIns="0" rIns="0" bIns="0" rtlCol="0" anchor="ctr"/>
          <a:lstStyle/>
          <a:p>
            <a:pPr indent="0" marL="0">
              <a:buNone/>
            </a:pPr>
            <a:r>
              <a:rPr lang="en-US" sz="850" b="1" spc="200" kern="0" dirty="0">
                <a:solidFill>
                  <a:srgbClr val="1E6A44"/>
                </a:solidFill>
                <a:latin typeface="Calibri" pitchFamily="34" charset="0"/>
                <a:ea typeface="Calibri" pitchFamily="34" charset="-122"/>
                <a:cs typeface="Calibri" pitchFamily="34" charset="-120"/>
              </a:rPr>
              <a:t>HER SON</a:t>
            </a:r>
            <a:endParaRPr lang="en-US" sz="850" dirty="0"/>
          </a:p>
        </p:txBody>
      </p:sp>
      <p:sp>
        <p:nvSpPr>
          <p:cNvPr id="42" name="Text 39"/>
          <p:cNvSpPr txBox="1"/>
          <p:nvPr/>
        </p:nvSpPr>
        <p:spPr>
          <a:xfrm>
            <a:off x="8549640" y="3575304"/>
            <a:ext cx="3108960" cy="457200"/>
          </a:xfrm>
          <a:prstGeom prst="rect">
            <a:avLst/>
          </a:prstGeom>
          <a:noFill/>
          <a:ln/>
        </p:spPr>
        <p:txBody>
          <a:bodyPr wrap="square" lIns="0" tIns="0" rIns="0" bIns="0" rtlCol="0" anchor="t"/>
          <a:lstStyle/>
          <a:p>
            <a:pPr indent="0" marL="0">
              <a:buNone/>
            </a:pPr>
            <a:r>
              <a:rPr lang="en-US" sz="1050" dirty="0">
                <a:solidFill>
                  <a:srgbClr val="18261F"/>
                </a:solidFill>
                <a:latin typeface="Calibri" pitchFamily="34" charset="0"/>
                <a:ea typeface="Calibri" pitchFamily="34" charset="-122"/>
                <a:cs typeface="Calibri" pitchFamily="34" charset="-120"/>
              </a:rPr>
              <a:t>Gets one message: ₹590 potential claim · the RBI rule · evidence ready · one button. Nothing is filed until he confirms.</a:t>
            </a:r>
            <a:endParaRPr lang="en-US" sz="1050" dirty="0"/>
          </a:p>
        </p:txBody>
      </p:sp>
      <p:sp>
        <p:nvSpPr>
          <p:cNvPr id="43" name="Shape 40"/>
          <p:cNvSpPr/>
          <p:nvPr/>
        </p:nvSpPr>
        <p:spPr>
          <a:xfrm>
            <a:off x="548640" y="4919472"/>
            <a:ext cx="11091672" cy="1188720"/>
          </a:xfrm>
          <a:prstGeom prst="rect">
            <a:avLst/>
          </a:prstGeom>
          <a:solidFill>
            <a:srgbClr val="E3EFE7"/>
          </a:solidFill>
          <a:ln w="12700">
            <a:solidFill>
              <a:srgbClr val="E3EFE7"/>
            </a:solidFill>
            <a:prstDash val="solid"/>
          </a:ln>
        </p:spPr>
      </p:sp>
      <p:sp>
        <p:nvSpPr>
          <p:cNvPr id="44" name="Text 41"/>
          <p:cNvSpPr txBox="1"/>
          <p:nvPr/>
        </p:nvSpPr>
        <p:spPr>
          <a:xfrm>
            <a:off x="822960" y="5010912"/>
            <a:ext cx="10543032" cy="457200"/>
          </a:xfrm>
          <a:prstGeom prst="rect">
            <a:avLst/>
          </a:prstGeom>
          <a:noFill/>
          <a:ln/>
        </p:spPr>
        <p:txBody>
          <a:bodyPr wrap="square" lIns="0" tIns="0" rIns="0" bIns="0" rtlCol="0" anchor="ctr"/>
          <a:lstStyle/>
          <a:p>
            <a:pPr indent="0" marL="0">
              <a:buNone/>
            </a:pPr>
            <a:r>
              <a:rPr lang="en-US" sz="1800" b="1" dirty="0">
                <a:solidFill>
                  <a:srgbClr val="1E6A44"/>
                </a:solidFill>
                <a:latin typeface="Cambria" pitchFamily="34" charset="0"/>
                <a:ea typeface="Cambria" pitchFamily="34" charset="-122"/>
                <a:cs typeface="Cambria" pitchFamily="34" charset="-120"/>
              </a:rPr>
              <a:t>People have rights they don’t know they have, and the process to exercise them is too hard.</a:t>
            </a:r>
            <a:endParaRPr lang="en-US" sz="1800" dirty="0"/>
          </a:p>
        </p:txBody>
      </p:sp>
      <p:sp>
        <p:nvSpPr>
          <p:cNvPr id="45" name="Text 42"/>
          <p:cNvSpPr txBox="1"/>
          <p:nvPr/>
        </p:nvSpPr>
        <p:spPr>
          <a:xfrm>
            <a:off x="822960" y="5468112"/>
            <a:ext cx="8138160" cy="594360"/>
          </a:xfrm>
          <a:prstGeom prst="rect">
            <a:avLst/>
          </a:prstGeom>
          <a:noFill/>
          <a:ln/>
        </p:spPr>
        <p:txBody>
          <a:bodyPr wrap="square" lIns="0" tIns="0" rIns="0" bIns="0" rtlCol="0" anchor="t"/>
          <a:lstStyle/>
          <a:p>
            <a:pPr indent="0" marL="0">
              <a:buNone/>
            </a:pPr>
            <a:r>
              <a:rPr lang="en-US" sz="1100" dirty="0">
                <a:solidFill>
                  <a:srgbClr val="18261F"/>
                </a:solidFill>
                <a:latin typeface="Calibri" pitchFamily="34" charset="0"/>
                <a:ea typeface="Calibri" pitchFamily="34" charset="-122"/>
                <a:cs typeface="Calibri" pitchFamily="34" charset="-120"/>
              </a:rPr>
              <a:t>The rules are hidden knowledge. The statement is hidden evidence. The complaint is a process nobody finishes. Vasool Raja identifies the potential claim and prepares the recovery workflow — an actual financial event checked against the rule that applied to it. Nothing is filed until human confirmation.</a:t>
            </a:r>
            <a:endParaRPr lang="en-US" sz="1100" dirty="0"/>
          </a:p>
        </p:txBody>
      </p:sp>
      <p:sp>
        <p:nvSpPr>
          <p:cNvPr id="46" name="Shape 43"/>
          <p:cNvSpPr/>
          <p:nvPr/>
        </p:nvSpPr>
        <p:spPr>
          <a:xfrm>
            <a:off x="8915400" y="5468112"/>
            <a:ext cx="2724912" cy="548640"/>
          </a:xfrm>
          <a:prstGeom prst="rect">
            <a:avLst/>
          </a:prstGeom>
          <a:solidFill>
            <a:srgbClr val="F6EDD3"/>
          </a:solidFill>
          <a:ln w="9525">
            <a:solidFill>
              <a:srgbClr val="C9961A"/>
            </a:solidFill>
            <a:prstDash val="solid"/>
          </a:ln>
        </p:spPr>
      </p:sp>
      <p:sp>
        <p:nvSpPr>
          <p:cNvPr id="47" name="Text 44"/>
          <p:cNvSpPr txBox="1"/>
          <p:nvPr/>
        </p:nvSpPr>
        <p:spPr>
          <a:xfrm>
            <a:off x="8988552" y="5468112"/>
            <a:ext cx="2606040" cy="548640"/>
          </a:xfrm>
          <a:prstGeom prst="rect">
            <a:avLst/>
          </a:prstGeom>
          <a:noFill/>
          <a:ln/>
        </p:spPr>
        <p:txBody>
          <a:bodyPr wrap="square" lIns="0" tIns="0" rIns="0" bIns="0" rtlCol="0" anchor="ctr"/>
          <a:lstStyle/>
          <a:p>
            <a:pPr indent="0" marL="0">
              <a:buNone/>
            </a:pPr>
            <a:r>
              <a:rPr lang="en-US" sz="950" b="1" dirty="0">
                <a:solidFill>
                  <a:srgbClr val="7A5A0E"/>
                </a:solidFill>
                <a:latin typeface="Calibri" pitchFamily="34" charset="0"/>
                <a:ea typeface="Calibri" pitchFamily="34" charset="-122"/>
                <a:cs typeface="Calibri" pitchFamily="34" charset="-120"/>
              </a:rPr>
              <a:t>Tamil voice + guardian = accessibility layer — same regulatory engine underneath.</a:t>
            </a:r>
            <a:endParaRPr lang="en-US" sz="950" dirty="0"/>
          </a:p>
        </p:txBody>
      </p:sp>
      <p:sp>
        <p:nvSpPr>
          <p:cNvPr id="48" name="Text 45"/>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4E5D55"/>
                </a:solidFill>
                <a:latin typeface="Calibri" pitchFamily="34" charset="0"/>
                <a:ea typeface="Calibri" pitchFamily="34" charset="-122"/>
                <a:cs typeface="Calibri" pitchFamily="34" charset="-120"/>
              </a:rPr>
              <a:t>Vasool Raja  ·  HackVerse 2.0  ·  Digital Twins &amp; FinTech</a:t>
            </a:r>
            <a:endParaRPr lang="en-US" sz="900" dirty="0"/>
          </a:p>
        </p:txBody>
      </p:sp>
      <p:sp>
        <p:nvSpPr>
          <p:cNvPr id="49" name="Text 46"/>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900" dirty="0">
                <a:solidFill>
                  <a:srgbClr val="4E5D5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3657600" cy="274320"/>
          </a:xfrm>
          <a:prstGeom prst="rect">
            <a:avLst/>
          </a:prstGeom>
          <a:noFill/>
          <a:ln/>
        </p:spPr>
        <p:txBody>
          <a:bodyPr wrap="square" lIns="0" tIns="0" rIns="0" bIns="0" rtlCol="0" anchor="ctr"/>
          <a:lstStyle/>
          <a:p>
            <a:pPr indent="0" marL="0">
              <a:buNone/>
            </a:pPr>
            <a:r>
              <a:rPr lang="en-US" sz="1000" b="1" spc="300" kern="0" dirty="0">
                <a:solidFill>
                  <a:srgbClr val="1E6A44"/>
                </a:solidFill>
                <a:latin typeface="Calibri" pitchFamily="34" charset="0"/>
                <a:ea typeface="Calibri" pitchFamily="34" charset="-122"/>
                <a:cs typeface="Calibri" pitchFamily="34" charset="-120"/>
              </a:rPr>
              <a:t>IMPACT · PROBLEM SCALE</a:t>
            </a:r>
            <a:endParaRPr lang="en-US" sz="10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3400" b="1" dirty="0">
                <a:solidFill>
                  <a:srgbClr val="18261F"/>
                </a:solidFill>
                <a:latin typeface="Cambria" pitchFamily="34" charset="0"/>
                <a:ea typeface="Cambria" pitchFamily="34" charset="-122"/>
                <a:cs typeface="Cambria" pitchFamily="34" charset="-120"/>
              </a:rPr>
              <a:t>₹7,086 crore in penalties last year. 13.34 lakh complaints.</a:t>
            </a:r>
            <a:endParaRPr lang="en-US" sz="3400" dirty="0"/>
          </a:p>
        </p:txBody>
      </p:sp>
      <p:sp>
        <p:nvSpPr>
          <p:cNvPr id="4" name="Text 2"/>
          <p:cNvSpPr txBox="1"/>
          <p:nvPr/>
        </p:nvSpPr>
        <p:spPr>
          <a:xfrm>
            <a:off x="548640" y="1417320"/>
            <a:ext cx="11091672" cy="365760"/>
          </a:xfrm>
          <a:prstGeom prst="rect">
            <a:avLst/>
          </a:prstGeom>
          <a:noFill/>
          <a:ln/>
        </p:spPr>
        <p:txBody>
          <a:bodyPr wrap="square" lIns="0" tIns="0" rIns="0" bIns="0" rtlCol="0" anchor="ctr"/>
          <a:lstStyle/>
          <a:p>
            <a:pPr indent="0" marL="0">
              <a:buNone/>
            </a:pPr>
            <a:r>
              <a:rPr lang="en-US" sz="1100" i="1" dirty="0">
                <a:solidFill>
                  <a:srgbClr val="4E5D55"/>
                </a:solidFill>
                <a:latin typeface="Calibri" pitchFamily="34" charset="0"/>
                <a:ea typeface="Calibri" pitchFamily="34" charset="-122"/>
                <a:cs typeface="Calibri" pitchFamily="34" charset="-120"/>
              </a:rPr>
              <a:t>Regulatory-rule violations happen at massive scale, while customers must currently discover and pursue them manually. These are problem-scale figures from public sources — not Vasool Raja results, and not amounts Vasool Raja claims to recover.</a:t>
            </a:r>
            <a:endParaRPr lang="en-US" sz="1100" dirty="0"/>
          </a:p>
        </p:txBody>
      </p:sp>
      <p:sp>
        <p:nvSpPr>
          <p:cNvPr id="5" name="Shape 3"/>
          <p:cNvSpPr/>
          <p:nvPr/>
        </p:nvSpPr>
        <p:spPr>
          <a:xfrm>
            <a:off x="548640" y="1874520"/>
            <a:ext cx="5408676" cy="1737360"/>
          </a:xfrm>
          <a:prstGeom prst="rect">
            <a:avLst/>
          </a:prstGeom>
          <a:solidFill>
            <a:srgbClr val="F5F7F2"/>
          </a:solidFill>
          <a:ln w="9525">
            <a:solidFill>
              <a:srgbClr val="D7DDD6"/>
            </a:solidFill>
            <a:prstDash val="solid"/>
          </a:ln>
        </p:spPr>
      </p:sp>
      <p:sp>
        <p:nvSpPr>
          <p:cNvPr id="6" name="Text 4"/>
          <p:cNvSpPr txBox="1"/>
          <p:nvPr/>
        </p:nvSpPr>
        <p:spPr>
          <a:xfrm>
            <a:off x="822960" y="2011680"/>
            <a:ext cx="4860036" cy="731520"/>
          </a:xfrm>
          <a:prstGeom prst="rect">
            <a:avLst/>
          </a:prstGeom>
          <a:noFill/>
          <a:ln/>
        </p:spPr>
        <p:txBody>
          <a:bodyPr wrap="square" lIns="0" tIns="0" rIns="0" bIns="0" rtlCol="0" anchor="ctr"/>
          <a:lstStyle/>
          <a:p>
            <a:pPr indent="0" marL="0">
              <a:buNone/>
            </a:pPr>
            <a:r>
              <a:rPr lang="en-US" sz="4400" b="1" dirty="0">
                <a:solidFill>
                  <a:srgbClr val="1E6A44"/>
                </a:solidFill>
                <a:latin typeface="Cambria" pitchFamily="34" charset="0"/>
                <a:ea typeface="Cambria" pitchFamily="34" charset="-122"/>
                <a:cs typeface="Cambria" pitchFamily="34" charset="-120"/>
              </a:rPr>
              <a:t>₹7,086 cr</a:t>
            </a:r>
            <a:endParaRPr lang="en-US" sz="4400" dirty="0"/>
          </a:p>
        </p:txBody>
      </p:sp>
      <p:sp>
        <p:nvSpPr>
          <p:cNvPr id="7" name="Text 5"/>
          <p:cNvSpPr txBox="1"/>
          <p:nvPr/>
        </p:nvSpPr>
        <p:spPr>
          <a:xfrm>
            <a:off x="822960" y="2743200"/>
            <a:ext cx="4860036" cy="457200"/>
          </a:xfrm>
          <a:prstGeom prst="rect">
            <a:avLst/>
          </a:prstGeom>
          <a:noFill/>
          <a:ln/>
        </p:spPr>
        <p:txBody>
          <a:bodyPr wrap="square" lIns="0" tIns="0" rIns="0" bIns="0" rtlCol="0" anchor="t"/>
          <a:lstStyle/>
          <a:p>
            <a:pPr indent="0" marL="0">
              <a:buNone/>
            </a:pPr>
            <a:r>
              <a:rPr lang="en-US" sz="1250" dirty="0">
                <a:solidFill>
                  <a:srgbClr val="18261F"/>
                </a:solidFill>
                <a:latin typeface="Calibri" pitchFamily="34" charset="0"/>
                <a:ea typeface="Calibri" pitchFamily="34" charset="-122"/>
                <a:cs typeface="Calibri" pitchFamily="34" charset="-120"/>
              </a:rPr>
              <a:t>minimum-balance penalties collected in FY26 alone</a:t>
            </a:r>
            <a:endParaRPr lang="en-US" sz="1250" dirty="0"/>
          </a:p>
        </p:txBody>
      </p:sp>
      <p:sp>
        <p:nvSpPr>
          <p:cNvPr id="8" name="Text 6"/>
          <p:cNvSpPr txBox="1"/>
          <p:nvPr/>
        </p:nvSpPr>
        <p:spPr>
          <a:xfrm>
            <a:off x="822960" y="3200400"/>
            <a:ext cx="4860036" cy="365760"/>
          </a:xfrm>
          <a:prstGeom prst="rect">
            <a:avLst/>
          </a:prstGeom>
          <a:noFill/>
          <a:ln/>
        </p:spPr>
        <p:txBody>
          <a:bodyPr wrap="square" lIns="0" tIns="0" rIns="0" bIns="0" rtlCol="0" anchor="t"/>
          <a:lstStyle/>
          <a:p>
            <a:pPr indent="0" marL="0">
              <a:buNone/>
            </a:pPr>
            <a:r>
              <a:rPr lang="en-US" sz="900" dirty="0">
                <a:solidFill>
                  <a:srgbClr val="4E5D55"/>
                </a:solidFill>
                <a:latin typeface="Calibri" pitchFamily="34" charset="0"/>
                <a:ea typeface="Calibri" pitchFamily="34" charset="-122"/>
                <a:cs typeface="Calibri" pitchFamily="34" charset="-120"/>
              </a:rPr>
              <a:t>SOURCE  Rajya Sabha reply, 28 Jul 2026 — HDFC ₹1,798 cr, Axis ₹1,081 cr</a:t>
            </a:r>
            <a:endParaRPr lang="en-US" sz="900" dirty="0"/>
          </a:p>
        </p:txBody>
      </p:sp>
      <p:sp>
        <p:nvSpPr>
          <p:cNvPr id="9" name="Shape 7"/>
          <p:cNvSpPr/>
          <p:nvPr/>
        </p:nvSpPr>
        <p:spPr>
          <a:xfrm>
            <a:off x="6231636" y="1874520"/>
            <a:ext cx="5408676" cy="1737360"/>
          </a:xfrm>
          <a:prstGeom prst="rect">
            <a:avLst/>
          </a:prstGeom>
          <a:solidFill>
            <a:srgbClr val="F5F7F2"/>
          </a:solidFill>
          <a:ln w="9525">
            <a:solidFill>
              <a:srgbClr val="D7DDD6"/>
            </a:solidFill>
            <a:prstDash val="solid"/>
          </a:ln>
        </p:spPr>
      </p:sp>
      <p:sp>
        <p:nvSpPr>
          <p:cNvPr id="10" name="Text 8"/>
          <p:cNvSpPr txBox="1"/>
          <p:nvPr/>
        </p:nvSpPr>
        <p:spPr>
          <a:xfrm>
            <a:off x="6505956" y="2011680"/>
            <a:ext cx="4860036" cy="731520"/>
          </a:xfrm>
          <a:prstGeom prst="rect">
            <a:avLst/>
          </a:prstGeom>
          <a:noFill/>
          <a:ln/>
        </p:spPr>
        <p:txBody>
          <a:bodyPr wrap="square" lIns="0" tIns="0" rIns="0" bIns="0" rtlCol="0" anchor="ctr"/>
          <a:lstStyle/>
          <a:p>
            <a:pPr indent="0" marL="0">
              <a:buNone/>
            </a:pPr>
            <a:r>
              <a:rPr lang="en-US" sz="4400" b="1" dirty="0">
                <a:solidFill>
                  <a:srgbClr val="1E6A44"/>
                </a:solidFill>
                <a:latin typeface="Cambria" pitchFamily="34" charset="0"/>
                <a:ea typeface="Cambria" pitchFamily="34" charset="-122"/>
                <a:cs typeface="Cambria" pitchFamily="34" charset="-120"/>
              </a:rPr>
              <a:t>₹35,588 cr</a:t>
            </a:r>
            <a:endParaRPr lang="en-US" sz="4400" dirty="0"/>
          </a:p>
        </p:txBody>
      </p:sp>
      <p:sp>
        <p:nvSpPr>
          <p:cNvPr id="11" name="Text 9"/>
          <p:cNvSpPr txBox="1"/>
          <p:nvPr/>
        </p:nvSpPr>
        <p:spPr>
          <a:xfrm>
            <a:off x="6505956" y="2743200"/>
            <a:ext cx="4860036" cy="457200"/>
          </a:xfrm>
          <a:prstGeom prst="rect">
            <a:avLst/>
          </a:prstGeom>
          <a:noFill/>
          <a:ln/>
        </p:spPr>
        <p:txBody>
          <a:bodyPr wrap="square" lIns="0" tIns="0" rIns="0" bIns="0" rtlCol="0" anchor="t"/>
          <a:lstStyle/>
          <a:p>
            <a:pPr indent="0" marL="0">
              <a:buNone/>
            </a:pPr>
            <a:r>
              <a:rPr lang="en-US" sz="1250" dirty="0">
                <a:solidFill>
                  <a:srgbClr val="18261F"/>
                </a:solidFill>
                <a:latin typeface="Calibri" pitchFamily="34" charset="0"/>
                <a:ea typeface="Calibri" pitchFamily="34" charset="-122"/>
                <a:cs typeface="Calibri" pitchFamily="34" charset="-120"/>
              </a:rPr>
              <a:t>minimum-balance, ATM and SMS charges, FY18–FY23</a:t>
            </a:r>
            <a:endParaRPr lang="en-US" sz="1250" dirty="0"/>
          </a:p>
        </p:txBody>
      </p:sp>
      <p:sp>
        <p:nvSpPr>
          <p:cNvPr id="12" name="Text 10"/>
          <p:cNvSpPr txBox="1"/>
          <p:nvPr/>
        </p:nvSpPr>
        <p:spPr>
          <a:xfrm>
            <a:off x="6505956" y="3200400"/>
            <a:ext cx="4860036" cy="365760"/>
          </a:xfrm>
          <a:prstGeom prst="rect">
            <a:avLst/>
          </a:prstGeom>
          <a:noFill/>
          <a:ln/>
        </p:spPr>
        <p:txBody>
          <a:bodyPr wrap="square" lIns="0" tIns="0" rIns="0" bIns="0" rtlCol="0" anchor="t"/>
          <a:lstStyle/>
          <a:p>
            <a:pPr indent="0" marL="0">
              <a:buNone/>
            </a:pPr>
            <a:r>
              <a:rPr lang="en-US" sz="900" dirty="0">
                <a:solidFill>
                  <a:srgbClr val="4E5D55"/>
                </a:solidFill>
                <a:latin typeface="Calibri" pitchFamily="34" charset="0"/>
                <a:ea typeface="Calibri" pitchFamily="34" charset="-122"/>
                <a:cs typeface="Calibri" pitchFamily="34" charset="-120"/>
              </a:rPr>
              <a:t>SOURCE  Rajya Sabha reply, 8 Aug 2023</a:t>
            </a:r>
            <a:endParaRPr lang="en-US" sz="900" dirty="0"/>
          </a:p>
        </p:txBody>
      </p:sp>
      <p:sp>
        <p:nvSpPr>
          <p:cNvPr id="13" name="Shape 11"/>
          <p:cNvSpPr/>
          <p:nvPr/>
        </p:nvSpPr>
        <p:spPr>
          <a:xfrm>
            <a:off x="548640" y="3840480"/>
            <a:ext cx="5408676" cy="1737360"/>
          </a:xfrm>
          <a:prstGeom prst="rect">
            <a:avLst/>
          </a:prstGeom>
          <a:solidFill>
            <a:srgbClr val="F5F7F2"/>
          </a:solidFill>
          <a:ln w="9525">
            <a:solidFill>
              <a:srgbClr val="D7DDD6"/>
            </a:solidFill>
            <a:prstDash val="solid"/>
          </a:ln>
        </p:spPr>
      </p:sp>
      <p:sp>
        <p:nvSpPr>
          <p:cNvPr id="14" name="Text 12"/>
          <p:cNvSpPr txBox="1"/>
          <p:nvPr/>
        </p:nvSpPr>
        <p:spPr>
          <a:xfrm>
            <a:off x="822960" y="3977640"/>
            <a:ext cx="4860036" cy="731520"/>
          </a:xfrm>
          <a:prstGeom prst="rect">
            <a:avLst/>
          </a:prstGeom>
          <a:noFill/>
          <a:ln/>
        </p:spPr>
        <p:txBody>
          <a:bodyPr wrap="square" lIns="0" tIns="0" rIns="0" bIns="0" rtlCol="0" anchor="ctr"/>
          <a:lstStyle/>
          <a:p>
            <a:pPr indent="0" marL="0">
              <a:buNone/>
            </a:pPr>
            <a:r>
              <a:rPr lang="en-US" sz="4400" b="1" dirty="0">
                <a:solidFill>
                  <a:srgbClr val="1E6A44"/>
                </a:solidFill>
                <a:latin typeface="Cambria" pitchFamily="34" charset="0"/>
                <a:ea typeface="Cambria" pitchFamily="34" charset="-122"/>
                <a:cs typeface="Cambria" pitchFamily="34" charset="-120"/>
              </a:rPr>
              <a:t>13.34 lakh</a:t>
            </a:r>
            <a:endParaRPr lang="en-US" sz="4400" dirty="0"/>
          </a:p>
        </p:txBody>
      </p:sp>
      <p:sp>
        <p:nvSpPr>
          <p:cNvPr id="15" name="Text 13"/>
          <p:cNvSpPr txBox="1"/>
          <p:nvPr/>
        </p:nvSpPr>
        <p:spPr>
          <a:xfrm>
            <a:off x="822960" y="4709160"/>
            <a:ext cx="4860036" cy="457200"/>
          </a:xfrm>
          <a:prstGeom prst="rect">
            <a:avLst/>
          </a:prstGeom>
          <a:noFill/>
          <a:ln/>
        </p:spPr>
        <p:txBody>
          <a:bodyPr wrap="square" lIns="0" tIns="0" rIns="0" bIns="0" rtlCol="0" anchor="t"/>
          <a:lstStyle/>
          <a:p>
            <a:pPr indent="0" marL="0">
              <a:buNone/>
            </a:pPr>
            <a:r>
              <a:rPr lang="en-US" sz="1250" dirty="0">
                <a:solidFill>
                  <a:srgbClr val="18261F"/>
                </a:solidFill>
                <a:latin typeface="Calibri" pitchFamily="34" charset="0"/>
                <a:ea typeface="Calibri" pitchFamily="34" charset="-122"/>
                <a:cs typeface="Calibri" pitchFamily="34" charset="-120"/>
              </a:rPr>
              <a:t>complaints to the RBI Ombudsman in FY25</a:t>
            </a:r>
            <a:endParaRPr lang="en-US" sz="1250" dirty="0"/>
          </a:p>
        </p:txBody>
      </p:sp>
      <p:sp>
        <p:nvSpPr>
          <p:cNvPr id="16" name="Text 14"/>
          <p:cNvSpPr txBox="1"/>
          <p:nvPr/>
        </p:nvSpPr>
        <p:spPr>
          <a:xfrm>
            <a:off x="822960" y="5166360"/>
            <a:ext cx="4860036" cy="365760"/>
          </a:xfrm>
          <a:prstGeom prst="rect">
            <a:avLst/>
          </a:prstGeom>
          <a:noFill/>
          <a:ln/>
        </p:spPr>
        <p:txBody>
          <a:bodyPr wrap="square" lIns="0" tIns="0" rIns="0" bIns="0" rtlCol="0" anchor="t"/>
          <a:lstStyle/>
          <a:p>
            <a:pPr indent="0" marL="0">
              <a:buNone/>
            </a:pPr>
            <a:r>
              <a:rPr lang="en-US" sz="900" dirty="0">
                <a:solidFill>
                  <a:srgbClr val="4E5D55"/>
                </a:solidFill>
                <a:latin typeface="Calibri" pitchFamily="34" charset="0"/>
                <a:ea typeface="Calibri" pitchFamily="34" charset="-122"/>
                <a:cs typeface="Calibri" pitchFamily="34" charset="-120"/>
              </a:rPr>
              <a:t>SOURCE  RBI Ombudsman Scheme annual report 2024–25</a:t>
            </a:r>
            <a:endParaRPr lang="en-US" sz="900" dirty="0"/>
          </a:p>
        </p:txBody>
      </p:sp>
      <p:sp>
        <p:nvSpPr>
          <p:cNvPr id="17" name="Shape 15"/>
          <p:cNvSpPr/>
          <p:nvPr/>
        </p:nvSpPr>
        <p:spPr>
          <a:xfrm>
            <a:off x="6231636" y="3840480"/>
            <a:ext cx="5408676" cy="1737360"/>
          </a:xfrm>
          <a:prstGeom prst="rect">
            <a:avLst/>
          </a:prstGeom>
          <a:solidFill>
            <a:srgbClr val="F5F7F2"/>
          </a:solidFill>
          <a:ln w="9525">
            <a:solidFill>
              <a:srgbClr val="D7DDD6"/>
            </a:solidFill>
            <a:prstDash val="solid"/>
          </a:ln>
        </p:spPr>
      </p:sp>
      <p:sp>
        <p:nvSpPr>
          <p:cNvPr id="18" name="Text 16"/>
          <p:cNvSpPr txBox="1"/>
          <p:nvPr/>
        </p:nvSpPr>
        <p:spPr>
          <a:xfrm>
            <a:off x="6505956" y="3977640"/>
            <a:ext cx="4860036" cy="731520"/>
          </a:xfrm>
          <a:prstGeom prst="rect">
            <a:avLst/>
          </a:prstGeom>
          <a:noFill/>
          <a:ln/>
        </p:spPr>
        <p:txBody>
          <a:bodyPr wrap="square" lIns="0" tIns="0" rIns="0" bIns="0" rtlCol="0" anchor="ctr"/>
          <a:lstStyle/>
          <a:p>
            <a:pPr indent="0" marL="0">
              <a:buNone/>
            </a:pPr>
            <a:r>
              <a:rPr lang="en-US" sz="4400" b="1" dirty="0">
                <a:solidFill>
                  <a:srgbClr val="1E6A44"/>
                </a:solidFill>
                <a:latin typeface="Cambria" pitchFamily="34" charset="0"/>
                <a:ea typeface="Cambria" pitchFamily="34" charset="-122"/>
                <a:cs typeface="Cambria" pitchFamily="34" charset="-120"/>
              </a:rPr>
              <a:t>₹59,600</a:t>
            </a:r>
            <a:endParaRPr lang="en-US" sz="4400" dirty="0"/>
          </a:p>
        </p:txBody>
      </p:sp>
      <p:sp>
        <p:nvSpPr>
          <p:cNvPr id="19" name="Text 17"/>
          <p:cNvSpPr txBox="1"/>
          <p:nvPr/>
        </p:nvSpPr>
        <p:spPr>
          <a:xfrm>
            <a:off x="6505956" y="4709160"/>
            <a:ext cx="4860036" cy="457200"/>
          </a:xfrm>
          <a:prstGeom prst="rect">
            <a:avLst/>
          </a:prstGeom>
          <a:noFill/>
          <a:ln/>
        </p:spPr>
        <p:txBody>
          <a:bodyPr wrap="square" lIns="0" tIns="0" rIns="0" bIns="0" rtlCol="0" anchor="t"/>
          <a:lstStyle/>
          <a:p>
            <a:pPr indent="0" marL="0">
              <a:buNone/>
            </a:pPr>
            <a:r>
              <a:rPr lang="en-US" sz="1250" dirty="0">
                <a:solidFill>
                  <a:srgbClr val="18261F"/>
                </a:solidFill>
                <a:latin typeface="Calibri" pitchFamily="34" charset="0"/>
                <a:ea typeface="Calibri" pitchFamily="34" charset="-122"/>
                <a:cs typeface="Calibri" pitchFamily="34" charset="-120"/>
              </a:rPr>
              <a:t>external documented case: awarded on a ₹10,000 ATM failure — ₹100/day for the 296 days until reversal, plus costs</a:t>
            </a:r>
            <a:endParaRPr lang="en-US" sz="1250" dirty="0"/>
          </a:p>
        </p:txBody>
      </p:sp>
      <p:sp>
        <p:nvSpPr>
          <p:cNvPr id="20" name="Text 18"/>
          <p:cNvSpPr txBox="1"/>
          <p:nvPr/>
        </p:nvSpPr>
        <p:spPr>
          <a:xfrm>
            <a:off x="6505956" y="5166360"/>
            <a:ext cx="4860036" cy="365760"/>
          </a:xfrm>
          <a:prstGeom prst="rect">
            <a:avLst/>
          </a:prstGeom>
          <a:noFill/>
          <a:ln/>
        </p:spPr>
        <p:txBody>
          <a:bodyPr wrap="square" lIns="0" tIns="0" rIns="0" bIns="0" rtlCol="0" anchor="t"/>
          <a:lstStyle/>
          <a:p>
            <a:pPr indent="0" marL="0">
              <a:buNone/>
            </a:pPr>
            <a:r>
              <a:rPr lang="en-US" sz="900" dirty="0">
                <a:solidFill>
                  <a:srgbClr val="4E5D55"/>
                </a:solidFill>
                <a:latin typeface="Calibri" pitchFamily="34" charset="0"/>
                <a:ea typeface="Calibri" pitchFamily="34" charset="-122"/>
                <a:cs typeface="Calibri" pitchFamily="34" charset="-120"/>
              </a:rPr>
              <a:t>SOURCE  Delhi consumer commission, 27 Aug 2026 (ANI) — the customer litigated for four years; not a Vasool Raja recovery</a:t>
            </a:r>
            <a:endParaRPr lang="en-US" sz="900" dirty="0"/>
          </a:p>
        </p:txBody>
      </p:sp>
      <p:sp>
        <p:nvSpPr>
          <p:cNvPr id="21" name="Text 19"/>
          <p:cNvSpPr txBox="1"/>
          <p:nvPr/>
        </p:nvSpPr>
        <p:spPr>
          <a:xfrm>
            <a:off x="548640" y="5806440"/>
            <a:ext cx="11091672" cy="411480"/>
          </a:xfrm>
          <a:prstGeom prst="rect">
            <a:avLst/>
          </a:prstGeom>
          <a:noFill/>
          <a:ln/>
        </p:spPr>
        <p:txBody>
          <a:bodyPr wrap="square" lIns="0" tIns="0" rIns="0" bIns="0" rtlCol="0" anchor="ctr"/>
          <a:lstStyle/>
          <a:p>
            <a:pPr indent="0" marL="0">
              <a:buNone/>
            </a:pPr>
            <a:r>
              <a:rPr lang="en-US" sz="1150" i="1" dirty="0">
                <a:solidFill>
                  <a:srgbClr val="4E5D55"/>
                </a:solidFill>
                <a:latin typeface="Calibri" pitchFamily="34" charset="0"/>
                <a:ea typeface="Calibri" pitchFamily="34" charset="-122"/>
                <a:cs typeface="Calibri" pitchFamily="34" charset="-120"/>
              </a:rPr>
              <a:t>The customer in the ₹59,600 case got what RBI says should have been credited automatically — only because he litigated. Every UPI user in India is exposed to the same rules: 24.51 billion transactions a month (NPCI, Aug 2026).</a:t>
            </a:r>
            <a:endParaRPr lang="en-US" sz="1150" dirty="0"/>
          </a:p>
        </p:txBody>
      </p:sp>
      <p:sp>
        <p:nvSpPr>
          <p:cNvPr id="22" name="Text 20"/>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4E5D55"/>
                </a:solidFill>
                <a:latin typeface="Calibri" pitchFamily="34" charset="0"/>
                <a:ea typeface="Calibri" pitchFamily="34" charset="-122"/>
                <a:cs typeface="Calibri" pitchFamily="34" charset="-120"/>
              </a:rPr>
              <a:t>Vasool Raja  ·  HackVerse 2.0  ·  Digital Twins &amp; FinTech</a:t>
            </a:r>
            <a:endParaRPr lang="en-US" sz="900" dirty="0"/>
          </a:p>
        </p:txBody>
      </p:sp>
      <p:sp>
        <p:nvSpPr>
          <p:cNvPr id="23" name="Text 21"/>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900" dirty="0">
                <a:solidFill>
                  <a:srgbClr val="4E5D5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3657600" cy="274320"/>
          </a:xfrm>
          <a:prstGeom prst="rect">
            <a:avLst/>
          </a:prstGeom>
          <a:noFill/>
          <a:ln/>
        </p:spPr>
        <p:txBody>
          <a:bodyPr wrap="square" lIns="0" tIns="0" rIns="0" bIns="0" rtlCol="0" anchor="ctr"/>
          <a:lstStyle/>
          <a:p>
            <a:pPr indent="0" marL="0">
              <a:buNone/>
            </a:pPr>
            <a:r>
              <a:rPr lang="en-US" sz="1000" b="1" spc="300" kern="0" dirty="0">
                <a:solidFill>
                  <a:srgbClr val="1E6A44"/>
                </a:solidFill>
                <a:latin typeface="Calibri" pitchFamily="34" charset="0"/>
                <a:ea typeface="Calibri" pitchFamily="34" charset="-122"/>
                <a:cs typeface="Calibri" pitchFamily="34" charset="-120"/>
              </a:rPr>
              <a:t>INNOVATION</a:t>
            </a:r>
            <a:endParaRPr lang="en-US" sz="10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3400" b="1" dirty="0">
                <a:solidFill>
                  <a:srgbClr val="18261F"/>
                </a:solidFill>
                <a:latin typeface="Cambria" pitchFamily="34" charset="0"/>
                <a:ea typeface="Cambria" pitchFamily="34" charset="-122"/>
                <a:cs typeface="Cambria" pitchFamily="34" charset="-120"/>
              </a:rPr>
              <a:t>Existing solutions we evaluated each cover one step.</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377440"/>
                <a:gridCol w="1737360"/>
                <a:gridCol w="1783080"/>
                <a:gridCol w="1783080"/>
                <a:gridCol w="1783080"/>
                <a:gridCol w="1627632"/>
              </a:tblGrid>
              <a:tr h="603504">
                <a:tc>
                  <a:txBody>
                    <a:bodyPr/>
                    <a:lstStyle/>
                    <a:p>
                      <a:pPr indent="0" marL="0">
                        <a:buNone/>
                      </a:pPr>
                      <a:endParaRPr lang="en-US" sz="12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1E6A4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Finds the problem for you</a:t>
                      </a:r>
                      <a:endParaRPr lang="en-US" sz="12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1E6A4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Computes what RBI says you’re owed</a:t>
                      </a:r>
                      <a:endParaRPr lang="en-US" sz="12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1E6A4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Prepares evidence + complaint</a:t>
                      </a:r>
                      <a:endParaRPr lang="en-US" sz="12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1E6A4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Runs the 30-day clock, escalates</a:t>
                      </a:r>
                      <a:endParaRPr lang="en-US" sz="12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1E6A44"/>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Tamil, voice, family helper</a:t>
                      </a:r>
                      <a:endParaRPr lang="en-US" sz="12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1E6A44"/>
                    </a:solidFill>
                  </a:tcPr>
                </a:tc>
              </a:tr>
              <a:tr h="548640">
                <a:tc>
                  <a:txBody>
                    <a:bodyPr/>
                    <a:lstStyle/>
                    <a:p>
                      <a:pPr indent="0" marL="0">
                        <a:buNone/>
                      </a:pPr>
                      <a:r>
                        <a:rPr lang="en-US" sz="1150" dirty="0">
                          <a:solidFill>
                            <a:srgbClr val="18261F"/>
                          </a:solidFill>
                          <a:latin typeface="Calibri" pitchFamily="34" charset="0"/>
                          <a:ea typeface="Calibri" pitchFamily="34" charset="-122"/>
                          <a:cs typeface="Calibri" pitchFamily="34" charset="-120"/>
                        </a:rPr>
                        <a:t>RBI CMS portal</a:t>
                      </a:r>
                      <a:endParaRPr lang="en-US" sz="1150" dirty="0">
                        <a:latin typeface="Calibri" charset="0"/>
                        <a:ea typeface="Calibri" charset="0"/>
                        <a:cs typeface="Calibri" charset="0"/>
                      </a:endParaRPr>
                    </a:p>
                    <a:p>
                      <a:pPr indent="0" marL="0">
                        <a:buNone/>
                      </a:pPr>
                      <a:r>
                        <a:rPr lang="en-US" sz="1150" dirty="0">
                          <a:solidFill>
                            <a:srgbClr val="18261F"/>
                          </a:solidFill>
                          <a:latin typeface="Calibri" pitchFamily="34" charset="0"/>
                          <a:ea typeface="Calibri" pitchFamily="34" charset="-122"/>
                          <a:cs typeface="Calibri" pitchFamily="34" charset="-120"/>
                        </a:rPr>
                        <a:t>cms.rbi.org.in</a:t>
                      </a:r>
                      <a:endParaRPr lang="en-US" sz="115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400" dirty="0">
                          <a:solidFill>
                            <a:srgbClr val="4E5D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400" dirty="0">
                          <a:solidFill>
                            <a:srgbClr val="4E5D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400" dirty="0">
                          <a:solidFill>
                            <a:srgbClr val="4E5D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400" dirty="0">
                          <a:solidFill>
                            <a:srgbClr val="4E5D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000" dirty="0">
                          <a:solidFill>
                            <a:srgbClr val="4E5D55"/>
                          </a:solidFill>
                          <a:latin typeface="Calibri" pitchFamily="34" charset="0"/>
                          <a:ea typeface="Calibri" pitchFamily="34" charset="-122"/>
                          <a:cs typeface="Calibri" pitchFamily="34" charset="-120"/>
                        </a:rPr>
                        <a:t>12 languages, web form</a:t>
                      </a:r>
                      <a:endParaRPr lang="en-US" sz="10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r>
              <a:tr h="548640">
                <a:tc>
                  <a:txBody>
                    <a:bodyPr/>
                    <a:lstStyle/>
                    <a:p>
                      <a:pPr indent="0" marL="0">
                        <a:buNone/>
                      </a:pPr>
                      <a:r>
                        <a:rPr lang="en-US" sz="1150" dirty="0">
                          <a:solidFill>
                            <a:srgbClr val="18261F"/>
                          </a:solidFill>
                          <a:latin typeface="Calibri" pitchFamily="34" charset="0"/>
                          <a:ea typeface="Calibri" pitchFamily="34" charset="-122"/>
                          <a:cs typeface="Calibri" pitchFamily="34" charset="-120"/>
                        </a:rPr>
                        <a:t>NPCI UPI Help</a:t>
                      </a:r>
                      <a:endParaRPr lang="en-US" sz="1150" dirty="0">
                        <a:latin typeface="Calibri" charset="0"/>
                        <a:ea typeface="Calibri" charset="0"/>
                        <a:cs typeface="Calibri" charset="0"/>
                      </a:endParaRPr>
                    </a:p>
                    <a:p>
                      <a:pPr indent="0" marL="0">
                        <a:buNone/>
                      </a:pPr>
                      <a:r>
                        <a:rPr lang="en-US" sz="1150" dirty="0">
                          <a:solidFill>
                            <a:srgbClr val="18261F"/>
                          </a:solidFill>
                          <a:latin typeface="Calibri" pitchFamily="34" charset="0"/>
                          <a:ea typeface="Calibri" pitchFamily="34" charset="-122"/>
                          <a:cs typeface="Calibri" pitchFamily="34" charset="-120"/>
                        </a:rPr>
                        <a:t>status of a UPI transaction</a:t>
                      </a:r>
                      <a:endParaRPr lang="en-US" sz="115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400" dirty="0">
                          <a:solidFill>
                            <a:srgbClr val="4E5D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400" dirty="0">
                          <a:solidFill>
                            <a:srgbClr val="4E5D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400" dirty="0">
                          <a:solidFill>
                            <a:srgbClr val="4E5D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400" dirty="0">
                          <a:solidFill>
                            <a:srgbClr val="4E5D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400" dirty="0">
                          <a:solidFill>
                            <a:srgbClr val="4E5D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r>
              <a:tr h="548640">
                <a:tc>
                  <a:txBody>
                    <a:bodyPr/>
                    <a:lstStyle/>
                    <a:p>
                      <a:pPr indent="0" marL="0">
                        <a:buNone/>
                      </a:pPr>
                      <a:r>
                        <a:rPr lang="en-US" sz="1150" dirty="0">
                          <a:solidFill>
                            <a:srgbClr val="18261F"/>
                          </a:solidFill>
                          <a:latin typeface="Calibri" pitchFamily="34" charset="0"/>
                          <a:ea typeface="Calibri" pitchFamily="34" charset="-122"/>
                          <a:cs typeface="Calibri" pitchFamily="34" charset="-120"/>
                        </a:rPr>
                        <a:t>ClaimBack.in</a:t>
                      </a:r>
                      <a:endParaRPr lang="en-US" sz="1150" dirty="0">
                        <a:latin typeface="Calibri" charset="0"/>
                        <a:ea typeface="Calibri" charset="0"/>
                        <a:cs typeface="Calibri" charset="0"/>
                      </a:endParaRPr>
                    </a:p>
                    <a:p>
                      <a:pPr indent="0" marL="0">
                        <a:buNone/>
                      </a:pPr>
                      <a:r>
                        <a:rPr lang="en-US" sz="1150" dirty="0">
                          <a:solidFill>
                            <a:srgbClr val="18261F"/>
                          </a:solidFill>
                          <a:latin typeface="Calibri" pitchFamily="34" charset="0"/>
                          <a:ea typeface="Calibri" pitchFamily="34" charset="-122"/>
                          <a:cs typeface="Calibri" pitchFamily="34" charset="-120"/>
                        </a:rPr>
                        <a:t>statement scan, draft email</a:t>
                      </a:r>
                      <a:endParaRPr lang="en-US" sz="115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600" b="1" dirty="0">
                          <a:solidFill>
                            <a:srgbClr val="1E6A4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400" dirty="0">
                          <a:solidFill>
                            <a:srgbClr val="4E5D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000" dirty="0">
                          <a:solidFill>
                            <a:srgbClr val="4E5D55"/>
                          </a:solidFill>
                          <a:latin typeface="Calibri" pitchFamily="34" charset="0"/>
                          <a:ea typeface="Calibri" pitchFamily="34" charset="-122"/>
                          <a:cs typeface="Calibri" pitchFamily="34" charset="-120"/>
                        </a:rPr>
                        <a:t>draft only</a:t>
                      </a:r>
                      <a:endParaRPr lang="en-US" sz="10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400" dirty="0">
                          <a:solidFill>
                            <a:srgbClr val="4E5D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400" dirty="0">
                          <a:solidFill>
                            <a:srgbClr val="4E5D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r>
              <a:tr h="548640">
                <a:tc>
                  <a:txBody>
                    <a:bodyPr/>
                    <a:lstStyle/>
                    <a:p>
                      <a:pPr indent="0" marL="0">
                        <a:buNone/>
                      </a:pPr>
                      <a:r>
                        <a:rPr lang="en-US" sz="1150" dirty="0">
                          <a:solidFill>
                            <a:srgbClr val="18261F"/>
                          </a:solidFill>
                          <a:latin typeface="Calibri" pitchFamily="34" charset="0"/>
                          <a:ea typeface="Calibri" pitchFamily="34" charset="-122"/>
                          <a:cs typeface="Calibri" pitchFamily="34" charset="-120"/>
                        </a:rPr>
                        <a:t>Bank apps / CRED</a:t>
                      </a:r>
                      <a:endParaRPr lang="en-US" sz="1150" dirty="0">
                        <a:latin typeface="Calibri" charset="0"/>
                        <a:ea typeface="Calibri" charset="0"/>
                        <a:cs typeface="Calibri" charset="0"/>
                      </a:endParaRPr>
                    </a:p>
                    <a:p>
                      <a:pPr indent="0" marL="0">
                        <a:buNone/>
                      </a:pPr>
                      <a:r>
                        <a:rPr lang="en-US" sz="1150" dirty="0">
                          <a:solidFill>
                            <a:srgbClr val="18261F"/>
                          </a:solidFill>
                          <a:latin typeface="Calibri" pitchFamily="34" charset="0"/>
                          <a:ea typeface="Calibri" pitchFamily="34" charset="-122"/>
                          <a:cs typeface="Calibri" pitchFamily="34" charset="-120"/>
                        </a:rPr>
                        <a:t>spend insights, hidden card charges</a:t>
                      </a:r>
                      <a:endParaRPr lang="en-US" sz="115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000" dirty="0">
                          <a:solidFill>
                            <a:srgbClr val="4E5D55"/>
                          </a:solidFill>
                          <a:latin typeface="Calibri" pitchFamily="34" charset="0"/>
                          <a:ea typeface="Calibri" pitchFamily="34" charset="-122"/>
                          <a:cs typeface="Calibri" pitchFamily="34" charset="-120"/>
                        </a:rPr>
                        <a:t>partly</a:t>
                      </a:r>
                      <a:endParaRPr lang="en-US" sz="10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400" dirty="0">
                          <a:solidFill>
                            <a:srgbClr val="4E5D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400" dirty="0">
                          <a:solidFill>
                            <a:srgbClr val="4E5D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400" dirty="0">
                          <a:solidFill>
                            <a:srgbClr val="4E5D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1400" dirty="0">
                          <a:solidFill>
                            <a:srgbClr val="4E5D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r>
              <a:tr h="603504">
                <a:tc>
                  <a:txBody>
                    <a:bodyPr/>
                    <a:lstStyle/>
                    <a:p>
                      <a:pPr indent="0" marL="0">
                        <a:buNone/>
                      </a:pPr>
                      <a:r>
                        <a:rPr lang="en-US" sz="1100" b="1" dirty="0">
                          <a:solidFill>
                            <a:srgbClr val="1E6A44"/>
                          </a:solidFill>
                          <a:latin typeface="Calibri" pitchFamily="34" charset="0"/>
                          <a:ea typeface="Calibri" pitchFamily="34" charset="-122"/>
                          <a:cs typeface="Calibri" pitchFamily="34" charset="-120"/>
                        </a:rPr>
                        <a:t>Vasool Raja</a:t>
                      </a:r>
                      <a:endParaRPr lang="en-US" sz="1100" dirty="0">
                        <a:latin typeface="Calibri" charset="0"/>
                        <a:ea typeface="Calibri" charset="0"/>
                        <a:cs typeface="Calibri" charset="0"/>
                      </a:endParaRPr>
                    </a:p>
                    <a:p>
                      <a:pPr indent="0" marL="0">
                        <a:buNone/>
                      </a:pPr>
                      <a:r>
                        <a:rPr lang="en-US" sz="1100" b="1" dirty="0">
                          <a:solidFill>
                            <a:srgbClr val="1E6A44"/>
                          </a:solidFill>
                          <a:latin typeface="Calibri" pitchFamily="34" charset="0"/>
                          <a:ea typeface="Calibri" pitchFamily="34" charset="-122"/>
                          <a:cs typeface="Calibri" pitchFamily="34" charset="-120"/>
                        </a:rPr>
                        <a:t>statement → rule → amount → evidence → priority → complaint → tracking</a:t>
                      </a:r>
                      <a:endParaRPr lang="en-US" sz="11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E3EFE7"/>
                    </a:solidFill>
                  </a:tcPr>
                </a:tc>
                <a:tc>
                  <a:txBody>
                    <a:bodyPr/>
                    <a:lstStyle/>
                    <a:p>
                      <a:pPr algn="ctr" indent="0" marL="0">
                        <a:buNone/>
                      </a:pPr>
                      <a:r>
                        <a:rPr lang="en-US" sz="1600" b="1" dirty="0">
                          <a:solidFill>
                            <a:srgbClr val="1E6A4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E3EFE7"/>
                    </a:solidFill>
                  </a:tcPr>
                </a:tc>
                <a:tc>
                  <a:txBody>
                    <a:bodyPr/>
                    <a:lstStyle/>
                    <a:p>
                      <a:pPr algn="ctr" indent="0" marL="0">
                        <a:buNone/>
                      </a:pPr>
                      <a:r>
                        <a:rPr lang="en-US" sz="1600" b="1" dirty="0">
                          <a:solidFill>
                            <a:srgbClr val="1E6A4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E3EFE7"/>
                    </a:solidFill>
                  </a:tcPr>
                </a:tc>
                <a:tc>
                  <a:txBody>
                    <a:bodyPr/>
                    <a:lstStyle/>
                    <a:p>
                      <a:pPr algn="ctr" indent="0" marL="0">
                        <a:buNone/>
                      </a:pPr>
                      <a:r>
                        <a:rPr lang="en-US" sz="1600" b="1" dirty="0">
                          <a:solidFill>
                            <a:srgbClr val="1E6A4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E3EFE7"/>
                    </a:solidFill>
                  </a:tcPr>
                </a:tc>
                <a:tc>
                  <a:txBody>
                    <a:bodyPr/>
                    <a:lstStyle/>
                    <a:p>
                      <a:pPr algn="ctr" indent="0" marL="0">
                        <a:buNone/>
                      </a:pPr>
                      <a:r>
                        <a:rPr lang="en-US" sz="1600" b="1" dirty="0">
                          <a:solidFill>
                            <a:srgbClr val="1E6A4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E3EFE7"/>
                    </a:solidFill>
                  </a:tcPr>
                </a:tc>
                <a:tc>
                  <a:txBody>
                    <a:bodyPr/>
                    <a:lstStyle/>
                    <a:p>
                      <a:pPr algn="ctr" indent="0" marL="0">
                        <a:buNone/>
                      </a:pPr>
                      <a:r>
                        <a:rPr lang="en-US" sz="1600" b="1" dirty="0">
                          <a:solidFill>
                            <a:srgbClr val="1E6A4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73152" marB="73152"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E3EFE7"/>
                    </a:solidFill>
                  </a:tcPr>
                </a:tc>
              </a:tr>
            </a:tbl>
          </a:graphicData>
        </a:graphic>
      </p:graphicFrame>
      <p:sp>
        <p:nvSpPr>
          <p:cNvPr id="5" name="Text 2"/>
          <p:cNvSpPr txBox="1"/>
          <p:nvPr/>
        </p:nvSpPr>
        <p:spPr>
          <a:xfrm>
            <a:off x="548640" y="5321808"/>
            <a:ext cx="11091672" cy="457200"/>
          </a:xfrm>
          <a:prstGeom prst="rect">
            <a:avLst/>
          </a:prstGeom>
          <a:noFill/>
          <a:ln/>
        </p:spPr>
        <p:txBody>
          <a:bodyPr wrap="square" lIns="0" tIns="0" rIns="0" bIns="0" rtlCol="0" anchor="t"/>
          <a:lstStyle/>
          <a:p>
            <a:pPr indent="0" marL="0">
              <a:buNone/>
            </a:pPr>
            <a:r>
              <a:rPr lang="en-US" sz="1350" b="1" dirty="0">
                <a:solidFill>
                  <a:srgbClr val="1E6A44"/>
                </a:solidFill>
                <a:latin typeface="Cambria" pitchFamily="34" charset="0"/>
                <a:ea typeface="Cambria" pitchFamily="34" charset="-122"/>
                <a:cs typeface="Cambria" pitchFamily="34" charset="-120"/>
              </a:rPr>
              <a:t>Existing solutions address individual steps. Vasool Raja connects the complete regulatory-checking chain. </a:t>
            </a:r>
            <a:pPr indent="0" marL="0">
              <a:buNone/>
            </a:pPr>
            <a:r>
              <a:rPr lang="en-US" sz="1050" dirty="0">
                <a:solidFill>
                  <a:srgbClr val="4E5D55"/>
                </a:solidFill>
                <a:latin typeface="Calibri" pitchFamily="34" charset="0"/>
                <a:ea typeface="Calibri" pitchFamily="34" charset="-122"/>
                <a:cs typeface="Calibri" pitchFamily="34" charset="-120"/>
              </a:rPr>
              <a:t>END-TO-END REGULATORY CHECKING ENGINE — not AI for the sake of AI. The innovation is the system design: financial state + time-aware regulation + deterministic rules + evidence + action.</a:t>
            </a:r>
            <a:endParaRPr lang="en-US" sz="1350" dirty="0"/>
          </a:p>
        </p:txBody>
      </p:sp>
      <p:sp>
        <p:nvSpPr>
          <p:cNvPr id="6" name="Shape 3"/>
          <p:cNvSpPr/>
          <p:nvPr/>
        </p:nvSpPr>
        <p:spPr>
          <a:xfrm>
            <a:off x="548640" y="5806440"/>
            <a:ext cx="1349393" cy="365760"/>
          </a:xfrm>
          <a:prstGeom prst="rect">
            <a:avLst/>
          </a:prstGeom>
          <a:solidFill>
            <a:srgbClr val="E3EFE7"/>
          </a:solidFill>
          <a:ln w="9525">
            <a:solidFill>
              <a:srgbClr val="1E6A44"/>
            </a:solidFill>
            <a:prstDash val="solid"/>
          </a:ln>
        </p:spPr>
      </p:sp>
      <p:sp>
        <p:nvSpPr>
          <p:cNvPr id="7" name="Text 4"/>
          <p:cNvSpPr txBox="1"/>
          <p:nvPr/>
        </p:nvSpPr>
        <p:spPr>
          <a:xfrm>
            <a:off x="548640" y="5806440"/>
            <a:ext cx="1349393" cy="365760"/>
          </a:xfrm>
          <a:prstGeom prst="rect">
            <a:avLst/>
          </a:prstGeom>
          <a:noFill/>
          <a:ln/>
        </p:spPr>
        <p:txBody>
          <a:bodyPr wrap="square" lIns="0" tIns="0" rIns="0" bIns="0" rtlCol="0" anchor="ctr"/>
          <a:lstStyle/>
          <a:p>
            <a:pPr algn="ctr" indent="0" marL="0">
              <a:buNone/>
            </a:pPr>
            <a:r>
              <a:rPr lang="en-US" sz="900" b="1" spc="100" kern="0" dirty="0">
                <a:solidFill>
                  <a:srgbClr val="1E6A44"/>
                </a:solidFill>
                <a:latin typeface="Calibri" pitchFamily="34" charset="0"/>
                <a:ea typeface="Calibri" pitchFamily="34" charset="-122"/>
                <a:cs typeface="Calibri" pitchFamily="34" charset="-120"/>
              </a:rPr>
              <a:t>STATEMENT</a:t>
            </a:r>
            <a:endParaRPr lang="en-US" sz="900" dirty="0"/>
          </a:p>
        </p:txBody>
      </p:sp>
      <p:sp>
        <p:nvSpPr>
          <p:cNvPr id="8" name="Text 5"/>
          <p:cNvSpPr txBox="1"/>
          <p:nvPr/>
        </p:nvSpPr>
        <p:spPr>
          <a:xfrm>
            <a:off x="1898033" y="5806440"/>
            <a:ext cx="274320" cy="36576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9" name="Shape 6"/>
          <p:cNvSpPr/>
          <p:nvPr/>
        </p:nvSpPr>
        <p:spPr>
          <a:xfrm>
            <a:off x="2172353" y="5806440"/>
            <a:ext cx="1349393" cy="365760"/>
          </a:xfrm>
          <a:prstGeom prst="rect">
            <a:avLst/>
          </a:prstGeom>
          <a:solidFill>
            <a:srgbClr val="E3EFE7"/>
          </a:solidFill>
          <a:ln w="9525">
            <a:solidFill>
              <a:srgbClr val="1E6A44"/>
            </a:solidFill>
            <a:prstDash val="solid"/>
          </a:ln>
        </p:spPr>
      </p:sp>
      <p:sp>
        <p:nvSpPr>
          <p:cNvPr id="10" name="Text 7"/>
          <p:cNvSpPr txBox="1"/>
          <p:nvPr/>
        </p:nvSpPr>
        <p:spPr>
          <a:xfrm>
            <a:off x="2172353" y="5806440"/>
            <a:ext cx="1349393" cy="365760"/>
          </a:xfrm>
          <a:prstGeom prst="rect">
            <a:avLst/>
          </a:prstGeom>
          <a:noFill/>
          <a:ln/>
        </p:spPr>
        <p:txBody>
          <a:bodyPr wrap="square" lIns="0" tIns="0" rIns="0" bIns="0" rtlCol="0" anchor="ctr"/>
          <a:lstStyle/>
          <a:p>
            <a:pPr algn="ctr" indent="0" marL="0">
              <a:buNone/>
            </a:pPr>
            <a:r>
              <a:rPr lang="en-US" sz="900" b="1" spc="100" kern="0" dirty="0">
                <a:solidFill>
                  <a:srgbClr val="1E6A44"/>
                </a:solidFill>
                <a:latin typeface="Calibri" pitchFamily="34" charset="0"/>
                <a:ea typeface="Calibri" pitchFamily="34" charset="-122"/>
                <a:cs typeface="Calibri" pitchFamily="34" charset="-120"/>
              </a:rPr>
              <a:t>RULE</a:t>
            </a:r>
            <a:endParaRPr lang="en-US" sz="900" dirty="0"/>
          </a:p>
        </p:txBody>
      </p:sp>
      <p:sp>
        <p:nvSpPr>
          <p:cNvPr id="11" name="Text 8"/>
          <p:cNvSpPr txBox="1"/>
          <p:nvPr/>
        </p:nvSpPr>
        <p:spPr>
          <a:xfrm>
            <a:off x="3521746" y="5806440"/>
            <a:ext cx="274320" cy="36576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12" name="Shape 9"/>
          <p:cNvSpPr/>
          <p:nvPr/>
        </p:nvSpPr>
        <p:spPr>
          <a:xfrm>
            <a:off x="3796066" y="5806440"/>
            <a:ext cx="1349393" cy="365760"/>
          </a:xfrm>
          <a:prstGeom prst="rect">
            <a:avLst/>
          </a:prstGeom>
          <a:solidFill>
            <a:srgbClr val="E3EFE7"/>
          </a:solidFill>
          <a:ln w="9525">
            <a:solidFill>
              <a:srgbClr val="1E6A44"/>
            </a:solidFill>
            <a:prstDash val="solid"/>
          </a:ln>
        </p:spPr>
      </p:sp>
      <p:sp>
        <p:nvSpPr>
          <p:cNvPr id="13" name="Text 10"/>
          <p:cNvSpPr txBox="1"/>
          <p:nvPr/>
        </p:nvSpPr>
        <p:spPr>
          <a:xfrm>
            <a:off x="3796066" y="5806440"/>
            <a:ext cx="1349393" cy="365760"/>
          </a:xfrm>
          <a:prstGeom prst="rect">
            <a:avLst/>
          </a:prstGeom>
          <a:noFill/>
          <a:ln/>
        </p:spPr>
        <p:txBody>
          <a:bodyPr wrap="square" lIns="0" tIns="0" rIns="0" bIns="0" rtlCol="0" anchor="ctr"/>
          <a:lstStyle/>
          <a:p>
            <a:pPr algn="ctr" indent="0" marL="0">
              <a:buNone/>
            </a:pPr>
            <a:r>
              <a:rPr lang="en-US" sz="900" b="1" spc="100" kern="0" dirty="0">
                <a:solidFill>
                  <a:srgbClr val="1E6A44"/>
                </a:solidFill>
                <a:latin typeface="Calibri" pitchFamily="34" charset="0"/>
                <a:ea typeface="Calibri" pitchFamily="34" charset="-122"/>
                <a:cs typeface="Calibri" pitchFamily="34" charset="-120"/>
              </a:rPr>
              <a:t>AMOUNT</a:t>
            </a:r>
            <a:endParaRPr lang="en-US" sz="900" dirty="0"/>
          </a:p>
        </p:txBody>
      </p:sp>
      <p:sp>
        <p:nvSpPr>
          <p:cNvPr id="14" name="Text 11"/>
          <p:cNvSpPr txBox="1"/>
          <p:nvPr/>
        </p:nvSpPr>
        <p:spPr>
          <a:xfrm>
            <a:off x="5145459" y="5806440"/>
            <a:ext cx="274320" cy="36576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15" name="Shape 12"/>
          <p:cNvSpPr/>
          <p:nvPr/>
        </p:nvSpPr>
        <p:spPr>
          <a:xfrm>
            <a:off x="5419779" y="5806440"/>
            <a:ext cx="1349393" cy="365760"/>
          </a:xfrm>
          <a:prstGeom prst="rect">
            <a:avLst/>
          </a:prstGeom>
          <a:solidFill>
            <a:srgbClr val="E3EFE7"/>
          </a:solidFill>
          <a:ln w="9525">
            <a:solidFill>
              <a:srgbClr val="1E6A44"/>
            </a:solidFill>
            <a:prstDash val="solid"/>
          </a:ln>
        </p:spPr>
      </p:sp>
      <p:sp>
        <p:nvSpPr>
          <p:cNvPr id="16" name="Text 13"/>
          <p:cNvSpPr txBox="1"/>
          <p:nvPr/>
        </p:nvSpPr>
        <p:spPr>
          <a:xfrm>
            <a:off x="5419779" y="5806440"/>
            <a:ext cx="1349393" cy="365760"/>
          </a:xfrm>
          <a:prstGeom prst="rect">
            <a:avLst/>
          </a:prstGeom>
          <a:noFill/>
          <a:ln/>
        </p:spPr>
        <p:txBody>
          <a:bodyPr wrap="square" lIns="0" tIns="0" rIns="0" bIns="0" rtlCol="0" anchor="ctr"/>
          <a:lstStyle/>
          <a:p>
            <a:pPr algn="ctr" indent="0" marL="0">
              <a:buNone/>
            </a:pPr>
            <a:r>
              <a:rPr lang="en-US" sz="900" b="1" spc="100" kern="0" dirty="0">
                <a:solidFill>
                  <a:srgbClr val="1E6A44"/>
                </a:solidFill>
                <a:latin typeface="Calibri" pitchFamily="34" charset="0"/>
                <a:ea typeface="Calibri" pitchFamily="34" charset="-122"/>
                <a:cs typeface="Calibri" pitchFamily="34" charset="-120"/>
              </a:rPr>
              <a:t>EVIDENCE</a:t>
            </a:r>
            <a:endParaRPr lang="en-US" sz="900" dirty="0"/>
          </a:p>
        </p:txBody>
      </p:sp>
      <p:sp>
        <p:nvSpPr>
          <p:cNvPr id="17" name="Text 14"/>
          <p:cNvSpPr txBox="1"/>
          <p:nvPr/>
        </p:nvSpPr>
        <p:spPr>
          <a:xfrm>
            <a:off x="6769173" y="5806440"/>
            <a:ext cx="274320" cy="36576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18" name="Shape 15"/>
          <p:cNvSpPr/>
          <p:nvPr/>
        </p:nvSpPr>
        <p:spPr>
          <a:xfrm>
            <a:off x="7043493" y="5806440"/>
            <a:ext cx="1349393" cy="365760"/>
          </a:xfrm>
          <a:prstGeom prst="rect">
            <a:avLst/>
          </a:prstGeom>
          <a:solidFill>
            <a:srgbClr val="E3EFE7"/>
          </a:solidFill>
          <a:ln w="9525">
            <a:solidFill>
              <a:srgbClr val="1E6A44"/>
            </a:solidFill>
            <a:prstDash val="solid"/>
          </a:ln>
        </p:spPr>
      </p:sp>
      <p:sp>
        <p:nvSpPr>
          <p:cNvPr id="19" name="Text 16"/>
          <p:cNvSpPr txBox="1"/>
          <p:nvPr/>
        </p:nvSpPr>
        <p:spPr>
          <a:xfrm>
            <a:off x="7043493" y="5806440"/>
            <a:ext cx="1349393" cy="365760"/>
          </a:xfrm>
          <a:prstGeom prst="rect">
            <a:avLst/>
          </a:prstGeom>
          <a:noFill/>
          <a:ln/>
        </p:spPr>
        <p:txBody>
          <a:bodyPr wrap="square" lIns="0" tIns="0" rIns="0" bIns="0" rtlCol="0" anchor="ctr"/>
          <a:lstStyle/>
          <a:p>
            <a:pPr algn="ctr" indent="0" marL="0">
              <a:buNone/>
            </a:pPr>
            <a:r>
              <a:rPr lang="en-US" sz="900" b="1" spc="100" kern="0" dirty="0">
                <a:solidFill>
                  <a:srgbClr val="1E6A44"/>
                </a:solidFill>
                <a:latin typeface="Calibri" pitchFamily="34" charset="0"/>
                <a:ea typeface="Calibri" pitchFamily="34" charset="-122"/>
                <a:cs typeface="Calibri" pitchFamily="34" charset="-120"/>
              </a:rPr>
              <a:t>PRIORITY</a:t>
            </a:r>
            <a:endParaRPr lang="en-US" sz="900" dirty="0"/>
          </a:p>
        </p:txBody>
      </p:sp>
      <p:sp>
        <p:nvSpPr>
          <p:cNvPr id="20" name="Text 17"/>
          <p:cNvSpPr txBox="1"/>
          <p:nvPr/>
        </p:nvSpPr>
        <p:spPr>
          <a:xfrm>
            <a:off x="8392886" y="5806440"/>
            <a:ext cx="274320" cy="36576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21" name="Shape 18"/>
          <p:cNvSpPr/>
          <p:nvPr/>
        </p:nvSpPr>
        <p:spPr>
          <a:xfrm>
            <a:off x="8667206" y="5806440"/>
            <a:ext cx="1349393" cy="365760"/>
          </a:xfrm>
          <a:prstGeom prst="rect">
            <a:avLst/>
          </a:prstGeom>
          <a:solidFill>
            <a:srgbClr val="E3EFE7"/>
          </a:solidFill>
          <a:ln w="9525">
            <a:solidFill>
              <a:srgbClr val="1E6A44"/>
            </a:solidFill>
            <a:prstDash val="solid"/>
          </a:ln>
        </p:spPr>
      </p:sp>
      <p:sp>
        <p:nvSpPr>
          <p:cNvPr id="22" name="Text 19"/>
          <p:cNvSpPr txBox="1"/>
          <p:nvPr/>
        </p:nvSpPr>
        <p:spPr>
          <a:xfrm>
            <a:off x="8667206" y="5806440"/>
            <a:ext cx="1349393" cy="365760"/>
          </a:xfrm>
          <a:prstGeom prst="rect">
            <a:avLst/>
          </a:prstGeom>
          <a:noFill/>
          <a:ln/>
        </p:spPr>
        <p:txBody>
          <a:bodyPr wrap="square" lIns="0" tIns="0" rIns="0" bIns="0" rtlCol="0" anchor="ctr"/>
          <a:lstStyle/>
          <a:p>
            <a:pPr algn="ctr" indent="0" marL="0">
              <a:buNone/>
            </a:pPr>
            <a:r>
              <a:rPr lang="en-US" sz="900" b="1" spc="100" kern="0" dirty="0">
                <a:solidFill>
                  <a:srgbClr val="1E6A44"/>
                </a:solidFill>
                <a:latin typeface="Calibri" pitchFamily="34" charset="0"/>
                <a:ea typeface="Calibri" pitchFamily="34" charset="-122"/>
                <a:cs typeface="Calibri" pitchFamily="34" charset="-120"/>
              </a:rPr>
              <a:t>COMPLAINT</a:t>
            </a:r>
            <a:endParaRPr lang="en-US" sz="900" dirty="0"/>
          </a:p>
        </p:txBody>
      </p:sp>
      <p:sp>
        <p:nvSpPr>
          <p:cNvPr id="23" name="Text 20"/>
          <p:cNvSpPr txBox="1"/>
          <p:nvPr/>
        </p:nvSpPr>
        <p:spPr>
          <a:xfrm>
            <a:off x="10016599" y="5806440"/>
            <a:ext cx="274320" cy="36576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24" name="Shape 21"/>
          <p:cNvSpPr/>
          <p:nvPr/>
        </p:nvSpPr>
        <p:spPr>
          <a:xfrm>
            <a:off x="10290919" y="5806440"/>
            <a:ext cx="1349393" cy="365760"/>
          </a:xfrm>
          <a:prstGeom prst="rect">
            <a:avLst/>
          </a:prstGeom>
          <a:solidFill>
            <a:srgbClr val="E3EFE7"/>
          </a:solidFill>
          <a:ln w="9525">
            <a:solidFill>
              <a:srgbClr val="1E6A44"/>
            </a:solidFill>
            <a:prstDash val="solid"/>
          </a:ln>
        </p:spPr>
      </p:sp>
      <p:sp>
        <p:nvSpPr>
          <p:cNvPr id="25" name="Text 22"/>
          <p:cNvSpPr txBox="1"/>
          <p:nvPr/>
        </p:nvSpPr>
        <p:spPr>
          <a:xfrm>
            <a:off x="10290919" y="5806440"/>
            <a:ext cx="1349393" cy="365760"/>
          </a:xfrm>
          <a:prstGeom prst="rect">
            <a:avLst/>
          </a:prstGeom>
          <a:noFill/>
          <a:ln/>
        </p:spPr>
        <p:txBody>
          <a:bodyPr wrap="square" lIns="0" tIns="0" rIns="0" bIns="0" rtlCol="0" anchor="ctr"/>
          <a:lstStyle/>
          <a:p>
            <a:pPr algn="ctr" indent="0" marL="0">
              <a:buNone/>
            </a:pPr>
            <a:r>
              <a:rPr lang="en-US" sz="900" b="1" spc="100" kern="0" dirty="0">
                <a:solidFill>
                  <a:srgbClr val="1E6A44"/>
                </a:solidFill>
                <a:latin typeface="Calibri" pitchFamily="34" charset="0"/>
                <a:ea typeface="Calibri" pitchFamily="34" charset="-122"/>
                <a:cs typeface="Calibri" pitchFamily="34" charset="-120"/>
              </a:rPr>
              <a:t>TRACKING</a:t>
            </a:r>
            <a:endParaRPr lang="en-US" sz="900" dirty="0"/>
          </a:p>
        </p:txBody>
      </p:sp>
      <p:sp>
        <p:nvSpPr>
          <p:cNvPr id="26" name="Text 2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4E5D55"/>
                </a:solidFill>
                <a:latin typeface="Calibri" pitchFamily="34" charset="0"/>
                <a:ea typeface="Calibri" pitchFamily="34" charset="-122"/>
                <a:cs typeface="Calibri" pitchFamily="34" charset="-120"/>
              </a:rPr>
              <a:t>Vasool Raja  ·  HackVerse 2.0  ·  Digital Twins &amp; FinTech</a:t>
            </a:r>
            <a:endParaRPr lang="en-US" sz="900" dirty="0"/>
          </a:p>
        </p:txBody>
      </p:sp>
      <p:sp>
        <p:nvSpPr>
          <p:cNvPr id="27" name="Text 24"/>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900" dirty="0">
                <a:solidFill>
                  <a:srgbClr val="4E5D5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3657600" cy="274320"/>
          </a:xfrm>
          <a:prstGeom prst="rect">
            <a:avLst/>
          </a:prstGeom>
          <a:noFill/>
          <a:ln/>
        </p:spPr>
        <p:txBody>
          <a:bodyPr wrap="square" lIns="0" tIns="0" rIns="0" bIns="0" rtlCol="0" anchor="ctr"/>
          <a:lstStyle/>
          <a:p>
            <a:pPr indent="0" marL="0">
              <a:buNone/>
            </a:pPr>
            <a:r>
              <a:rPr lang="en-US" sz="1000" b="1" spc="300" kern="0" dirty="0">
                <a:solidFill>
                  <a:srgbClr val="1E6A44"/>
                </a:solidFill>
                <a:latin typeface="Calibri" pitchFamily="34" charset="0"/>
                <a:ea typeface="Calibri" pitchFamily="34" charset="-122"/>
                <a:cs typeface="Calibri" pitchFamily="34" charset="-120"/>
              </a:rPr>
              <a:t>TECHNOLOGY · DIGITAL TWIN</a:t>
            </a:r>
            <a:endParaRPr lang="en-US" sz="1000" dirty="0"/>
          </a:p>
        </p:txBody>
      </p:sp>
      <p:sp>
        <p:nvSpPr>
          <p:cNvPr id="3" name="Text 1"/>
          <p:cNvSpPr txBox="1"/>
          <p:nvPr/>
        </p:nvSpPr>
        <p:spPr>
          <a:xfrm>
            <a:off x="548640" y="594360"/>
            <a:ext cx="11091672" cy="914400"/>
          </a:xfrm>
          <a:prstGeom prst="rect">
            <a:avLst/>
          </a:prstGeom>
          <a:noFill/>
          <a:ln/>
        </p:spPr>
        <p:txBody>
          <a:bodyPr wrap="square" lIns="0" tIns="0" rIns="0" bIns="0" rtlCol="0" anchor="t"/>
          <a:lstStyle/>
          <a:p>
            <a:pPr indent="0" marL="0">
              <a:buNone/>
            </a:pPr>
            <a:r>
              <a:rPr lang="en-US" sz="2300" b="1" dirty="0">
                <a:solidFill>
                  <a:srgbClr val="18261F"/>
                </a:solidFill>
                <a:latin typeface="Cambria" pitchFamily="34" charset="0"/>
                <a:ea typeface="Cambria" pitchFamily="34" charset="-122"/>
                <a:cs typeface="Cambria" pitchFamily="34" charset="-120"/>
              </a:rPr>
              <a:t>DIGITAL TWIN  =  ACTUAL FINANCIAL STATE  ↔  EXPECTED REGULATORY STATE</a:t>
            </a:r>
            <a:endParaRPr lang="en-US" sz="2300" dirty="0"/>
          </a:p>
          <a:p>
            <a:pPr indent="0" marL="0">
              <a:buNone/>
            </a:pPr>
            <a:r>
              <a:rPr lang="en-US" sz="1200" dirty="0">
                <a:solidFill>
                  <a:srgbClr val="4E5D55"/>
                </a:solidFill>
                <a:latin typeface="Calibri" pitchFamily="34" charset="0"/>
                <a:ea typeface="Calibri" pitchFamily="34" charset="-122"/>
                <a:cs typeface="Calibri" pitchFamily="34" charset="-120"/>
              </a:rPr>
              <a:t>The account is reconstructed over time and compared with the RBI rule in force on each date. Expected − actual = regulatory delta = potential claim.</a:t>
            </a:r>
            <a:endParaRPr lang="en-US" sz="2300" dirty="0"/>
          </a:p>
        </p:txBody>
      </p:sp>
      <p:sp>
        <p:nvSpPr>
          <p:cNvPr id="4" name="Shape 2"/>
          <p:cNvSpPr/>
          <p:nvPr/>
        </p:nvSpPr>
        <p:spPr>
          <a:xfrm>
            <a:off x="548640" y="1554480"/>
            <a:ext cx="3429000" cy="2057400"/>
          </a:xfrm>
          <a:prstGeom prst="rect">
            <a:avLst/>
          </a:prstGeom>
          <a:solidFill>
            <a:srgbClr val="F5F7F2"/>
          </a:solidFill>
          <a:ln w="9525">
            <a:solidFill>
              <a:srgbClr val="D7DDD6"/>
            </a:solidFill>
            <a:prstDash val="solid"/>
          </a:ln>
        </p:spPr>
      </p:sp>
      <p:sp>
        <p:nvSpPr>
          <p:cNvPr id="5" name="Text 3"/>
          <p:cNvSpPr txBox="1"/>
          <p:nvPr/>
        </p:nvSpPr>
        <p:spPr>
          <a:xfrm>
            <a:off x="731520" y="1645920"/>
            <a:ext cx="3063240" cy="256032"/>
          </a:xfrm>
          <a:prstGeom prst="rect">
            <a:avLst/>
          </a:prstGeom>
          <a:noFill/>
          <a:ln/>
        </p:spPr>
        <p:txBody>
          <a:bodyPr wrap="square" lIns="0" tIns="0" rIns="0" bIns="0" rtlCol="0" anchor="ctr"/>
          <a:lstStyle/>
          <a:p>
            <a:pPr indent="0" marL="0">
              <a:buNone/>
            </a:pPr>
            <a:r>
              <a:rPr lang="en-US" sz="900" b="1" spc="150" kern="0" dirty="0">
                <a:solidFill>
                  <a:srgbClr val="4E5D55"/>
                </a:solidFill>
                <a:latin typeface="Calibri" pitchFamily="34" charset="0"/>
                <a:ea typeface="Calibri" pitchFamily="34" charset="-122"/>
                <a:cs typeface="Calibri" pitchFamily="34" charset="-120"/>
              </a:rPr>
              <a:t>ACTUAL FINANCIAL STATE  ·  from the statement</a:t>
            </a:r>
            <a:endParaRPr lang="en-US" sz="900" dirty="0"/>
          </a:p>
        </p:txBody>
      </p:sp>
      <p:sp>
        <p:nvSpPr>
          <p:cNvPr id="6" name="Text 4"/>
          <p:cNvSpPr txBox="1"/>
          <p:nvPr/>
        </p:nvSpPr>
        <p:spPr>
          <a:xfrm>
            <a:off x="731520" y="1938528"/>
            <a:ext cx="3063240" cy="16459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8261F"/>
                </a:solidFill>
                <a:latin typeface="Calibri" pitchFamily="34" charset="0"/>
                <a:ea typeface="Calibri" pitchFamily="34" charset="-122"/>
                <a:cs typeface="Calibri" pitchFamily="34" charset="-120"/>
              </a:rPr>
              <a:t>Transaction  failed ATM withdrawal</a:t>
            </a:r>
            <a:endParaRPr lang="en-US" sz="1150" dirty="0"/>
          </a:p>
          <a:p>
            <a:pPr marL="342900" indent="-342900">
              <a:spcAft>
                <a:spcPts val="400"/>
              </a:spcAft>
              <a:buSzPct val="100000"/>
              <a:buChar char="•"/>
            </a:pPr>
            <a:r>
              <a:rPr lang="en-US" sz="1150" dirty="0">
                <a:solidFill>
                  <a:srgbClr val="18261F"/>
                </a:solidFill>
                <a:latin typeface="Calibri" pitchFamily="34" charset="0"/>
                <a:ea typeface="Calibri" pitchFamily="34" charset="-122"/>
                <a:cs typeface="Calibri" pitchFamily="34" charset="-120"/>
              </a:rPr>
              <a:t>Debit  ₹1,200 · 3 Aug</a:t>
            </a:r>
            <a:endParaRPr lang="en-US" sz="1150" dirty="0"/>
          </a:p>
          <a:p>
            <a:pPr marL="342900" indent="-342900">
              <a:spcAft>
                <a:spcPts val="400"/>
              </a:spcAft>
              <a:buSzPct val="100000"/>
              <a:buChar char="•"/>
            </a:pPr>
            <a:r>
              <a:rPr lang="en-US" sz="1150" dirty="0">
                <a:solidFill>
                  <a:srgbClr val="18261F"/>
                </a:solidFill>
                <a:latin typeface="Calibri" pitchFamily="34" charset="0"/>
                <a:ea typeface="Calibri" pitchFamily="34" charset="-122"/>
                <a:cs typeface="Calibri" pitchFamily="34" charset="-120"/>
              </a:rPr>
              <a:t>Reversal  credited 20 Aug</a:t>
            </a:r>
            <a:endParaRPr lang="en-US" sz="1150" dirty="0"/>
          </a:p>
          <a:p>
            <a:pPr marL="342900" indent="-342900">
              <a:spcAft>
                <a:spcPts val="400"/>
              </a:spcAft>
              <a:buSzPct val="100000"/>
              <a:buChar char="•"/>
            </a:pPr>
            <a:r>
              <a:rPr lang="en-US" sz="1150" b="1" dirty="0">
                <a:solidFill>
                  <a:srgbClr val="18261F"/>
                </a:solidFill>
                <a:latin typeface="Calibri" pitchFamily="34" charset="0"/>
                <a:ea typeface="Calibri" pitchFamily="34" charset="-122"/>
                <a:cs typeface="Calibri" pitchFamily="34" charset="-120"/>
              </a:rPr>
              <a:t>Compensation actually credited  ₹0</a:t>
            </a:r>
            <a:endParaRPr lang="en-US" sz="1150" dirty="0"/>
          </a:p>
          <a:p>
            <a:pPr marL="342900" indent="-342900">
              <a:spcAft>
                <a:spcPts val="400"/>
              </a:spcAft>
              <a:buSzPct val="100000"/>
              <a:buChar char="•"/>
            </a:pPr>
            <a:r>
              <a:rPr lang="en-US" sz="1150" dirty="0">
                <a:solidFill>
                  <a:srgbClr val="18261F"/>
                </a:solidFill>
                <a:latin typeface="Calibri" pitchFamily="34" charset="0"/>
                <a:ea typeface="Calibri" pitchFamily="34" charset="-122"/>
                <a:cs typeface="Calibri" pitchFamily="34" charset="-120"/>
              </a:rPr>
              <a:t>Evidence  2 statement lines · ref NFS803110</a:t>
            </a:r>
            <a:endParaRPr lang="en-US" sz="1150" dirty="0"/>
          </a:p>
        </p:txBody>
      </p:sp>
      <p:sp>
        <p:nvSpPr>
          <p:cNvPr id="7" name="Text 5"/>
          <p:cNvSpPr txBox="1"/>
          <p:nvPr/>
        </p:nvSpPr>
        <p:spPr>
          <a:xfrm>
            <a:off x="3995928" y="2331720"/>
            <a:ext cx="420624" cy="457200"/>
          </a:xfrm>
          <a:prstGeom prst="rect">
            <a:avLst/>
          </a:prstGeom>
          <a:noFill/>
          <a:ln/>
        </p:spPr>
        <p:txBody>
          <a:bodyPr wrap="square" lIns="0" tIns="0" rIns="0" bIns="0" rtlCol="0" anchor="ctr"/>
          <a:lstStyle/>
          <a:p>
            <a:pPr algn="ctr" indent="0" marL="0">
              <a:buNone/>
            </a:pPr>
            <a:r>
              <a:rPr lang="en-US" sz="1800" b="1" dirty="0">
                <a:solidFill>
                  <a:srgbClr val="4E5D55"/>
                </a:solidFill>
                <a:latin typeface="Cambria" pitchFamily="34" charset="0"/>
                <a:ea typeface="Cambria" pitchFamily="34" charset="-122"/>
                <a:cs typeface="Cambria" pitchFamily="34" charset="-120"/>
              </a:rPr>
              <a:t>vs</a:t>
            </a:r>
            <a:endParaRPr lang="en-US" sz="1800" dirty="0"/>
          </a:p>
        </p:txBody>
      </p:sp>
      <p:sp>
        <p:nvSpPr>
          <p:cNvPr id="8" name="Shape 6"/>
          <p:cNvSpPr/>
          <p:nvPr/>
        </p:nvSpPr>
        <p:spPr>
          <a:xfrm>
            <a:off x="4434840" y="1554480"/>
            <a:ext cx="3429000" cy="2057400"/>
          </a:xfrm>
          <a:prstGeom prst="rect">
            <a:avLst/>
          </a:prstGeom>
          <a:solidFill>
            <a:srgbClr val="F5F7F2"/>
          </a:solidFill>
          <a:ln w="9525">
            <a:solidFill>
              <a:srgbClr val="D7DDD6"/>
            </a:solidFill>
            <a:prstDash val="solid"/>
          </a:ln>
        </p:spPr>
      </p:sp>
      <p:sp>
        <p:nvSpPr>
          <p:cNvPr id="9" name="Text 7"/>
          <p:cNvSpPr txBox="1"/>
          <p:nvPr/>
        </p:nvSpPr>
        <p:spPr>
          <a:xfrm>
            <a:off x="4617720" y="1645920"/>
            <a:ext cx="3063240" cy="256032"/>
          </a:xfrm>
          <a:prstGeom prst="rect">
            <a:avLst/>
          </a:prstGeom>
          <a:noFill/>
          <a:ln/>
        </p:spPr>
        <p:txBody>
          <a:bodyPr wrap="square" lIns="0" tIns="0" rIns="0" bIns="0" rtlCol="0" anchor="ctr"/>
          <a:lstStyle/>
          <a:p>
            <a:pPr indent="0" marL="0">
              <a:buNone/>
            </a:pPr>
            <a:r>
              <a:rPr lang="en-US" sz="900" b="1" spc="150" kern="0" dirty="0">
                <a:solidFill>
                  <a:srgbClr val="4E5D55"/>
                </a:solidFill>
                <a:latin typeface="Calibri" pitchFamily="34" charset="0"/>
                <a:ea typeface="Calibri" pitchFamily="34" charset="-122"/>
                <a:cs typeface="Calibri" pitchFamily="34" charset="-120"/>
              </a:rPr>
              <a:t>EXPECTED REGULATORY STATE  ·  rule in force that day</a:t>
            </a:r>
            <a:endParaRPr lang="en-US" sz="900" dirty="0"/>
          </a:p>
        </p:txBody>
      </p:sp>
      <p:sp>
        <p:nvSpPr>
          <p:cNvPr id="10" name="Text 8"/>
          <p:cNvSpPr txBox="1"/>
          <p:nvPr/>
        </p:nvSpPr>
        <p:spPr>
          <a:xfrm>
            <a:off x="4617720" y="1938528"/>
            <a:ext cx="3063240" cy="16459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8261F"/>
                </a:solidFill>
                <a:latin typeface="Calibri" pitchFamily="34" charset="0"/>
                <a:ea typeface="Calibri" pitchFamily="34" charset="-122"/>
                <a:cs typeface="Calibri" pitchFamily="34" charset="-120"/>
              </a:rPr>
              <a:t>Rule  RBI/2019-20/67</a:t>
            </a:r>
            <a:endParaRPr lang="en-US" sz="1150" dirty="0"/>
          </a:p>
          <a:p>
            <a:pPr marL="342900" indent="-342900">
              <a:spcAft>
                <a:spcPts val="400"/>
              </a:spcAft>
              <a:buSzPct val="100000"/>
              <a:buChar char="•"/>
            </a:pPr>
            <a:r>
              <a:rPr lang="en-US" sz="1150" dirty="0">
                <a:solidFill>
                  <a:srgbClr val="18261F"/>
                </a:solidFill>
                <a:latin typeface="Calibri" pitchFamily="34" charset="0"/>
                <a:ea typeface="Calibri" pitchFamily="34" charset="-122"/>
                <a:cs typeface="Calibri" pitchFamily="34" charset="-120"/>
              </a:rPr>
              <a:t>Effective date  15 Oct 2019</a:t>
            </a:r>
            <a:endParaRPr lang="en-US" sz="1150" dirty="0"/>
          </a:p>
          <a:p>
            <a:pPr marL="342900" indent="-342900">
              <a:spcAft>
                <a:spcPts val="400"/>
              </a:spcAft>
              <a:buSzPct val="100000"/>
              <a:buChar char="•"/>
            </a:pPr>
            <a:r>
              <a:rPr lang="en-US" sz="1150" dirty="0">
                <a:solidFill>
                  <a:srgbClr val="18261F"/>
                </a:solidFill>
                <a:latin typeface="Calibri" pitchFamily="34" charset="0"/>
                <a:ea typeface="Calibri" pitchFamily="34" charset="-122"/>
                <a:cs typeface="Calibri" pitchFamily="34" charset="-120"/>
              </a:rPr>
              <a:t>Deadline  T+5 → reversal by 8 Aug</a:t>
            </a:r>
            <a:endParaRPr lang="en-US" sz="1150" dirty="0"/>
          </a:p>
          <a:p>
            <a:pPr marL="342900" indent="-342900">
              <a:spcAft>
                <a:spcPts val="400"/>
              </a:spcAft>
              <a:buSzPct val="100000"/>
              <a:buChar char="•"/>
            </a:pPr>
            <a:r>
              <a:rPr lang="en-US" sz="1150" b="1" dirty="0">
                <a:solidFill>
                  <a:srgbClr val="18261F"/>
                </a:solidFill>
                <a:latin typeface="Calibri" pitchFamily="34" charset="0"/>
                <a:ea typeface="Calibri" pitchFamily="34" charset="-122"/>
                <a:cs typeface="Calibri" pitchFamily="34" charset="-120"/>
              </a:rPr>
              <a:t>Expected compensation  ₹100 × 12 days late = ₹1,200</a:t>
            </a:r>
            <a:endParaRPr lang="en-US" sz="1150" dirty="0"/>
          </a:p>
          <a:p>
            <a:pPr marL="342900" indent="-342900">
              <a:spcAft>
                <a:spcPts val="400"/>
              </a:spcAft>
              <a:buSzPct val="100000"/>
              <a:buChar char="•"/>
            </a:pPr>
            <a:r>
              <a:rPr lang="en-US" sz="1150" dirty="0">
                <a:solidFill>
                  <a:srgbClr val="18261F"/>
                </a:solidFill>
                <a:latin typeface="Calibri" pitchFamily="34" charset="0"/>
                <a:ea typeface="Calibri" pitchFamily="34" charset="-122"/>
                <a:cs typeface="Calibri" pitchFamily="34" charset="-120"/>
              </a:rPr>
              <a:t>Credited automatically, no complaint needed</a:t>
            </a:r>
            <a:endParaRPr lang="en-US" sz="1150" dirty="0"/>
          </a:p>
        </p:txBody>
      </p:sp>
      <p:sp>
        <p:nvSpPr>
          <p:cNvPr id="11" name="Shape 9"/>
          <p:cNvSpPr/>
          <p:nvPr/>
        </p:nvSpPr>
        <p:spPr>
          <a:xfrm>
            <a:off x="8138160" y="1554480"/>
            <a:ext cx="3502152" cy="457200"/>
          </a:xfrm>
          <a:prstGeom prst="rect">
            <a:avLst/>
          </a:prstGeom>
          <a:solidFill>
            <a:srgbClr val="F5F7F2"/>
          </a:solidFill>
          <a:ln w="9525">
            <a:solidFill>
              <a:srgbClr val="D7DDD6"/>
            </a:solidFill>
            <a:prstDash val="solid"/>
          </a:ln>
        </p:spPr>
      </p:sp>
      <p:sp>
        <p:nvSpPr>
          <p:cNvPr id="12" name="Text 10"/>
          <p:cNvSpPr txBox="1"/>
          <p:nvPr/>
        </p:nvSpPr>
        <p:spPr>
          <a:xfrm>
            <a:off x="8247888" y="1554480"/>
            <a:ext cx="2313432" cy="457200"/>
          </a:xfrm>
          <a:prstGeom prst="rect">
            <a:avLst/>
          </a:prstGeom>
          <a:noFill/>
          <a:ln/>
        </p:spPr>
        <p:txBody>
          <a:bodyPr wrap="square" lIns="0" tIns="0" rIns="0" bIns="0" rtlCol="0" anchor="ctr"/>
          <a:lstStyle/>
          <a:p>
            <a:pPr indent="0" marL="0">
              <a:buNone/>
            </a:pPr>
            <a:r>
              <a:rPr lang="en-US" sz="850" b="1" spc="100" kern="0" dirty="0">
                <a:solidFill>
                  <a:srgbClr val="18261F"/>
                </a:solidFill>
                <a:latin typeface="Calibri" pitchFamily="34" charset="0"/>
                <a:ea typeface="Calibri" pitchFamily="34" charset="-122"/>
                <a:cs typeface="Calibri" pitchFamily="34" charset="-120"/>
              </a:rPr>
              <a:t>EXPECTED under the rule</a:t>
            </a:r>
            <a:endParaRPr lang="en-US" sz="850" dirty="0"/>
          </a:p>
        </p:txBody>
      </p:sp>
      <p:sp>
        <p:nvSpPr>
          <p:cNvPr id="13" name="Text 11"/>
          <p:cNvSpPr txBox="1"/>
          <p:nvPr/>
        </p:nvSpPr>
        <p:spPr>
          <a:xfrm>
            <a:off x="10497312" y="1554480"/>
            <a:ext cx="1033272" cy="457200"/>
          </a:xfrm>
          <a:prstGeom prst="rect">
            <a:avLst/>
          </a:prstGeom>
          <a:noFill/>
          <a:ln/>
        </p:spPr>
        <p:txBody>
          <a:bodyPr wrap="square" lIns="0" tIns="0" rIns="0" bIns="0" rtlCol="0" anchor="ctr"/>
          <a:lstStyle/>
          <a:p>
            <a:pPr algn="r" indent="0" marL="0">
              <a:buNone/>
            </a:pPr>
            <a:r>
              <a:rPr lang="en-US" sz="1600" b="1" dirty="0">
                <a:solidFill>
                  <a:srgbClr val="18261F"/>
                </a:solidFill>
                <a:latin typeface="Cambria" pitchFamily="34" charset="0"/>
                <a:ea typeface="Cambria" pitchFamily="34" charset="-122"/>
                <a:cs typeface="Cambria" pitchFamily="34" charset="-120"/>
              </a:rPr>
              <a:t>₹1,200</a:t>
            </a:r>
            <a:endParaRPr lang="en-US" sz="1600" dirty="0"/>
          </a:p>
        </p:txBody>
      </p:sp>
      <p:sp>
        <p:nvSpPr>
          <p:cNvPr id="14" name="Shape 12"/>
          <p:cNvSpPr/>
          <p:nvPr/>
        </p:nvSpPr>
        <p:spPr>
          <a:xfrm>
            <a:off x="8138160" y="2075688"/>
            <a:ext cx="3502152" cy="457200"/>
          </a:xfrm>
          <a:prstGeom prst="rect">
            <a:avLst/>
          </a:prstGeom>
          <a:solidFill>
            <a:srgbClr val="F5F7F2"/>
          </a:solidFill>
          <a:ln w="9525">
            <a:solidFill>
              <a:srgbClr val="D7DDD6"/>
            </a:solidFill>
            <a:prstDash val="solid"/>
          </a:ln>
        </p:spPr>
      </p:sp>
      <p:sp>
        <p:nvSpPr>
          <p:cNvPr id="15" name="Text 13"/>
          <p:cNvSpPr txBox="1"/>
          <p:nvPr/>
        </p:nvSpPr>
        <p:spPr>
          <a:xfrm>
            <a:off x="8247888" y="2075688"/>
            <a:ext cx="2313432" cy="457200"/>
          </a:xfrm>
          <a:prstGeom prst="rect">
            <a:avLst/>
          </a:prstGeom>
          <a:noFill/>
          <a:ln/>
        </p:spPr>
        <p:txBody>
          <a:bodyPr wrap="square" lIns="0" tIns="0" rIns="0" bIns="0" rtlCol="0" anchor="ctr"/>
          <a:lstStyle/>
          <a:p>
            <a:pPr indent="0" marL="0">
              <a:buNone/>
            </a:pPr>
            <a:r>
              <a:rPr lang="en-US" sz="850" b="1" spc="100" kern="0" dirty="0">
                <a:solidFill>
                  <a:srgbClr val="18261F"/>
                </a:solidFill>
                <a:latin typeface="Calibri" pitchFamily="34" charset="0"/>
                <a:ea typeface="Calibri" pitchFamily="34" charset="-122"/>
                <a:cs typeface="Calibri" pitchFamily="34" charset="-120"/>
              </a:rPr>
              <a:t>MINUS  ACTUAL credited</a:t>
            </a:r>
            <a:endParaRPr lang="en-US" sz="850" dirty="0"/>
          </a:p>
        </p:txBody>
      </p:sp>
      <p:sp>
        <p:nvSpPr>
          <p:cNvPr id="16" name="Text 14"/>
          <p:cNvSpPr txBox="1"/>
          <p:nvPr/>
        </p:nvSpPr>
        <p:spPr>
          <a:xfrm>
            <a:off x="10497312" y="2075688"/>
            <a:ext cx="1033272" cy="457200"/>
          </a:xfrm>
          <a:prstGeom prst="rect">
            <a:avLst/>
          </a:prstGeom>
          <a:noFill/>
          <a:ln/>
        </p:spPr>
        <p:txBody>
          <a:bodyPr wrap="square" lIns="0" tIns="0" rIns="0" bIns="0" rtlCol="0" anchor="ctr"/>
          <a:lstStyle/>
          <a:p>
            <a:pPr algn="r" indent="0" marL="0">
              <a:buNone/>
            </a:pPr>
            <a:r>
              <a:rPr lang="en-US" sz="1600" b="1" dirty="0">
                <a:solidFill>
                  <a:srgbClr val="18261F"/>
                </a:solidFill>
                <a:latin typeface="Cambria" pitchFamily="34" charset="0"/>
                <a:ea typeface="Cambria" pitchFamily="34" charset="-122"/>
                <a:cs typeface="Cambria" pitchFamily="34" charset="-120"/>
              </a:rPr>
              <a:t>₹0</a:t>
            </a:r>
            <a:endParaRPr lang="en-US" sz="1600" dirty="0"/>
          </a:p>
        </p:txBody>
      </p:sp>
      <p:sp>
        <p:nvSpPr>
          <p:cNvPr id="17" name="Shape 15"/>
          <p:cNvSpPr/>
          <p:nvPr/>
        </p:nvSpPr>
        <p:spPr>
          <a:xfrm>
            <a:off x="8138160" y="2596896"/>
            <a:ext cx="3502152" cy="457200"/>
          </a:xfrm>
          <a:prstGeom prst="rect">
            <a:avLst/>
          </a:prstGeom>
          <a:solidFill>
            <a:srgbClr val="E3EFE7"/>
          </a:solidFill>
          <a:ln w="9525">
            <a:solidFill>
              <a:srgbClr val="1E6A44"/>
            </a:solidFill>
            <a:prstDash val="solid"/>
          </a:ln>
        </p:spPr>
      </p:sp>
      <p:sp>
        <p:nvSpPr>
          <p:cNvPr id="18" name="Text 16"/>
          <p:cNvSpPr txBox="1"/>
          <p:nvPr/>
        </p:nvSpPr>
        <p:spPr>
          <a:xfrm>
            <a:off x="8247888" y="2596896"/>
            <a:ext cx="2313432" cy="457200"/>
          </a:xfrm>
          <a:prstGeom prst="rect">
            <a:avLst/>
          </a:prstGeom>
          <a:noFill/>
          <a:ln/>
        </p:spPr>
        <p:txBody>
          <a:bodyPr wrap="square" lIns="0" tIns="0" rIns="0" bIns="0" rtlCol="0" anchor="ctr"/>
          <a:lstStyle/>
          <a:p>
            <a:pPr indent="0" marL="0">
              <a:buNone/>
            </a:pPr>
            <a:r>
              <a:rPr lang="en-US" sz="850" b="1" spc="100" kern="0" dirty="0">
                <a:solidFill>
                  <a:srgbClr val="1E6A44"/>
                </a:solidFill>
                <a:latin typeface="Calibri" pitchFamily="34" charset="0"/>
                <a:ea typeface="Calibri" pitchFamily="34" charset="-122"/>
                <a:cs typeface="Calibri" pitchFamily="34" charset="-120"/>
              </a:rPr>
              <a:t>=  REGULATORY DELTA</a:t>
            </a:r>
            <a:endParaRPr lang="en-US" sz="850" dirty="0"/>
          </a:p>
        </p:txBody>
      </p:sp>
      <p:sp>
        <p:nvSpPr>
          <p:cNvPr id="19" name="Text 17"/>
          <p:cNvSpPr txBox="1"/>
          <p:nvPr/>
        </p:nvSpPr>
        <p:spPr>
          <a:xfrm>
            <a:off x="10497312" y="2596896"/>
            <a:ext cx="1033272" cy="457200"/>
          </a:xfrm>
          <a:prstGeom prst="rect">
            <a:avLst/>
          </a:prstGeom>
          <a:noFill/>
          <a:ln/>
        </p:spPr>
        <p:txBody>
          <a:bodyPr wrap="square" lIns="0" tIns="0" rIns="0" bIns="0" rtlCol="0" anchor="ctr"/>
          <a:lstStyle/>
          <a:p>
            <a:pPr algn="r" indent="0" marL="0">
              <a:buNone/>
            </a:pPr>
            <a:r>
              <a:rPr lang="en-US" sz="1600" b="1" dirty="0">
                <a:solidFill>
                  <a:srgbClr val="1E6A44"/>
                </a:solidFill>
                <a:latin typeface="Cambria" pitchFamily="34" charset="0"/>
                <a:ea typeface="Cambria" pitchFamily="34" charset="-122"/>
                <a:cs typeface="Cambria" pitchFamily="34" charset="-120"/>
              </a:rPr>
              <a:t>₹1,200</a:t>
            </a:r>
            <a:endParaRPr lang="en-US" sz="1600" dirty="0"/>
          </a:p>
        </p:txBody>
      </p:sp>
      <p:sp>
        <p:nvSpPr>
          <p:cNvPr id="20" name="Shape 18"/>
          <p:cNvSpPr/>
          <p:nvPr/>
        </p:nvSpPr>
        <p:spPr>
          <a:xfrm>
            <a:off x="8138160" y="3118104"/>
            <a:ext cx="3502152" cy="457200"/>
          </a:xfrm>
          <a:prstGeom prst="rect">
            <a:avLst/>
          </a:prstGeom>
          <a:solidFill>
            <a:srgbClr val="144C31"/>
          </a:solidFill>
          <a:ln w="9525">
            <a:solidFill>
              <a:srgbClr val="144C31"/>
            </a:solidFill>
            <a:prstDash val="solid"/>
          </a:ln>
        </p:spPr>
      </p:sp>
      <p:sp>
        <p:nvSpPr>
          <p:cNvPr id="21" name="Text 19"/>
          <p:cNvSpPr txBox="1"/>
          <p:nvPr/>
        </p:nvSpPr>
        <p:spPr>
          <a:xfrm>
            <a:off x="8247888" y="3118104"/>
            <a:ext cx="2313432" cy="457200"/>
          </a:xfrm>
          <a:prstGeom prst="rect">
            <a:avLst/>
          </a:prstGeom>
          <a:noFill/>
          <a:ln/>
        </p:spPr>
        <p:txBody>
          <a:bodyPr wrap="square" lIns="0" tIns="0" rIns="0" bIns="0" rtlCol="0" anchor="ctr"/>
          <a:lstStyle/>
          <a:p>
            <a:pPr indent="0" marL="0">
              <a:buNone/>
            </a:pPr>
            <a:r>
              <a:rPr lang="en-US" sz="850" b="1" spc="100" kern="0" dirty="0">
                <a:solidFill>
                  <a:srgbClr val="C9961A"/>
                </a:solidFill>
                <a:latin typeface="Calibri" pitchFamily="34" charset="0"/>
                <a:ea typeface="Calibri" pitchFamily="34" charset="-122"/>
                <a:cs typeface="Calibri" pitchFamily="34" charset="-120"/>
              </a:rPr>
              <a:t>POTENTIAL CLAIM</a:t>
            </a:r>
            <a:endParaRPr lang="en-US" sz="850" dirty="0"/>
          </a:p>
        </p:txBody>
      </p:sp>
      <p:sp>
        <p:nvSpPr>
          <p:cNvPr id="22" name="Text 20"/>
          <p:cNvSpPr txBox="1"/>
          <p:nvPr/>
        </p:nvSpPr>
        <p:spPr>
          <a:xfrm>
            <a:off x="10497312" y="3118104"/>
            <a:ext cx="1033272" cy="457200"/>
          </a:xfrm>
          <a:prstGeom prst="rect">
            <a:avLst/>
          </a:prstGeom>
          <a:noFill/>
          <a:ln/>
        </p:spPr>
        <p:txBody>
          <a:bodyPr wrap="square" lIns="0" tIns="0" rIns="0" bIns="0" rtlCol="0" anchor="ctr"/>
          <a:lstStyle/>
          <a:p>
            <a:pPr algn="r" indent="0" marL="0">
              <a:buNone/>
            </a:pPr>
            <a:r>
              <a:rPr lang="en-US" sz="1600" b="1" dirty="0">
                <a:solidFill>
                  <a:srgbClr val="FFFFFF"/>
                </a:solidFill>
                <a:latin typeface="Cambria" pitchFamily="34" charset="0"/>
                <a:ea typeface="Cambria" pitchFamily="34" charset="-122"/>
                <a:cs typeface="Cambria" pitchFamily="34" charset="-120"/>
              </a:rPr>
              <a:t>₹1,200</a:t>
            </a:r>
            <a:endParaRPr lang="en-US" sz="1600" dirty="0"/>
          </a:p>
        </p:txBody>
      </p:sp>
      <p:sp>
        <p:nvSpPr>
          <p:cNvPr id="23" name="Text 21"/>
          <p:cNvSpPr txBox="1"/>
          <p:nvPr/>
        </p:nvSpPr>
        <p:spPr>
          <a:xfrm>
            <a:off x="8138160" y="3611880"/>
            <a:ext cx="3502152" cy="182880"/>
          </a:xfrm>
          <a:prstGeom prst="rect">
            <a:avLst/>
          </a:prstGeom>
          <a:noFill/>
          <a:ln/>
        </p:spPr>
        <p:txBody>
          <a:bodyPr wrap="square" lIns="0" tIns="0" rIns="0" bIns="0" rtlCol="0" anchor="ctr"/>
          <a:lstStyle/>
          <a:p>
            <a:pPr indent="0" marL="0">
              <a:buNone/>
            </a:pPr>
            <a:r>
              <a:rPr lang="en-US" sz="750" dirty="0">
                <a:solidFill>
                  <a:srgbClr val="4E5D55"/>
                </a:solidFill>
                <a:latin typeface="Calibri" pitchFamily="34" charset="0"/>
                <a:ea typeface="Calibri" pitchFamily="34" charset="-122"/>
                <a:cs typeface="Calibri" pitchFamily="34" charset="-120"/>
              </a:rPr>
              <a:t>Evidence attached · Confidence: confirmed · Complaint prepared · human confirms</a:t>
            </a:r>
            <a:endParaRPr lang="en-US" sz="750" dirty="0"/>
          </a:p>
        </p:txBody>
      </p:sp>
      <p:sp>
        <p:nvSpPr>
          <p:cNvPr id="24" name="Text 22"/>
          <p:cNvSpPr txBox="1"/>
          <p:nvPr/>
        </p:nvSpPr>
        <p:spPr>
          <a:xfrm>
            <a:off x="548640" y="3767328"/>
            <a:ext cx="11091672" cy="228600"/>
          </a:xfrm>
          <a:prstGeom prst="rect">
            <a:avLst/>
          </a:prstGeom>
          <a:noFill/>
          <a:ln/>
        </p:spPr>
        <p:txBody>
          <a:bodyPr wrap="square" lIns="0" tIns="0" rIns="0" bIns="0" rtlCol="0" anchor="ctr"/>
          <a:lstStyle/>
          <a:p>
            <a:pPr indent="0" marL="0">
              <a:buNone/>
            </a:pPr>
            <a:r>
              <a:rPr lang="en-US" sz="900" b="1" spc="150" kern="0" dirty="0">
                <a:solidFill>
                  <a:srgbClr val="4E5D55"/>
                </a:solidFill>
                <a:latin typeface="Calibri" pitchFamily="34" charset="0"/>
                <a:ea typeface="Calibri" pitchFamily="34" charset="-122"/>
                <a:cs typeface="Calibri" pitchFamily="34" charset="-120"/>
              </a:rPr>
              <a:t>SYSTEM ARCHITECTURE AS BUILT   ·   green = deterministic decision path   ·   gold = LLM / OCR explanation path (never decides)</a:t>
            </a:r>
            <a:endParaRPr lang="en-US" sz="900" dirty="0"/>
          </a:p>
        </p:txBody>
      </p:sp>
      <p:sp>
        <p:nvSpPr>
          <p:cNvPr id="25" name="Shape 23"/>
          <p:cNvSpPr/>
          <p:nvPr/>
        </p:nvSpPr>
        <p:spPr>
          <a:xfrm>
            <a:off x="548640" y="4023360"/>
            <a:ext cx="857250" cy="960120"/>
          </a:xfrm>
          <a:prstGeom prst="rect">
            <a:avLst/>
          </a:prstGeom>
          <a:solidFill>
            <a:srgbClr val="E3EFE7"/>
          </a:solidFill>
          <a:ln w="9525">
            <a:solidFill>
              <a:srgbClr val="1E6A44"/>
            </a:solidFill>
            <a:prstDash val="solid"/>
          </a:ln>
        </p:spPr>
      </p:sp>
      <p:sp>
        <p:nvSpPr>
          <p:cNvPr id="26" name="Text 24"/>
          <p:cNvSpPr txBox="1"/>
          <p:nvPr/>
        </p:nvSpPr>
        <p:spPr>
          <a:xfrm>
            <a:off x="594360" y="4078224"/>
            <a:ext cx="765810" cy="457200"/>
          </a:xfrm>
          <a:prstGeom prst="rect">
            <a:avLst/>
          </a:prstGeom>
          <a:noFill/>
          <a:ln/>
        </p:spPr>
        <p:txBody>
          <a:bodyPr wrap="square" lIns="0" tIns="0" rIns="0" bIns="0" rtlCol="0" anchor="t"/>
          <a:lstStyle/>
          <a:p>
            <a:pPr indent="0" marL="0">
              <a:buNone/>
            </a:pPr>
            <a:r>
              <a:rPr lang="en-US" sz="850" b="1" dirty="0">
                <a:solidFill>
                  <a:srgbClr val="1E6A44"/>
                </a:solidFill>
                <a:latin typeface="Cambria" pitchFamily="34" charset="0"/>
                <a:ea typeface="Cambria" pitchFamily="34" charset="-122"/>
                <a:cs typeface="Cambria" pitchFamily="34" charset="-120"/>
              </a:rPr>
              <a:t>Statement / passbook</a:t>
            </a:r>
            <a:endParaRPr lang="en-US" sz="850" dirty="0"/>
          </a:p>
        </p:txBody>
      </p:sp>
      <p:sp>
        <p:nvSpPr>
          <p:cNvPr id="27" name="Text 25"/>
          <p:cNvSpPr txBox="1"/>
          <p:nvPr/>
        </p:nvSpPr>
        <p:spPr>
          <a:xfrm>
            <a:off x="594360" y="4553712"/>
            <a:ext cx="765810" cy="411480"/>
          </a:xfrm>
          <a:prstGeom prst="rect">
            <a:avLst/>
          </a:prstGeom>
          <a:noFill/>
          <a:ln/>
        </p:spPr>
        <p:txBody>
          <a:bodyPr wrap="square" lIns="0" tIns="0" rIns="0" bIns="0" rtlCol="0" anchor="t"/>
          <a:lstStyle/>
          <a:p>
            <a:pPr indent="0" marL="0">
              <a:buNone/>
            </a:pPr>
            <a:r>
              <a:rPr lang="en-US" sz="700" dirty="0">
                <a:solidFill>
                  <a:srgbClr val="18261F"/>
                </a:solidFill>
                <a:latin typeface="Calibri" pitchFamily="34" charset="0"/>
                <a:ea typeface="Calibri" pitchFamily="34" charset="-122"/>
                <a:cs typeface="Calibri" pitchFamily="34" charset="-120"/>
              </a:rPr>
              <a:t>CSV · PDF · photo</a:t>
            </a:r>
            <a:endParaRPr lang="en-US" sz="700" dirty="0"/>
          </a:p>
        </p:txBody>
      </p:sp>
      <p:sp>
        <p:nvSpPr>
          <p:cNvPr id="28" name="Shape 26"/>
          <p:cNvSpPr/>
          <p:nvPr/>
        </p:nvSpPr>
        <p:spPr>
          <a:xfrm>
            <a:off x="1479042" y="4023360"/>
            <a:ext cx="857250" cy="960120"/>
          </a:xfrm>
          <a:prstGeom prst="rect">
            <a:avLst/>
          </a:prstGeom>
          <a:solidFill>
            <a:srgbClr val="F6EDD3"/>
          </a:solidFill>
          <a:ln w="9525">
            <a:solidFill>
              <a:srgbClr val="C9961A"/>
            </a:solidFill>
            <a:prstDash val="solid"/>
          </a:ln>
        </p:spPr>
      </p:sp>
      <p:sp>
        <p:nvSpPr>
          <p:cNvPr id="29" name="Text 27"/>
          <p:cNvSpPr txBox="1"/>
          <p:nvPr/>
        </p:nvSpPr>
        <p:spPr>
          <a:xfrm>
            <a:off x="1524762" y="4078224"/>
            <a:ext cx="765810" cy="457200"/>
          </a:xfrm>
          <a:prstGeom prst="rect">
            <a:avLst/>
          </a:prstGeom>
          <a:noFill/>
          <a:ln/>
        </p:spPr>
        <p:txBody>
          <a:bodyPr wrap="square" lIns="0" tIns="0" rIns="0" bIns="0" rtlCol="0" anchor="t"/>
          <a:lstStyle/>
          <a:p>
            <a:pPr indent="0" marL="0">
              <a:buNone/>
            </a:pPr>
            <a:r>
              <a:rPr lang="en-US" sz="850" b="1" dirty="0">
                <a:solidFill>
                  <a:srgbClr val="7A5A0E"/>
                </a:solidFill>
                <a:latin typeface="Cambria" pitchFamily="34" charset="0"/>
                <a:ea typeface="Cambria" pitchFamily="34" charset="-122"/>
                <a:cs typeface="Cambria" pitchFamily="34" charset="-120"/>
              </a:rPr>
              <a:t>Parser / OCR</a:t>
            </a:r>
            <a:endParaRPr lang="en-US" sz="850" dirty="0"/>
          </a:p>
        </p:txBody>
      </p:sp>
      <p:sp>
        <p:nvSpPr>
          <p:cNvPr id="30" name="Text 28"/>
          <p:cNvSpPr txBox="1"/>
          <p:nvPr/>
        </p:nvSpPr>
        <p:spPr>
          <a:xfrm>
            <a:off x="1524762" y="4553712"/>
            <a:ext cx="765810" cy="411480"/>
          </a:xfrm>
          <a:prstGeom prst="rect">
            <a:avLst/>
          </a:prstGeom>
          <a:noFill/>
          <a:ln/>
        </p:spPr>
        <p:txBody>
          <a:bodyPr wrap="square" lIns="0" tIns="0" rIns="0" bIns="0" rtlCol="0" anchor="t"/>
          <a:lstStyle/>
          <a:p>
            <a:pPr indent="0" marL="0">
              <a:buNone/>
            </a:pPr>
            <a:r>
              <a:rPr lang="en-US" sz="700" dirty="0">
                <a:solidFill>
                  <a:srgbClr val="18261F"/>
                </a:solidFill>
                <a:latin typeface="Calibri" pitchFamily="34" charset="0"/>
                <a:ea typeface="Calibri" pitchFamily="34" charset="-122"/>
                <a:cs typeface="Calibri" pitchFamily="34" charset="-120"/>
              </a:rPr>
              <a:t>lines → transactions</a:t>
            </a:r>
            <a:endParaRPr lang="en-US" sz="700" dirty="0"/>
          </a:p>
        </p:txBody>
      </p:sp>
      <p:sp>
        <p:nvSpPr>
          <p:cNvPr id="31" name="Shape 29"/>
          <p:cNvSpPr/>
          <p:nvPr/>
        </p:nvSpPr>
        <p:spPr>
          <a:xfrm>
            <a:off x="2409444" y="4023360"/>
            <a:ext cx="857250" cy="960120"/>
          </a:xfrm>
          <a:prstGeom prst="rect">
            <a:avLst/>
          </a:prstGeom>
          <a:solidFill>
            <a:srgbClr val="E3EFE7"/>
          </a:solidFill>
          <a:ln w="9525">
            <a:solidFill>
              <a:srgbClr val="1E6A44"/>
            </a:solidFill>
            <a:prstDash val="solid"/>
          </a:ln>
        </p:spPr>
      </p:sp>
      <p:sp>
        <p:nvSpPr>
          <p:cNvPr id="32" name="Text 30"/>
          <p:cNvSpPr txBox="1"/>
          <p:nvPr/>
        </p:nvSpPr>
        <p:spPr>
          <a:xfrm>
            <a:off x="2455164" y="4078224"/>
            <a:ext cx="765810" cy="457200"/>
          </a:xfrm>
          <a:prstGeom prst="rect">
            <a:avLst/>
          </a:prstGeom>
          <a:noFill/>
          <a:ln/>
        </p:spPr>
        <p:txBody>
          <a:bodyPr wrap="square" lIns="0" tIns="0" rIns="0" bIns="0" rtlCol="0" anchor="t"/>
          <a:lstStyle/>
          <a:p>
            <a:pPr indent="0" marL="0">
              <a:buNone/>
            </a:pPr>
            <a:r>
              <a:rPr lang="en-US" sz="850" b="1" dirty="0">
                <a:solidFill>
                  <a:srgbClr val="1E6A44"/>
                </a:solidFill>
                <a:latin typeface="Cambria" pitchFamily="34" charset="0"/>
                <a:ea typeface="Cambria" pitchFamily="34" charset="-122"/>
                <a:cs typeface="Cambria" pitchFamily="34" charset="-120"/>
              </a:rPr>
              <a:t>Classification</a:t>
            </a:r>
            <a:endParaRPr lang="en-US" sz="850" dirty="0"/>
          </a:p>
        </p:txBody>
      </p:sp>
      <p:sp>
        <p:nvSpPr>
          <p:cNvPr id="33" name="Text 31"/>
          <p:cNvSpPr txBox="1"/>
          <p:nvPr/>
        </p:nvSpPr>
        <p:spPr>
          <a:xfrm>
            <a:off x="2455164" y="4553712"/>
            <a:ext cx="765810" cy="411480"/>
          </a:xfrm>
          <a:prstGeom prst="rect">
            <a:avLst/>
          </a:prstGeom>
          <a:noFill/>
          <a:ln/>
        </p:spPr>
        <p:txBody>
          <a:bodyPr wrap="square" lIns="0" tIns="0" rIns="0" bIns="0" rtlCol="0" anchor="t"/>
          <a:lstStyle/>
          <a:p>
            <a:pPr indent="0" marL="0">
              <a:buNone/>
            </a:pPr>
            <a:r>
              <a:rPr lang="en-US" sz="700" dirty="0">
                <a:solidFill>
                  <a:srgbClr val="18261F"/>
                </a:solidFill>
                <a:latin typeface="Calibri" pitchFamily="34" charset="0"/>
                <a:ea typeface="Calibri" pitchFamily="34" charset="-122"/>
                <a:cs typeface="Calibri" pitchFamily="34" charset="-120"/>
              </a:rPr>
              <a:t>channel · kind · own-bank ATM</a:t>
            </a:r>
            <a:endParaRPr lang="en-US" sz="700" dirty="0"/>
          </a:p>
        </p:txBody>
      </p:sp>
      <p:sp>
        <p:nvSpPr>
          <p:cNvPr id="34" name="Shape 32"/>
          <p:cNvSpPr/>
          <p:nvPr/>
        </p:nvSpPr>
        <p:spPr>
          <a:xfrm>
            <a:off x="3339846" y="4023360"/>
            <a:ext cx="857250" cy="960120"/>
          </a:xfrm>
          <a:prstGeom prst="rect">
            <a:avLst/>
          </a:prstGeom>
          <a:solidFill>
            <a:srgbClr val="E3EFE7"/>
          </a:solidFill>
          <a:ln w="9525">
            <a:solidFill>
              <a:srgbClr val="1E6A44"/>
            </a:solidFill>
            <a:prstDash val="solid"/>
          </a:ln>
        </p:spPr>
      </p:sp>
      <p:sp>
        <p:nvSpPr>
          <p:cNvPr id="35" name="Text 33"/>
          <p:cNvSpPr txBox="1"/>
          <p:nvPr/>
        </p:nvSpPr>
        <p:spPr>
          <a:xfrm>
            <a:off x="3385566" y="4078224"/>
            <a:ext cx="765810" cy="457200"/>
          </a:xfrm>
          <a:prstGeom prst="rect">
            <a:avLst/>
          </a:prstGeom>
          <a:noFill/>
          <a:ln/>
        </p:spPr>
        <p:txBody>
          <a:bodyPr wrap="square" lIns="0" tIns="0" rIns="0" bIns="0" rtlCol="0" anchor="t"/>
          <a:lstStyle/>
          <a:p>
            <a:pPr indent="0" marL="0">
              <a:buNone/>
            </a:pPr>
            <a:r>
              <a:rPr lang="en-US" sz="850" b="1" dirty="0">
                <a:solidFill>
                  <a:srgbClr val="1E6A44"/>
                </a:solidFill>
                <a:latin typeface="Cambria" pitchFamily="34" charset="0"/>
                <a:ea typeface="Cambria" pitchFamily="34" charset="-122"/>
                <a:cs typeface="Cambria" pitchFamily="34" charset="-120"/>
              </a:rPr>
              <a:t>Debit ↔ reversal pairing</a:t>
            </a:r>
            <a:endParaRPr lang="en-US" sz="850" dirty="0"/>
          </a:p>
        </p:txBody>
      </p:sp>
      <p:sp>
        <p:nvSpPr>
          <p:cNvPr id="36" name="Text 34"/>
          <p:cNvSpPr txBox="1"/>
          <p:nvPr/>
        </p:nvSpPr>
        <p:spPr>
          <a:xfrm>
            <a:off x="3385566" y="4553712"/>
            <a:ext cx="765810" cy="411480"/>
          </a:xfrm>
          <a:prstGeom prst="rect">
            <a:avLst/>
          </a:prstGeom>
          <a:noFill/>
          <a:ln/>
        </p:spPr>
        <p:txBody>
          <a:bodyPr wrap="square" lIns="0" tIns="0" rIns="0" bIns="0" rtlCol="0" anchor="t"/>
          <a:lstStyle/>
          <a:p>
            <a:pPr indent="0" marL="0">
              <a:buNone/>
            </a:pPr>
            <a:r>
              <a:rPr lang="en-US" sz="700" dirty="0">
                <a:solidFill>
                  <a:srgbClr val="18261F"/>
                </a:solidFill>
                <a:latin typeface="Calibri" pitchFamily="34" charset="0"/>
                <a:ea typeface="Calibri" pitchFamily="34" charset="-122"/>
                <a:cs typeface="Calibri" pitchFamily="34" charset="-120"/>
              </a:rPr>
              <a:t>ref · amount · partial sums</a:t>
            </a:r>
            <a:endParaRPr lang="en-US" sz="700" dirty="0"/>
          </a:p>
        </p:txBody>
      </p:sp>
      <p:sp>
        <p:nvSpPr>
          <p:cNvPr id="37" name="Shape 35"/>
          <p:cNvSpPr/>
          <p:nvPr/>
        </p:nvSpPr>
        <p:spPr>
          <a:xfrm>
            <a:off x="4270248" y="4023360"/>
            <a:ext cx="857250" cy="960120"/>
          </a:xfrm>
          <a:prstGeom prst="rect">
            <a:avLst/>
          </a:prstGeom>
          <a:solidFill>
            <a:srgbClr val="E3EFE7"/>
          </a:solidFill>
          <a:ln w="9525">
            <a:solidFill>
              <a:srgbClr val="1E6A44"/>
            </a:solidFill>
            <a:prstDash val="solid"/>
          </a:ln>
        </p:spPr>
      </p:sp>
      <p:sp>
        <p:nvSpPr>
          <p:cNvPr id="38" name="Text 36"/>
          <p:cNvSpPr txBox="1"/>
          <p:nvPr/>
        </p:nvSpPr>
        <p:spPr>
          <a:xfrm>
            <a:off x="4315968" y="4078224"/>
            <a:ext cx="765810" cy="457200"/>
          </a:xfrm>
          <a:prstGeom prst="rect">
            <a:avLst/>
          </a:prstGeom>
          <a:noFill/>
          <a:ln/>
        </p:spPr>
        <p:txBody>
          <a:bodyPr wrap="square" lIns="0" tIns="0" rIns="0" bIns="0" rtlCol="0" anchor="t"/>
          <a:lstStyle/>
          <a:p>
            <a:pPr indent="0" marL="0">
              <a:buNone/>
            </a:pPr>
            <a:r>
              <a:rPr lang="en-US" sz="850" b="1" dirty="0">
                <a:solidFill>
                  <a:srgbClr val="1E6A44"/>
                </a:solidFill>
                <a:latin typeface="Cambria" pitchFamily="34" charset="0"/>
                <a:ea typeface="Cambria" pitchFamily="34" charset="-122"/>
                <a:cs typeface="Cambria" pitchFamily="34" charset="-120"/>
              </a:rPr>
              <a:t>Account state</a:t>
            </a:r>
            <a:endParaRPr lang="en-US" sz="850" dirty="0"/>
          </a:p>
        </p:txBody>
      </p:sp>
      <p:sp>
        <p:nvSpPr>
          <p:cNvPr id="39" name="Text 37"/>
          <p:cNvSpPr txBox="1"/>
          <p:nvPr/>
        </p:nvSpPr>
        <p:spPr>
          <a:xfrm>
            <a:off x="4315968" y="4553712"/>
            <a:ext cx="765810" cy="411480"/>
          </a:xfrm>
          <a:prstGeom prst="rect">
            <a:avLst/>
          </a:prstGeom>
          <a:noFill/>
          <a:ln/>
        </p:spPr>
        <p:txBody>
          <a:bodyPr wrap="square" lIns="0" tIns="0" rIns="0" bIns="0" rtlCol="0" anchor="t"/>
          <a:lstStyle/>
          <a:p>
            <a:pPr indent="0" marL="0">
              <a:buNone/>
            </a:pPr>
            <a:r>
              <a:rPr lang="en-US" sz="700" dirty="0">
                <a:solidFill>
                  <a:srgbClr val="18261F"/>
                </a:solidFill>
                <a:latin typeface="Calibri" pitchFamily="34" charset="0"/>
                <a:ea typeface="Calibri" pitchFamily="34" charset="-122"/>
                <a:cs typeface="Calibri" pitchFamily="34" charset="-120"/>
              </a:rPr>
              <a:t>balance path · monthly counts</a:t>
            </a:r>
            <a:endParaRPr lang="en-US" sz="700" dirty="0"/>
          </a:p>
        </p:txBody>
      </p:sp>
      <p:sp>
        <p:nvSpPr>
          <p:cNvPr id="40" name="Shape 38"/>
          <p:cNvSpPr/>
          <p:nvPr/>
        </p:nvSpPr>
        <p:spPr>
          <a:xfrm>
            <a:off x="5200650" y="4023360"/>
            <a:ext cx="857250" cy="960120"/>
          </a:xfrm>
          <a:prstGeom prst="rect">
            <a:avLst/>
          </a:prstGeom>
          <a:solidFill>
            <a:srgbClr val="E3EFE7"/>
          </a:solidFill>
          <a:ln w="9525">
            <a:solidFill>
              <a:srgbClr val="1E6A44"/>
            </a:solidFill>
            <a:prstDash val="solid"/>
          </a:ln>
        </p:spPr>
      </p:sp>
      <p:sp>
        <p:nvSpPr>
          <p:cNvPr id="41" name="Text 39"/>
          <p:cNvSpPr txBox="1"/>
          <p:nvPr/>
        </p:nvSpPr>
        <p:spPr>
          <a:xfrm>
            <a:off x="5246370" y="4078224"/>
            <a:ext cx="765810" cy="457200"/>
          </a:xfrm>
          <a:prstGeom prst="rect">
            <a:avLst/>
          </a:prstGeom>
          <a:noFill/>
          <a:ln/>
        </p:spPr>
        <p:txBody>
          <a:bodyPr wrap="square" lIns="0" tIns="0" rIns="0" bIns="0" rtlCol="0" anchor="t"/>
          <a:lstStyle/>
          <a:p>
            <a:pPr indent="0" marL="0">
              <a:buNone/>
            </a:pPr>
            <a:r>
              <a:rPr lang="en-US" sz="850" b="1" dirty="0">
                <a:solidFill>
                  <a:srgbClr val="1E6A44"/>
                </a:solidFill>
                <a:latin typeface="Cambria" pitchFamily="34" charset="0"/>
                <a:ea typeface="Cambria" pitchFamily="34" charset="-122"/>
                <a:cs typeface="Cambria" pitchFamily="34" charset="-120"/>
              </a:rPr>
              <a:t>Regulatory twin</a:t>
            </a:r>
            <a:endParaRPr lang="en-US" sz="850" dirty="0"/>
          </a:p>
        </p:txBody>
      </p:sp>
      <p:sp>
        <p:nvSpPr>
          <p:cNvPr id="42" name="Text 40"/>
          <p:cNvSpPr txBox="1"/>
          <p:nvPr/>
        </p:nvSpPr>
        <p:spPr>
          <a:xfrm>
            <a:off x="5246370" y="4553712"/>
            <a:ext cx="765810" cy="411480"/>
          </a:xfrm>
          <a:prstGeom prst="rect">
            <a:avLst/>
          </a:prstGeom>
          <a:noFill/>
          <a:ln/>
        </p:spPr>
        <p:txBody>
          <a:bodyPr wrap="square" lIns="0" tIns="0" rIns="0" bIns="0" rtlCol="0" anchor="t"/>
          <a:lstStyle/>
          <a:p>
            <a:pPr indent="0" marL="0">
              <a:buNone/>
            </a:pPr>
            <a:r>
              <a:rPr lang="en-US" sz="700" dirty="0">
                <a:solidFill>
                  <a:srgbClr val="18261F"/>
                </a:solidFill>
                <a:latin typeface="Calibri" pitchFamily="34" charset="0"/>
                <a:ea typeface="Calibri" pitchFamily="34" charset="-122"/>
                <a:cs typeface="Calibri" pitchFamily="34" charset="-120"/>
              </a:rPr>
              <a:t>rule in force per date</a:t>
            </a:r>
            <a:endParaRPr lang="en-US" sz="700" dirty="0"/>
          </a:p>
        </p:txBody>
      </p:sp>
      <p:sp>
        <p:nvSpPr>
          <p:cNvPr id="43" name="Shape 41"/>
          <p:cNvSpPr/>
          <p:nvPr/>
        </p:nvSpPr>
        <p:spPr>
          <a:xfrm>
            <a:off x="6131052" y="4023360"/>
            <a:ext cx="857250" cy="960120"/>
          </a:xfrm>
          <a:prstGeom prst="rect">
            <a:avLst/>
          </a:prstGeom>
          <a:solidFill>
            <a:srgbClr val="E3EFE7"/>
          </a:solidFill>
          <a:ln w="9525">
            <a:solidFill>
              <a:srgbClr val="1E6A44"/>
            </a:solidFill>
            <a:prstDash val="solid"/>
          </a:ln>
        </p:spPr>
      </p:sp>
      <p:sp>
        <p:nvSpPr>
          <p:cNvPr id="44" name="Text 42"/>
          <p:cNvSpPr txBox="1"/>
          <p:nvPr/>
        </p:nvSpPr>
        <p:spPr>
          <a:xfrm>
            <a:off x="6176772" y="4078224"/>
            <a:ext cx="765810" cy="457200"/>
          </a:xfrm>
          <a:prstGeom prst="rect">
            <a:avLst/>
          </a:prstGeom>
          <a:noFill/>
          <a:ln/>
        </p:spPr>
        <p:txBody>
          <a:bodyPr wrap="square" lIns="0" tIns="0" rIns="0" bIns="0" rtlCol="0" anchor="t"/>
          <a:lstStyle/>
          <a:p>
            <a:pPr indent="0" marL="0">
              <a:buNone/>
            </a:pPr>
            <a:r>
              <a:rPr lang="en-US" sz="850" b="1" dirty="0">
                <a:solidFill>
                  <a:srgbClr val="1E6A44"/>
                </a:solidFill>
                <a:latin typeface="Cambria" pitchFamily="34" charset="0"/>
                <a:ea typeface="Cambria" pitchFamily="34" charset="-122"/>
                <a:cs typeface="Cambria" pitchFamily="34" charset="-120"/>
              </a:rPr>
              <a:t>Versioned rules</a:t>
            </a:r>
            <a:endParaRPr lang="en-US" sz="850" dirty="0"/>
          </a:p>
        </p:txBody>
      </p:sp>
      <p:sp>
        <p:nvSpPr>
          <p:cNvPr id="45" name="Text 43"/>
          <p:cNvSpPr txBox="1"/>
          <p:nvPr/>
        </p:nvSpPr>
        <p:spPr>
          <a:xfrm>
            <a:off x="6176772" y="4553712"/>
            <a:ext cx="765810" cy="411480"/>
          </a:xfrm>
          <a:prstGeom prst="rect">
            <a:avLst/>
          </a:prstGeom>
          <a:noFill/>
          <a:ln/>
        </p:spPr>
        <p:txBody>
          <a:bodyPr wrap="square" lIns="0" tIns="0" rIns="0" bIns="0" rtlCol="0" anchor="t"/>
          <a:lstStyle/>
          <a:p>
            <a:pPr indent="0" marL="0">
              <a:buNone/>
            </a:pPr>
            <a:r>
              <a:rPr lang="en-US" sz="700" dirty="0">
                <a:solidFill>
                  <a:srgbClr val="18261F"/>
                </a:solidFill>
                <a:latin typeface="Calibri" pitchFamily="34" charset="0"/>
                <a:ea typeface="Calibri" pitchFamily="34" charset="-122"/>
                <a:cs typeface="Calibri" pitchFamily="34" charset="-120"/>
              </a:rPr>
              <a:t>22 · effective windows</a:t>
            </a:r>
            <a:endParaRPr lang="en-US" sz="700" dirty="0"/>
          </a:p>
        </p:txBody>
      </p:sp>
      <p:sp>
        <p:nvSpPr>
          <p:cNvPr id="46" name="Shape 44"/>
          <p:cNvSpPr/>
          <p:nvPr/>
        </p:nvSpPr>
        <p:spPr>
          <a:xfrm>
            <a:off x="7061454" y="4023360"/>
            <a:ext cx="857250" cy="960120"/>
          </a:xfrm>
          <a:prstGeom prst="rect">
            <a:avLst/>
          </a:prstGeom>
          <a:solidFill>
            <a:srgbClr val="E3EFE7"/>
          </a:solidFill>
          <a:ln w="9525">
            <a:solidFill>
              <a:srgbClr val="1E6A44"/>
            </a:solidFill>
            <a:prstDash val="solid"/>
          </a:ln>
        </p:spPr>
      </p:sp>
      <p:sp>
        <p:nvSpPr>
          <p:cNvPr id="47" name="Text 45"/>
          <p:cNvSpPr txBox="1"/>
          <p:nvPr/>
        </p:nvSpPr>
        <p:spPr>
          <a:xfrm>
            <a:off x="7107174" y="4078224"/>
            <a:ext cx="765810" cy="457200"/>
          </a:xfrm>
          <a:prstGeom prst="rect">
            <a:avLst/>
          </a:prstGeom>
          <a:noFill/>
          <a:ln/>
        </p:spPr>
        <p:txBody>
          <a:bodyPr wrap="square" lIns="0" tIns="0" rIns="0" bIns="0" rtlCol="0" anchor="t"/>
          <a:lstStyle/>
          <a:p>
            <a:pPr indent="0" marL="0">
              <a:buNone/>
            </a:pPr>
            <a:r>
              <a:rPr lang="en-US" sz="850" b="1" dirty="0">
                <a:solidFill>
                  <a:srgbClr val="1E6A44"/>
                </a:solidFill>
                <a:latin typeface="Cambria" pitchFamily="34" charset="0"/>
                <a:ea typeface="Cambria" pitchFamily="34" charset="-122"/>
                <a:cs typeface="Cambria" pitchFamily="34" charset="-120"/>
              </a:rPr>
              <a:t>Expected vs actual</a:t>
            </a:r>
            <a:endParaRPr lang="en-US" sz="850" dirty="0"/>
          </a:p>
        </p:txBody>
      </p:sp>
      <p:sp>
        <p:nvSpPr>
          <p:cNvPr id="48" name="Text 46"/>
          <p:cNvSpPr txBox="1"/>
          <p:nvPr/>
        </p:nvSpPr>
        <p:spPr>
          <a:xfrm>
            <a:off x="7107174" y="4553712"/>
            <a:ext cx="765810" cy="411480"/>
          </a:xfrm>
          <a:prstGeom prst="rect">
            <a:avLst/>
          </a:prstGeom>
          <a:noFill/>
          <a:ln/>
        </p:spPr>
        <p:txBody>
          <a:bodyPr wrap="square" lIns="0" tIns="0" rIns="0" bIns="0" rtlCol="0" anchor="t"/>
          <a:lstStyle/>
          <a:p>
            <a:pPr indent="0" marL="0">
              <a:buNone/>
            </a:pPr>
            <a:r>
              <a:rPr lang="en-US" sz="700" dirty="0">
                <a:solidFill>
                  <a:srgbClr val="18261F"/>
                </a:solidFill>
                <a:latin typeface="Calibri" pitchFamily="34" charset="0"/>
                <a:ea typeface="Calibri" pitchFamily="34" charset="-122"/>
                <a:cs typeface="Calibri" pitchFamily="34" charset="-120"/>
              </a:rPr>
              <a:t>per transaction</a:t>
            </a:r>
            <a:endParaRPr lang="en-US" sz="700" dirty="0"/>
          </a:p>
        </p:txBody>
      </p:sp>
      <p:sp>
        <p:nvSpPr>
          <p:cNvPr id="49" name="Shape 47"/>
          <p:cNvSpPr/>
          <p:nvPr/>
        </p:nvSpPr>
        <p:spPr>
          <a:xfrm>
            <a:off x="7991856" y="4023360"/>
            <a:ext cx="857250" cy="960120"/>
          </a:xfrm>
          <a:prstGeom prst="rect">
            <a:avLst/>
          </a:prstGeom>
          <a:solidFill>
            <a:srgbClr val="E3EFE7"/>
          </a:solidFill>
          <a:ln w="9525">
            <a:solidFill>
              <a:srgbClr val="1E6A44"/>
            </a:solidFill>
            <a:prstDash val="solid"/>
          </a:ln>
        </p:spPr>
      </p:sp>
      <p:sp>
        <p:nvSpPr>
          <p:cNvPr id="50" name="Text 48"/>
          <p:cNvSpPr txBox="1"/>
          <p:nvPr/>
        </p:nvSpPr>
        <p:spPr>
          <a:xfrm>
            <a:off x="8037576" y="4078224"/>
            <a:ext cx="765810" cy="457200"/>
          </a:xfrm>
          <a:prstGeom prst="rect">
            <a:avLst/>
          </a:prstGeom>
          <a:noFill/>
          <a:ln/>
        </p:spPr>
        <p:txBody>
          <a:bodyPr wrap="square" lIns="0" tIns="0" rIns="0" bIns="0" rtlCol="0" anchor="t"/>
          <a:lstStyle/>
          <a:p>
            <a:pPr indent="0" marL="0">
              <a:buNone/>
            </a:pPr>
            <a:r>
              <a:rPr lang="en-US" sz="850" b="1" dirty="0">
                <a:solidFill>
                  <a:srgbClr val="1E6A44"/>
                </a:solidFill>
                <a:latin typeface="Cambria" pitchFamily="34" charset="0"/>
                <a:ea typeface="Cambria" pitchFamily="34" charset="-122"/>
                <a:cs typeface="Cambria" pitchFamily="34" charset="-120"/>
              </a:rPr>
              <a:t>Delta</a:t>
            </a:r>
            <a:endParaRPr lang="en-US" sz="850" dirty="0"/>
          </a:p>
        </p:txBody>
      </p:sp>
      <p:sp>
        <p:nvSpPr>
          <p:cNvPr id="51" name="Text 49"/>
          <p:cNvSpPr txBox="1"/>
          <p:nvPr/>
        </p:nvSpPr>
        <p:spPr>
          <a:xfrm>
            <a:off x="8037576" y="4553712"/>
            <a:ext cx="765810" cy="411480"/>
          </a:xfrm>
          <a:prstGeom prst="rect">
            <a:avLst/>
          </a:prstGeom>
          <a:noFill/>
          <a:ln/>
        </p:spPr>
        <p:txBody>
          <a:bodyPr wrap="square" lIns="0" tIns="0" rIns="0" bIns="0" rtlCol="0" anchor="t"/>
          <a:lstStyle/>
          <a:p>
            <a:pPr indent="0" marL="0">
              <a:buNone/>
            </a:pPr>
            <a:r>
              <a:rPr lang="en-US" sz="700" dirty="0">
                <a:solidFill>
                  <a:srgbClr val="18261F"/>
                </a:solidFill>
                <a:latin typeface="Calibri" pitchFamily="34" charset="0"/>
                <a:ea typeface="Calibri" pitchFamily="34" charset="-122"/>
                <a:cs typeface="Calibri" pitchFamily="34" charset="-120"/>
              </a:rPr>
              <a:t>₹ calculation</a:t>
            </a:r>
            <a:endParaRPr lang="en-US" sz="700" dirty="0"/>
          </a:p>
        </p:txBody>
      </p:sp>
      <p:sp>
        <p:nvSpPr>
          <p:cNvPr id="52" name="Shape 50"/>
          <p:cNvSpPr/>
          <p:nvPr/>
        </p:nvSpPr>
        <p:spPr>
          <a:xfrm>
            <a:off x="8922258" y="4023360"/>
            <a:ext cx="857250" cy="960120"/>
          </a:xfrm>
          <a:prstGeom prst="rect">
            <a:avLst/>
          </a:prstGeom>
          <a:solidFill>
            <a:srgbClr val="E3EFE7"/>
          </a:solidFill>
          <a:ln w="9525">
            <a:solidFill>
              <a:srgbClr val="1E6A44"/>
            </a:solidFill>
            <a:prstDash val="solid"/>
          </a:ln>
        </p:spPr>
      </p:sp>
      <p:sp>
        <p:nvSpPr>
          <p:cNvPr id="53" name="Text 51"/>
          <p:cNvSpPr txBox="1"/>
          <p:nvPr/>
        </p:nvSpPr>
        <p:spPr>
          <a:xfrm>
            <a:off x="8967978" y="4078224"/>
            <a:ext cx="765810" cy="457200"/>
          </a:xfrm>
          <a:prstGeom prst="rect">
            <a:avLst/>
          </a:prstGeom>
          <a:noFill/>
          <a:ln/>
        </p:spPr>
        <p:txBody>
          <a:bodyPr wrap="square" lIns="0" tIns="0" rIns="0" bIns="0" rtlCol="0" anchor="t"/>
          <a:lstStyle/>
          <a:p>
            <a:pPr indent="0" marL="0">
              <a:buNone/>
            </a:pPr>
            <a:r>
              <a:rPr lang="en-US" sz="850" b="1" dirty="0">
                <a:solidFill>
                  <a:srgbClr val="1E6A44"/>
                </a:solidFill>
                <a:latin typeface="Cambria" pitchFamily="34" charset="0"/>
                <a:ea typeface="Cambria" pitchFamily="34" charset="-122"/>
                <a:cs typeface="Cambria" pitchFamily="34" charset="-120"/>
              </a:rPr>
              <a:t>Evidence + confidence</a:t>
            </a:r>
            <a:endParaRPr lang="en-US" sz="850" dirty="0"/>
          </a:p>
        </p:txBody>
      </p:sp>
      <p:sp>
        <p:nvSpPr>
          <p:cNvPr id="54" name="Text 52"/>
          <p:cNvSpPr txBox="1"/>
          <p:nvPr/>
        </p:nvSpPr>
        <p:spPr>
          <a:xfrm>
            <a:off x="8967978" y="4553712"/>
            <a:ext cx="765810" cy="411480"/>
          </a:xfrm>
          <a:prstGeom prst="rect">
            <a:avLst/>
          </a:prstGeom>
          <a:noFill/>
          <a:ln/>
        </p:spPr>
        <p:txBody>
          <a:bodyPr wrap="square" lIns="0" tIns="0" rIns="0" bIns="0" rtlCol="0" anchor="t"/>
          <a:lstStyle/>
          <a:p>
            <a:pPr indent="0" marL="0">
              <a:buNone/>
            </a:pPr>
            <a:r>
              <a:rPr lang="en-US" sz="700" dirty="0">
                <a:solidFill>
                  <a:srgbClr val="18261F"/>
                </a:solidFill>
                <a:latin typeface="Calibri" pitchFamily="34" charset="0"/>
                <a:ea typeface="Calibri" pitchFamily="34" charset="-122"/>
                <a:cs typeface="Calibri" pitchFamily="34" charset="-120"/>
              </a:rPr>
              <a:t>lines · label</a:t>
            </a:r>
            <a:endParaRPr lang="en-US" sz="700" dirty="0"/>
          </a:p>
        </p:txBody>
      </p:sp>
      <p:sp>
        <p:nvSpPr>
          <p:cNvPr id="55" name="Shape 53"/>
          <p:cNvSpPr/>
          <p:nvPr/>
        </p:nvSpPr>
        <p:spPr>
          <a:xfrm>
            <a:off x="9852660" y="4023360"/>
            <a:ext cx="857250" cy="960120"/>
          </a:xfrm>
          <a:prstGeom prst="rect">
            <a:avLst/>
          </a:prstGeom>
          <a:solidFill>
            <a:srgbClr val="E3EFE7"/>
          </a:solidFill>
          <a:ln w="9525">
            <a:solidFill>
              <a:srgbClr val="1E6A44"/>
            </a:solidFill>
            <a:prstDash val="solid"/>
          </a:ln>
        </p:spPr>
      </p:sp>
      <p:sp>
        <p:nvSpPr>
          <p:cNvPr id="56" name="Text 54"/>
          <p:cNvSpPr txBox="1"/>
          <p:nvPr/>
        </p:nvSpPr>
        <p:spPr>
          <a:xfrm>
            <a:off x="9898380" y="4078224"/>
            <a:ext cx="765810" cy="457200"/>
          </a:xfrm>
          <a:prstGeom prst="rect">
            <a:avLst/>
          </a:prstGeom>
          <a:noFill/>
          <a:ln/>
        </p:spPr>
        <p:txBody>
          <a:bodyPr wrap="square" lIns="0" tIns="0" rIns="0" bIns="0" rtlCol="0" anchor="t"/>
          <a:lstStyle/>
          <a:p>
            <a:pPr indent="0" marL="0">
              <a:buNone/>
            </a:pPr>
            <a:r>
              <a:rPr lang="en-US" sz="850" b="1" dirty="0">
                <a:solidFill>
                  <a:srgbClr val="1E6A44"/>
                </a:solidFill>
                <a:latin typeface="Cambria" pitchFamily="34" charset="0"/>
                <a:ea typeface="Cambria" pitchFamily="34" charset="-122"/>
                <a:cs typeface="Cambria" pitchFamily="34" charset="-120"/>
              </a:rPr>
              <a:t>Complaint + clock</a:t>
            </a:r>
            <a:endParaRPr lang="en-US" sz="850" dirty="0"/>
          </a:p>
        </p:txBody>
      </p:sp>
      <p:sp>
        <p:nvSpPr>
          <p:cNvPr id="57" name="Text 55"/>
          <p:cNvSpPr txBox="1"/>
          <p:nvPr/>
        </p:nvSpPr>
        <p:spPr>
          <a:xfrm>
            <a:off x="9898380" y="4553712"/>
            <a:ext cx="765810" cy="411480"/>
          </a:xfrm>
          <a:prstGeom prst="rect">
            <a:avLst/>
          </a:prstGeom>
          <a:noFill/>
          <a:ln/>
        </p:spPr>
        <p:txBody>
          <a:bodyPr wrap="square" lIns="0" tIns="0" rIns="0" bIns="0" rtlCol="0" anchor="t"/>
          <a:lstStyle/>
          <a:p>
            <a:pPr indent="0" marL="0">
              <a:buNone/>
            </a:pPr>
            <a:r>
              <a:rPr lang="en-US" sz="700" dirty="0">
                <a:solidFill>
                  <a:srgbClr val="18261F"/>
                </a:solidFill>
                <a:latin typeface="Calibri" pitchFamily="34" charset="0"/>
                <a:ea typeface="Calibri" pitchFamily="34" charset="-122"/>
                <a:cs typeface="Calibri" pitchFamily="34" charset="-120"/>
              </a:rPr>
              <a:t>human confirms · 30 days</a:t>
            </a:r>
            <a:endParaRPr lang="en-US" sz="700" dirty="0"/>
          </a:p>
        </p:txBody>
      </p:sp>
      <p:sp>
        <p:nvSpPr>
          <p:cNvPr id="58" name="Shape 56"/>
          <p:cNvSpPr/>
          <p:nvPr/>
        </p:nvSpPr>
        <p:spPr>
          <a:xfrm>
            <a:off x="10783062" y="4023360"/>
            <a:ext cx="857250" cy="960120"/>
          </a:xfrm>
          <a:prstGeom prst="rect">
            <a:avLst/>
          </a:prstGeom>
          <a:solidFill>
            <a:srgbClr val="F6EDD3"/>
          </a:solidFill>
          <a:ln w="9525">
            <a:solidFill>
              <a:srgbClr val="C9961A"/>
            </a:solidFill>
            <a:prstDash val="solid"/>
          </a:ln>
        </p:spPr>
      </p:sp>
      <p:sp>
        <p:nvSpPr>
          <p:cNvPr id="59" name="Text 57"/>
          <p:cNvSpPr txBox="1"/>
          <p:nvPr/>
        </p:nvSpPr>
        <p:spPr>
          <a:xfrm>
            <a:off x="10828782" y="4078224"/>
            <a:ext cx="765810" cy="457200"/>
          </a:xfrm>
          <a:prstGeom prst="rect">
            <a:avLst/>
          </a:prstGeom>
          <a:noFill/>
          <a:ln/>
        </p:spPr>
        <p:txBody>
          <a:bodyPr wrap="square" lIns="0" tIns="0" rIns="0" bIns="0" rtlCol="0" anchor="t"/>
          <a:lstStyle/>
          <a:p>
            <a:pPr indent="0" marL="0">
              <a:buNone/>
            </a:pPr>
            <a:r>
              <a:rPr lang="en-US" sz="850" b="1" dirty="0">
                <a:solidFill>
                  <a:srgbClr val="7A5A0E"/>
                </a:solidFill>
                <a:latin typeface="Cambria" pitchFamily="34" charset="0"/>
                <a:ea typeface="Cambria" pitchFamily="34" charset="-122"/>
                <a:cs typeface="Cambria" pitchFamily="34" charset="-120"/>
              </a:rPr>
              <a:t>LLM explanation</a:t>
            </a:r>
            <a:endParaRPr lang="en-US" sz="850" dirty="0"/>
          </a:p>
        </p:txBody>
      </p:sp>
      <p:sp>
        <p:nvSpPr>
          <p:cNvPr id="60" name="Text 58"/>
          <p:cNvSpPr txBox="1"/>
          <p:nvPr/>
        </p:nvSpPr>
        <p:spPr>
          <a:xfrm>
            <a:off x="10828782" y="4553712"/>
            <a:ext cx="765810" cy="411480"/>
          </a:xfrm>
          <a:prstGeom prst="rect">
            <a:avLst/>
          </a:prstGeom>
          <a:noFill/>
          <a:ln/>
        </p:spPr>
        <p:txBody>
          <a:bodyPr wrap="square" lIns="0" tIns="0" rIns="0" bIns="0" rtlCol="0" anchor="t"/>
          <a:lstStyle/>
          <a:p>
            <a:pPr indent="0" marL="0">
              <a:buNone/>
            </a:pPr>
            <a:r>
              <a:rPr lang="en-US" sz="700" dirty="0">
                <a:solidFill>
                  <a:srgbClr val="18261F"/>
                </a:solidFill>
                <a:latin typeface="Calibri" pitchFamily="34" charset="0"/>
                <a:ea typeface="Calibri" pitchFamily="34" charset="-122"/>
                <a:cs typeface="Calibri" pitchFamily="34" charset="-120"/>
              </a:rPr>
              <a:t>Tamil · voice · guardian</a:t>
            </a:r>
            <a:endParaRPr lang="en-US" sz="700" dirty="0"/>
          </a:p>
        </p:txBody>
      </p:sp>
      <p:sp>
        <p:nvSpPr>
          <p:cNvPr id="61" name="Text 59"/>
          <p:cNvSpPr txBox="1"/>
          <p:nvPr/>
        </p:nvSpPr>
        <p:spPr>
          <a:xfrm>
            <a:off x="548640" y="5120640"/>
            <a:ext cx="11091672" cy="457200"/>
          </a:xfrm>
          <a:prstGeom prst="rect">
            <a:avLst/>
          </a:prstGeom>
          <a:noFill/>
          <a:ln/>
        </p:spPr>
        <p:txBody>
          <a:bodyPr wrap="square" lIns="0" tIns="0" rIns="0" bIns="0" rtlCol="0" anchor="ctr"/>
          <a:lstStyle/>
          <a:p>
            <a:pPr indent="0" marL="0">
              <a:buNone/>
            </a:pPr>
            <a:r>
              <a:rPr lang="en-US" sz="1050" dirty="0">
                <a:solidFill>
                  <a:srgbClr val="18261F"/>
                </a:solidFill>
                <a:latin typeface="Calibri" pitchFamily="34" charset="0"/>
                <a:ea typeface="Calibri" pitchFamily="34" charset="-122"/>
                <a:cs typeface="Calibri" pitchFamily="34" charset="-120"/>
              </a:rPr>
              <a:t>Every potential claim = TRANSACTION + ACCOUNT STATE + APPLICABLE RULE + EFFECTIVE DATE + CALCULATION + EVIDENCE. Without all six: no claim. Versioned deterministic RBI rules decide; the LLM only extracts, explains and communicates.</a:t>
            </a:r>
            <a:endParaRPr lang="en-US" sz="1050" dirty="0"/>
          </a:p>
        </p:txBody>
      </p:sp>
      <p:sp>
        <p:nvSpPr>
          <p:cNvPr id="62" name="Text 60"/>
          <p:cNvSpPr txBox="1"/>
          <p:nvPr/>
        </p:nvSpPr>
        <p:spPr>
          <a:xfrm>
            <a:off x="548640" y="5596128"/>
            <a:ext cx="11091672" cy="502920"/>
          </a:xfrm>
          <a:prstGeom prst="rect">
            <a:avLst/>
          </a:prstGeom>
          <a:noFill/>
          <a:ln/>
        </p:spPr>
        <p:txBody>
          <a:bodyPr wrap="square" lIns="0" tIns="0" rIns="0" bIns="0" rtlCol="0" anchor="ctr"/>
          <a:lstStyle/>
          <a:p>
            <a:pPr indent="0" marL="0">
              <a:buNone/>
            </a:pPr>
            <a:r>
              <a:rPr lang="en-US" sz="950" dirty="0">
                <a:solidFill>
                  <a:srgbClr val="4E5D55"/>
                </a:solidFill>
                <a:latin typeface="Calibri" pitchFamily="34" charset="0"/>
                <a:ea typeface="Calibri" pitchFamily="34" charset="-122"/>
                <a:cs typeface="Calibri" pitchFamily="34" charset="-120"/>
              </a:rPr>
              <a:t>Stateful: adding an earlier statement changes the reconstructed account state, and can change a verdict (slide 8). GUARDIAN (காப்பாளர்) — accessibility, not the engine: holder called first in Tamil; one trusted person, one button; no complaint is filed without human confirmation.</a:t>
            </a:r>
            <a:endParaRPr lang="en-US" sz="950" dirty="0"/>
          </a:p>
        </p:txBody>
      </p:sp>
      <p:sp>
        <p:nvSpPr>
          <p:cNvPr id="63" name="Text 61"/>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4E5D55"/>
                </a:solidFill>
                <a:latin typeface="Calibri" pitchFamily="34" charset="0"/>
                <a:ea typeface="Calibri" pitchFamily="34" charset="-122"/>
                <a:cs typeface="Calibri" pitchFamily="34" charset="-120"/>
              </a:rPr>
              <a:t>Vasool Raja  ·  HackVerse 2.0  ·  Digital Twins &amp; FinTech</a:t>
            </a:r>
            <a:endParaRPr lang="en-US" sz="900" dirty="0"/>
          </a:p>
        </p:txBody>
      </p:sp>
      <p:sp>
        <p:nvSpPr>
          <p:cNvPr id="64" name="Text 62"/>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900" dirty="0">
                <a:solidFill>
                  <a:srgbClr val="4E5D5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3657600" cy="274320"/>
          </a:xfrm>
          <a:prstGeom prst="rect">
            <a:avLst/>
          </a:prstGeom>
          <a:noFill/>
          <a:ln/>
        </p:spPr>
        <p:txBody>
          <a:bodyPr wrap="square" lIns="0" tIns="0" rIns="0" bIns="0" rtlCol="0" anchor="ctr"/>
          <a:lstStyle/>
          <a:p>
            <a:pPr indent="0" marL="0">
              <a:buNone/>
            </a:pPr>
            <a:r>
              <a:rPr lang="en-US" sz="1000" b="1" spc="300" kern="0" dirty="0">
                <a:solidFill>
                  <a:srgbClr val="1E6A44"/>
                </a:solidFill>
                <a:latin typeface="Calibri" pitchFamily="34" charset="0"/>
                <a:ea typeface="Calibri" pitchFamily="34" charset="-122"/>
                <a:cs typeface="Calibri" pitchFamily="34" charset="-120"/>
              </a:rPr>
              <a:t>FEASIBILITY · AI SAFETY</a:t>
            </a:r>
            <a:endParaRPr lang="en-US" sz="1000" dirty="0"/>
          </a:p>
        </p:txBody>
      </p:sp>
      <p:sp>
        <p:nvSpPr>
          <p:cNvPr id="3" name="Text 1"/>
          <p:cNvSpPr txBox="1"/>
          <p:nvPr/>
        </p:nvSpPr>
        <p:spPr>
          <a:xfrm>
            <a:off x="548640" y="566928"/>
            <a:ext cx="11091672" cy="1051560"/>
          </a:xfrm>
          <a:prstGeom prst="rect">
            <a:avLst/>
          </a:prstGeom>
          <a:noFill/>
          <a:ln/>
        </p:spPr>
        <p:txBody>
          <a:bodyPr wrap="square" lIns="0" tIns="0" rIns="0" bIns="0" rtlCol="0" anchor="t"/>
          <a:lstStyle/>
          <a:p>
            <a:pPr indent="0" marL="0">
              <a:buNone/>
            </a:pPr>
            <a:r>
              <a:rPr lang="en-US" sz="3400" b="1" dirty="0">
                <a:solidFill>
                  <a:srgbClr val="A9392C"/>
                </a:solidFill>
                <a:latin typeface="Cambria" pitchFamily="34" charset="0"/>
                <a:ea typeface="Cambria" pitchFamily="34" charset="-122"/>
                <a:cs typeface="Cambria" pitchFamily="34" charset="-120"/>
              </a:rPr>
              <a:t>LLM ≠ DECISION MAKER</a:t>
            </a:r>
            <a:endParaRPr lang="en-US" sz="3400" dirty="0"/>
          </a:p>
          <a:p>
            <a:pPr indent="0" marL="0">
              <a:buNone/>
            </a:pPr>
            <a:r>
              <a:rPr lang="en-US" sz="2400" b="1" dirty="0">
                <a:solidFill>
                  <a:srgbClr val="1E6A44"/>
                </a:solidFill>
                <a:latin typeface="Cambria" pitchFamily="34" charset="0"/>
                <a:ea typeface="Cambria" pitchFamily="34" charset="-122"/>
                <a:cs typeface="Cambria" pitchFamily="34" charset="-120"/>
              </a:rPr>
              <a:t>DETERMINISTIC RULE ENGINE = DECISION MAKER</a:t>
            </a:r>
            <a:endParaRPr lang="en-US" sz="3400" dirty="0"/>
          </a:p>
        </p:txBody>
      </p:sp>
      <p:sp>
        <p:nvSpPr>
          <p:cNvPr id="4" name="Text 2"/>
          <p:cNvSpPr txBox="1"/>
          <p:nvPr/>
        </p:nvSpPr>
        <p:spPr>
          <a:xfrm>
            <a:off x="548640" y="1627632"/>
            <a:ext cx="7772400" cy="320040"/>
          </a:xfrm>
          <a:prstGeom prst="rect">
            <a:avLst/>
          </a:prstGeom>
          <a:noFill/>
          <a:ln/>
        </p:spPr>
        <p:txBody>
          <a:bodyPr wrap="square" lIns="0" tIns="0" rIns="0" bIns="0" rtlCol="0" anchor="ctr"/>
          <a:lstStyle/>
          <a:p>
            <a:pPr indent="0" marL="0">
              <a:buNone/>
            </a:pPr>
            <a:r>
              <a:rPr lang="en-US" sz="1300" b="1" dirty="0">
                <a:solidFill>
                  <a:srgbClr val="18261F"/>
                </a:solidFill>
                <a:latin typeface="Calibri" pitchFamily="34" charset="0"/>
                <a:ea typeface="Calibri" pitchFamily="34" charset="-122"/>
                <a:cs typeface="Calibri" pitchFamily="34" charset="-120"/>
              </a:rPr>
              <a:t>The LLM extracts, explains and communicates. It cannot create a claim.</a:t>
            </a:r>
            <a:endParaRPr lang="en-US" sz="1300" dirty="0"/>
          </a:p>
        </p:txBody>
      </p:sp>
      <p:sp>
        <p:nvSpPr>
          <p:cNvPr id="5" name="Shape 3"/>
          <p:cNvSpPr/>
          <p:nvPr/>
        </p:nvSpPr>
        <p:spPr>
          <a:xfrm>
            <a:off x="8732520" y="1572768"/>
            <a:ext cx="2907792" cy="411480"/>
          </a:xfrm>
          <a:prstGeom prst="rect">
            <a:avLst/>
          </a:prstGeom>
          <a:solidFill>
            <a:srgbClr val="144C31"/>
          </a:solidFill>
          <a:ln w="12700">
            <a:solidFill>
              <a:srgbClr val="144C31"/>
            </a:solidFill>
            <a:prstDash val="solid"/>
          </a:ln>
        </p:spPr>
      </p:sp>
      <p:sp>
        <p:nvSpPr>
          <p:cNvPr id="6" name="Text 4"/>
          <p:cNvSpPr txBox="1"/>
          <p:nvPr/>
        </p:nvSpPr>
        <p:spPr>
          <a:xfrm>
            <a:off x="8732520" y="1572768"/>
            <a:ext cx="2907792" cy="411480"/>
          </a:xfrm>
          <a:prstGeom prst="rect">
            <a:avLst/>
          </a:prstGeom>
          <a:noFill/>
          <a:ln/>
        </p:spPr>
        <p:txBody>
          <a:bodyPr wrap="square" lIns="0" tIns="0" rIns="0" bIns="0" rtlCol="0" anchor="ctr"/>
          <a:lstStyle/>
          <a:p>
            <a:pPr algn="ctr" indent="0" marL="0">
              <a:buNone/>
            </a:pPr>
            <a:r>
              <a:rPr lang="en-US" sz="1400" b="1" dirty="0">
                <a:solidFill>
                  <a:srgbClr val="C9961A"/>
                </a:solidFill>
                <a:latin typeface="Cambria" pitchFamily="34" charset="0"/>
                <a:ea typeface="Cambria" pitchFamily="34" charset="-122"/>
                <a:cs typeface="Cambria" pitchFamily="34" charset="-120"/>
              </a:rPr>
              <a:t>NO EVIDENCE  →  NO CLAIM</a:t>
            </a:r>
            <a:endParaRPr lang="en-US" sz="1400" dirty="0"/>
          </a:p>
        </p:txBody>
      </p:sp>
      <p:sp>
        <p:nvSpPr>
          <p:cNvPr id="7" name="Text 5"/>
          <p:cNvSpPr txBox="1"/>
          <p:nvPr/>
        </p:nvSpPr>
        <p:spPr>
          <a:xfrm>
            <a:off x="548640" y="2194560"/>
            <a:ext cx="868680" cy="274320"/>
          </a:xfrm>
          <a:prstGeom prst="rect">
            <a:avLst/>
          </a:prstGeom>
          <a:noFill/>
          <a:ln/>
        </p:spPr>
        <p:txBody>
          <a:bodyPr wrap="square" lIns="0" tIns="0" rIns="0" bIns="0" rtlCol="0" anchor="ctr"/>
          <a:lstStyle/>
          <a:p>
            <a:pPr indent="0" marL="0">
              <a:buNone/>
            </a:pPr>
            <a:r>
              <a:rPr lang="en-US" sz="800" b="1" spc="150" kern="0" dirty="0">
                <a:solidFill>
                  <a:srgbClr val="1E6A44"/>
                </a:solidFill>
                <a:latin typeface="Calibri" pitchFamily="34" charset="0"/>
                <a:ea typeface="Calibri" pitchFamily="34" charset="-122"/>
                <a:cs typeface="Calibri" pitchFamily="34" charset="-120"/>
              </a:rPr>
              <a:t>HOW IT WORKS</a:t>
            </a:r>
            <a:endParaRPr lang="en-US" sz="800" dirty="0"/>
          </a:p>
        </p:txBody>
      </p:sp>
      <p:sp>
        <p:nvSpPr>
          <p:cNvPr id="8" name="Shape 6"/>
          <p:cNvSpPr/>
          <p:nvPr/>
        </p:nvSpPr>
        <p:spPr>
          <a:xfrm>
            <a:off x="1417320" y="2103120"/>
            <a:ext cx="1861718" cy="457200"/>
          </a:xfrm>
          <a:prstGeom prst="rect">
            <a:avLst/>
          </a:prstGeom>
          <a:solidFill>
            <a:srgbClr val="E3EFE7"/>
          </a:solidFill>
          <a:ln w="9525">
            <a:solidFill>
              <a:srgbClr val="1E6A44"/>
            </a:solidFill>
            <a:prstDash val="solid"/>
          </a:ln>
        </p:spPr>
      </p:sp>
      <p:sp>
        <p:nvSpPr>
          <p:cNvPr id="9" name="Text 7"/>
          <p:cNvSpPr txBox="1"/>
          <p:nvPr/>
        </p:nvSpPr>
        <p:spPr>
          <a:xfrm>
            <a:off x="1417320" y="2103120"/>
            <a:ext cx="1861718" cy="457200"/>
          </a:xfrm>
          <a:prstGeom prst="rect">
            <a:avLst/>
          </a:prstGeom>
          <a:noFill/>
          <a:ln/>
        </p:spPr>
        <p:txBody>
          <a:bodyPr wrap="square" lIns="635" tIns="635" rIns="635" bIns="635" rtlCol="0" anchor="ctr"/>
          <a:lstStyle/>
          <a:p>
            <a:pPr algn="ctr" indent="0" marL="0">
              <a:buNone/>
            </a:pPr>
            <a:r>
              <a:rPr lang="en-US" sz="1000" b="1" dirty="0">
                <a:solidFill>
                  <a:srgbClr val="18261F"/>
                </a:solidFill>
                <a:latin typeface="Calibri" pitchFamily="34" charset="0"/>
                <a:ea typeface="Calibri" pitchFamily="34" charset="-122"/>
                <a:cs typeface="Calibri" pitchFamily="34" charset="-120"/>
              </a:rPr>
              <a:t>BANK DATA</a:t>
            </a:r>
            <a:endParaRPr lang="en-US" sz="1000" dirty="0"/>
          </a:p>
        </p:txBody>
      </p:sp>
      <p:sp>
        <p:nvSpPr>
          <p:cNvPr id="10" name="Text 8"/>
          <p:cNvSpPr txBox="1"/>
          <p:nvPr/>
        </p:nvSpPr>
        <p:spPr>
          <a:xfrm>
            <a:off x="3279038" y="2103120"/>
            <a:ext cx="228600" cy="45720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11" name="Shape 9"/>
          <p:cNvSpPr/>
          <p:nvPr/>
        </p:nvSpPr>
        <p:spPr>
          <a:xfrm>
            <a:off x="3507638" y="2103120"/>
            <a:ext cx="1861718" cy="457200"/>
          </a:xfrm>
          <a:prstGeom prst="rect">
            <a:avLst/>
          </a:prstGeom>
          <a:solidFill>
            <a:srgbClr val="E3EFE7"/>
          </a:solidFill>
          <a:ln w="9525">
            <a:solidFill>
              <a:srgbClr val="1E6A44"/>
            </a:solidFill>
            <a:prstDash val="solid"/>
          </a:ln>
        </p:spPr>
      </p:sp>
      <p:sp>
        <p:nvSpPr>
          <p:cNvPr id="12" name="Text 10"/>
          <p:cNvSpPr txBox="1"/>
          <p:nvPr/>
        </p:nvSpPr>
        <p:spPr>
          <a:xfrm>
            <a:off x="3507638" y="2103120"/>
            <a:ext cx="1861718" cy="457200"/>
          </a:xfrm>
          <a:prstGeom prst="rect">
            <a:avLst/>
          </a:prstGeom>
          <a:noFill/>
          <a:ln/>
        </p:spPr>
        <p:txBody>
          <a:bodyPr wrap="square" lIns="635" tIns="635" rIns="635" bIns="635" rtlCol="0" anchor="ctr"/>
          <a:lstStyle/>
          <a:p>
            <a:pPr algn="ctr" indent="0" marL="0">
              <a:buNone/>
            </a:pPr>
            <a:r>
              <a:rPr lang="en-US" sz="1000" b="1" dirty="0">
                <a:solidFill>
                  <a:srgbClr val="18261F"/>
                </a:solidFill>
                <a:latin typeface="Calibri" pitchFamily="34" charset="0"/>
                <a:ea typeface="Calibri" pitchFamily="34" charset="-122"/>
                <a:cs typeface="Calibri" pitchFamily="34" charset="-120"/>
              </a:rPr>
              <a:t>PARSER / OCR</a:t>
            </a:r>
            <a:endParaRPr lang="en-US" sz="1000" dirty="0"/>
          </a:p>
        </p:txBody>
      </p:sp>
      <p:sp>
        <p:nvSpPr>
          <p:cNvPr id="13" name="Text 11"/>
          <p:cNvSpPr txBox="1"/>
          <p:nvPr/>
        </p:nvSpPr>
        <p:spPr>
          <a:xfrm>
            <a:off x="5369357" y="2103120"/>
            <a:ext cx="228600" cy="45720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14" name="Shape 12"/>
          <p:cNvSpPr/>
          <p:nvPr/>
        </p:nvSpPr>
        <p:spPr>
          <a:xfrm>
            <a:off x="5597957" y="2103120"/>
            <a:ext cx="1861718" cy="457200"/>
          </a:xfrm>
          <a:prstGeom prst="rect">
            <a:avLst/>
          </a:prstGeom>
          <a:solidFill>
            <a:srgbClr val="E3EFE7"/>
          </a:solidFill>
          <a:ln w="9525">
            <a:solidFill>
              <a:srgbClr val="1E6A44"/>
            </a:solidFill>
            <a:prstDash val="solid"/>
          </a:ln>
        </p:spPr>
      </p:sp>
      <p:sp>
        <p:nvSpPr>
          <p:cNvPr id="15" name="Text 13"/>
          <p:cNvSpPr txBox="1"/>
          <p:nvPr/>
        </p:nvSpPr>
        <p:spPr>
          <a:xfrm>
            <a:off x="5597957" y="2103120"/>
            <a:ext cx="1861718" cy="457200"/>
          </a:xfrm>
          <a:prstGeom prst="rect">
            <a:avLst/>
          </a:prstGeom>
          <a:noFill/>
          <a:ln/>
        </p:spPr>
        <p:txBody>
          <a:bodyPr wrap="square" lIns="635" tIns="635" rIns="635" bIns="635" rtlCol="0" anchor="ctr"/>
          <a:lstStyle/>
          <a:p>
            <a:pPr algn="ctr" indent="0" marL="0">
              <a:buNone/>
            </a:pPr>
            <a:r>
              <a:rPr lang="en-US" sz="1000" b="1" dirty="0">
                <a:solidFill>
                  <a:srgbClr val="18261F"/>
                </a:solidFill>
                <a:latin typeface="Calibri" pitchFamily="34" charset="0"/>
                <a:ea typeface="Calibri" pitchFamily="34" charset="-122"/>
                <a:cs typeface="Calibri" pitchFamily="34" charset="-120"/>
              </a:rPr>
              <a:t>DETERMINISTIC RULE ENGINE</a:t>
            </a:r>
            <a:endParaRPr lang="en-US" sz="1000" dirty="0"/>
          </a:p>
        </p:txBody>
      </p:sp>
      <p:sp>
        <p:nvSpPr>
          <p:cNvPr id="16" name="Text 14"/>
          <p:cNvSpPr txBox="1"/>
          <p:nvPr/>
        </p:nvSpPr>
        <p:spPr>
          <a:xfrm>
            <a:off x="7459675" y="2103120"/>
            <a:ext cx="228600" cy="45720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17" name="Shape 15"/>
          <p:cNvSpPr/>
          <p:nvPr/>
        </p:nvSpPr>
        <p:spPr>
          <a:xfrm>
            <a:off x="7688275" y="2103120"/>
            <a:ext cx="1861718" cy="457200"/>
          </a:xfrm>
          <a:prstGeom prst="rect">
            <a:avLst/>
          </a:prstGeom>
          <a:solidFill>
            <a:srgbClr val="E3EFE7"/>
          </a:solidFill>
          <a:ln w="9525">
            <a:solidFill>
              <a:srgbClr val="1E6A44"/>
            </a:solidFill>
            <a:prstDash val="solid"/>
          </a:ln>
        </p:spPr>
      </p:sp>
      <p:sp>
        <p:nvSpPr>
          <p:cNvPr id="18" name="Text 16"/>
          <p:cNvSpPr txBox="1"/>
          <p:nvPr/>
        </p:nvSpPr>
        <p:spPr>
          <a:xfrm>
            <a:off x="7688275" y="2103120"/>
            <a:ext cx="1861718" cy="457200"/>
          </a:xfrm>
          <a:prstGeom prst="rect">
            <a:avLst/>
          </a:prstGeom>
          <a:noFill/>
          <a:ln/>
        </p:spPr>
        <p:txBody>
          <a:bodyPr wrap="square" lIns="635" tIns="635" rIns="635" bIns="635" rtlCol="0" anchor="ctr"/>
          <a:lstStyle/>
          <a:p>
            <a:pPr algn="ctr" indent="0" marL="0">
              <a:buNone/>
            </a:pPr>
            <a:r>
              <a:rPr lang="en-US" sz="1000" b="1" dirty="0">
                <a:solidFill>
                  <a:srgbClr val="18261F"/>
                </a:solidFill>
                <a:latin typeface="Calibri" pitchFamily="34" charset="0"/>
                <a:ea typeface="Calibri" pitchFamily="34" charset="-122"/>
                <a:cs typeface="Calibri" pitchFamily="34" charset="-120"/>
              </a:rPr>
              <a:t>VERDICT + EVIDENCE</a:t>
            </a:r>
            <a:endParaRPr lang="en-US" sz="1000" dirty="0"/>
          </a:p>
        </p:txBody>
      </p:sp>
      <p:sp>
        <p:nvSpPr>
          <p:cNvPr id="19" name="Text 17"/>
          <p:cNvSpPr txBox="1"/>
          <p:nvPr/>
        </p:nvSpPr>
        <p:spPr>
          <a:xfrm>
            <a:off x="9549994" y="2103120"/>
            <a:ext cx="228600" cy="45720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20" name="Shape 18"/>
          <p:cNvSpPr/>
          <p:nvPr/>
        </p:nvSpPr>
        <p:spPr>
          <a:xfrm>
            <a:off x="9778594" y="2103120"/>
            <a:ext cx="1861718" cy="457200"/>
          </a:xfrm>
          <a:prstGeom prst="rect">
            <a:avLst/>
          </a:prstGeom>
          <a:solidFill>
            <a:srgbClr val="F6EDD3"/>
          </a:solidFill>
          <a:ln w="9525">
            <a:solidFill>
              <a:srgbClr val="C9961A"/>
            </a:solidFill>
            <a:prstDash val="solid"/>
          </a:ln>
        </p:spPr>
      </p:sp>
      <p:sp>
        <p:nvSpPr>
          <p:cNvPr id="21" name="Text 19"/>
          <p:cNvSpPr txBox="1"/>
          <p:nvPr/>
        </p:nvSpPr>
        <p:spPr>
          <a:xfrm>
            <a:off x="9778594" y="2103120"/>
            <a:ext cx="1861718" cy="457200"/>
          </a:xfrm>
          <a:prstGeom prst="rect">
            <a:avLst/>
          </a:prstGeom>
          <a:noFill/>
          <a:ln/>
        </p:spPr>
        <p:txBody>
          <a:bodyPr wrap="square" lIns="635" tIns="635" rIns="635" bIns="635" rtlCol="0" anchor="ctr"/>
          <a:lstStyle/>
          <a:p>
            <a:pPr algn="ctr" indent="0" marL="0">
              <a:buNone/>
            </a:pPr>
            <a:r>
              <a:rPr lang="en-US" sz="1000" b="1" dirty="0">
                <a:solidFill>
                  <a:srgbClr val="18261F"/>
                </a:solidFill>
                <a:latin typeface="Calibri" pitchFamily="34" charset="0"/>
                <a:ea typeface="Calibri" pitchFamily="34" charset="-122"/>
                <a:cs typeface="Calibri" pitchFamily="34" charset="-120"/>
              </a:rPr>
              <a:t>LLM EXPLANATION</a:t>
            </a:r>
            <a:endParaRPr lang="en-US" sz="1000" dirty="0"/>
          </a:p>
        </p:txBody>
      </p:sp>
      <p:sp>
        <p:nvSpPr>
          <p:cNvPr id="22" name="Text 20"/>
          <p:cNvSpPr txBox="1"/>
          <p:nvPr/>
        </p:nvSpPr>
        <p:spPr>
          <a:xfrm>
            <a:off x="548640" y="2788920"/>
            <a:ext cx="868680" cy="274320"/>
          </a:xfrm>
          <a:prstGeom prst="rect">
            <a:avLst/>
          </a:prstGeom>
          <a:noFill/>
          <a:ln/>
        </p:spPr>
        <p:txBody>
          <a:bodyPr wrap="square" lIns="0" tIns="0" rIns="0" bIns="0" rtlCol="0" anchor="ctr"/>
          <a:lstStyle/>
          <a:p>
            <a:pPr indent="0" marL="0">
              <a:buNone/>
            </a:pPr>
            <a:r>
              <a:rPr lang="en-US" sz="800" b="1" spc="150" kern="0" dirty="0">
                <a:solidFill>
                  <a:srgbClr val="A9392C"/>
                </a:solidFill>
                <a:latin typeface="Calibri" pitchFamily="34" charset="0"/>
                <a:ea typeface="Calibri" pitchFamily="34" charset="-122"/>
                <a:cs typeface="Calibri" pitchFamily="34" charset="-120"/>
              </a:rPr>
              <a:t>NOT THIS</a:t>
            </a:r>
            <a:endParaRPr lang="en-US" sz="800" dirty="0"/>
          </a:p>
        </p:txBody>
      </p:sp>
      <p:sp>
        <p:nvSpPr>
          <p:cNvPr id="23" name="Shape 21"/>
          <p:cNvSpPr/>
          <p:nvPr/>
        </p:nvSpPr>
        <p:spPr>
          <a:xfrm>
            <a:off x="1417320" y="2697480"/>
            <a:ext cx="3255264" cy="457200"/>
          </a:xfrm>
          <a:prstGeom prst="rect">
            <a:avLst/>
          </a:prstGeom>
          <a:solidFill>
            <a:srgbClr val="F7E3DF"/>
          </a:solidFill>
          <a:ln w="9525">
            <a:solidFill>
              <a:srgbClr val="A9392C"/>
            </a:solidFill>
            <a:prstDash val="solid"/>
          </a:ln>
        </p:spPr>
      </p:sp>
      <p:sp>
        <p:nvSpPr>
          <p:cNvPr id="24" name="Text 22"/>
          <p:cNvSpPr txBox="1"/>
          <p:nvPr/>
        </p:nvSpPr>
        <p:spPr>
          <a:xfrm>
            <a:off x="1417320" y="2697480"/>
            <a:ext cx="3255264" cy="457200"/>
          </a:xfrm>
          <a:prstGeom prst="rect">
            <a:avLst/>
          </a:prstGeom>
          <a:noFill/>
          <a:ln/>
        </p:spPr>
        <p:txBody>
          <a:bodyPr wrap="square" lIns="635" tIns="635" rIns="635" bIns="635" rtlCol="0" anchor="ctr"/>
          <a:lstStyle/>
          <a:p>
            <a:pPr algn="ctr" indent="0" marL="0">
              <a:buNone/>
            </a:pPr>
            <a:r>
              <a:rPr lang="en-US" sz="1000" b="1" dirty="0">
                <a:solidFill>
                  <a:srgbClr val="A9392C"/>
                </a:solidFill>
                <a:latin typeface="Calibri" pitchFamily="34" charset="0"/>
                <a:ea typeface="Calibri" pitchFamily="34" charset="-122"/>
                <a:cs typeface="Calibri" pitchFamily="34" charset="-120"/>
              </a:rPr>
              <a:t>BANK DATA</a:t>
            </a:r>
            <a:endParaRPr lang="en-US" sz="1000" dirty="0"/>
          </a:p>
        </p:txBody>
      </p:sp>
      <p:sp>
        <p:nvSpPr>
          <p:cNvPr id="25" name="Text 23"/>
          <p:cNvSpPr txBox="1"/>
          <p:nvPr/>
        </p:nvSpPr>
        <p:spPr>
          <a:xfrm>
            <a:off x="4672584" y="2697480"/>
            <a:ext cx="228600" cy="45720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26" name="Shape 24"/>
          <p:cNvSpPr/>
          <p:nvPr/>
        </p:nvSpPr>
        <p:spPr>
          <a:xfrm>
            <a:off x="4901184" y="2697480"/>
            <a:ext cx="3255264" cy="457200"/>
          </a:xfrm>
          <a:prstGeom prst="rect">
            <a:avLst/>
          </a:prstGeom>
          <a:solidFill>
            <a:srgbClr val="F7E3DF"/>
          </a:solidFill>
          <a:ln w="9525">
            <a:solidFill>
              <a:srgbClr val="A9392C"/>
            </a:solidFill>
            <a:prstDash val="solid"/>
          </a:ln>
        </p:spPr>
      </p:sp>
      <p:sp>
        <p:nvSpPr>
          <p:cNvPr id="27" name="Text 25"/>
          <p:cNvSpPr txBox="1"/>
          <p:nvPr/>
        </p:nvSpPr>
        <p:spPr>
          <a:xfrm>
            <a:off x="4901184" y="2697480"/>
            <a:ext cx="3255264" cy="457200"/>
          </a:xfrm>
          <a:prstGeom prst="rect">
            <a:avLst/>
          </a:prstGeom>
          <a:noFill/>
          <a:ln/>
        </p:spPr>
        <p:txBody>
          <a:bodyPr wrap="square" lIns="635" tIns="635" rIns="635" bIns="635" rtlCol="0" anchor="ctr"/>
          <a:lstStyle/>
          <a:p>
            <a:pPr algn="ctr" indent="0" marL="0">
              <a:buNone/>
            </a:pPr>
            <a:r>
              <a:rPr lang="en-US" sz="1000" b="1" dirty="0">
                <a:solidFill>
                  <a:srgbClr val="A9392C"/>
                </a:solidFill>
                <a:latin typeface="Calibri" pitchFamily="34" charset="0"/>
                <a:ea typeface="Calibri" pitchFamily="34" charset="-122"/>
                <a:cs typeface="Calibri" pitchFamily="34" charset="-120"/>
              </a:rPr>
              <a:t>LLM</a:t>
            </a:r>
            <a:endParaRPr lang="en-US" sz="1000" dirty="0"/>
          </a:p>
        </p:txBody>
      </p:sp>
      <p:sp>
        <p:nvSpPr>
          <p:cNvPr id="28" name="Text 26"/>
          <p:cNvSpPr txBox="1"/>
          <p:nvPr/>
        </p:nvSpPr>
        <p:spPr>
          <a:xfrm>
            <a:off x="8156448" y="2697480"/>
            <a:ext cx="228600" cy="457200"/>
          </a:xfrm>
          <a:prstGeom prst="rect">
            <a:avLst/>
          </a:prstGeom>
          <a:noFill/>
          <a:ln/>
        </p:spPr>
        <p:txBody>
          <a:bodyPr wrap="square" lIns="0" tIns="0" rIns="0" bIns="0" rtlCol="0" anchor="ctr"/>
          <a:lstStyle/>
          <a:p>
            <a:pPr algn="ctr" indent="0" marL="0">
              <a:buNone/>
            </a:pPr>
            <a:r>
              <a:rPr lang="en-US" sz="1300" dirty="0">
                <a:solidFill>
                  <a:srgbClr val="4E5D55"/>
                </a:solidFill>
                <a:latin typeface="Cambria" pitchFamily="34" charset="0"/>
                <a:ea typeface="Cambria" pitchFamily="34" charset="-122"/>
                <a:cs typeface="Cambria" pitchFamily="34" charset="-120"/>
              </a:rPr>
              <a:t>→</a:t>
            </a:r>
            <a:endParaRPr lang="en-US" sz="1300" dirty="0"/>
          </a:p>
        </p:txBody>
      </p:sp>
      <p:sp>
        <p:nvSpPr>
          <p:cNvPr id="29" name="Shape 27"/>
          <p:cNvSpPr/>
          <p:nvPr/>
        </p:nvSpPr>
        <p:spPr>
          <a:xfrm>
            <a:off x="8385048" y="2697480"/>
            <a:ext cx="3255264" cy="457200"/>
          </a:xfrm>
          <a:prstGeom prst="rect">
            <a:avLst/>
          </a:prstGeom>
          <a:solidFill>
            <a:srgbClr val="F7E3DF"/>
          </a:solidFill>
          <a:ln w="9525">
            <a:solidFill>
              <a:srgbClr val="A9392C"/>
            </a:solidFill>
            <a:prstDash val="solid"/>
          </a:ln>
        </p:spPr>
      </p:sp>
      <p:sp>
        <p:nvSpPr>
          <p:cNvPr id="30" name="Text 28"/>
          <p:cNvSpPr txBox="1"/>
          <p:nvPr/>
        </p:nvSpPr>
        <p:spPr>
          <a:xfrm>
            <a:off x="8385048" y="2697480"/>
            <a:ext cx="3255264" cy="457200"/>
          </a:xfrm>
          <a:prstGeom prst="rect">
            <a:avLst/>
          </a:prstGeom>
          <a:noFill/>
          <a:ln/>
        </p:spPr>
        <p:txBody>
          <a:bodyPr wrap="square" lIns="635" tIns="635" rIns="635" bIns="635" rtlCol="0" anchor="ctr"/>
          <a:lstStyle/>
          <a:p>
            <a:pPr algn="ctr" indent="0" marL="0">
              <a:buNone/>
            </a:pPr>
            <a:r>
              <a:rPr lang="en-US" sz="1000" b="1" dirty="0">
                <a:solidFill>
                  <a:srgbClr val="A9392C"/>
                </a:solidFill>
                <a:latin typeface="Calibri" pitchFamily="34" charset="0"/>
                <a:ea typeface="Calibri" pitchFamily="34" charset="-122"/>
                <a:cs typeface="Calibri" pitchFamily="34" charset="-120"/>
              </a:rPr>
              <a:t>MONEY CLAIM</a:t>
            </a:r>
            <a:endParaRPr lang="en-US" sz="1000" dirty="0"/>
          </a:p>
        </p:txBody>
      </p:sp>
      <p:sp>
        <p:nvSpPr>
          <p:cNvPr id="31" name="Shape 29"/>
          <p:cNvSpPr/>
          <p:nvPr/>
        </p:nvSpPr>
        <p:spPr>
          <a:xfrm>
            <a:off x="548640" y="3429000"/>
            <a:ext cx="347472" cy="347472"/>
          </a:xfrm>
          <a:prstGeom prst="ellipse">
            <a:avLst/>
          </a:prstGeom>
          <a:solidFill>
            <a:srgbClr val="C9961A"/>
          </a:solidFill>
          <a:ln w="12700">
            <a:solidFill>
              <a:srgbClr val="C9961A"/>
            </a:solidFill>
            <a:prstDash val="solid"/>
          </a:ln>
        </p:spPr>
      </p:sp>
      <p:sp>
        <p:nvSpPr>
          <p:cNvPr id="32" name="Text 30"/>
          <p:cNvSpPr txBox="1"/>
          <p:nvPr/>
        </p:nvSpPr>
        <p:spPr>
          <a:xfrm>
            <a:off x="548640" y="34290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33" name="Text 31"/>
          <p:cNvSpPr txBox="1"/>
          <p:nvPr/>
        </p:nvSpPr>
        <p:spPr>
          <a:xfrm>
            <a:off x="1078992" y="3383280"/>
            <a:ext cx="3474720" cy="594360"/>
          </a:xfrm>
          <a:prstGeom prst="rect">
            <a:avLst/>
          </a:prstGeom>
          <a:noFill/>
          <a:ln/>
        </p:spPr>
        <p:txBody>
          <a:bodyPr wrap="square" lIns="0" tIns="0" rIns="0" bIns="0" rtlCol="0" anchor="t"/>
          <a:lstStyle/>
          <a:p>
            <a:pPr indent="0" marL="0">
              <a:buNone/>
            </a:pPr>
            <a:r>
              <a:rPr lang="en-US" sz="1350" b="1" dirty="0">
                <a:solidFill>
                  <a:srgbClr val="18261F"/>
                </a:solidFill>
                <a:latin typeface="Cambria" pitchFamily="34" charset="0"/>
                <a:ea typeface="Cambria" pitchFamily="34" charset="-122"/>
                <a:cs typeface="Cambria" pitchFamily="34" charset="-120"/>
              </a:rPr>
              <a:t>“Isn’t this just ChatGPT?”</a:t>
            </a:r>
            <a:endParaRPr lang="en-US" sz="1350" dirty="0"/>
          </a:p>
        </p:txBody>
      </p:sp>
      <p:sp>
        <p:nvSpPr>
          <p:cNvPr id="34" name="Text 32"/>
          <p:cNvSpPr txBox="1"/>
          <p:nvPr/>
        </p:nvSpPr>
        <p:spPr>
          <a:xfrm>
            <a:off x="4663440" y="3383280"/>
            <a:ext cx="6976872" cy="594360"/>
          </a:xfrm>
          <a:prstGeom prst="rect">
            <a:avLst/>
          </a:prstGeom>
          <a:noFill/>
          <a:ln/>
        </p:spPr>
        <p:txBody>
          <a:bodyPr wrap="square" lIns="0" tIns="0" rIns="0" bIns="0" rtlCol="0" anchor="t"/>
          <a:lstStyle/>
          <a:p>
            <a:pPr indent="0" marL="0">
              <a:buNone/>
            </a:pPr>
            <a:r>
              <a:rPr lang="en-US" sz="1150" dirty="0">
                <a:solidFill>
                  <a:srgbClr val="18261F"/>
                </a:solidFill>
                <a:latin typeface="Calibri" pitchFamily="34" charset="0"/>
                <a:ea typeface="Calibri" pitchFamily="34" charset="-122"/>
                <a:cs typeface="Calibri" pitchFamily="34" charset="-120"/>
              </a:rPr>
              <a:t>An LLM has no authoritative account state, no rule execution, no effective-date logic and no deterministic claim calculation. Vasool Raja supplies all four.</a:t>
            </a:r>
            <a:endParaRPr lang="en-US" sz="1150" dirty="0"/>
          </a:p>
        </p:txBody>
      </p:sp>
      <p:sp>
        <p:nvSpPr>
          <p:cNvPr id="35" name="Shape 33"/>
          <p:cNvSpPr/>
          <p:nvPr/>
        </p:nvSpPr>
        <p:spPr>
          <a:xfrm>
            <a:off x="548640" y="4087368"/>
            <a:ext cx="347472" cy="347472"/>
          </a:xfrm>
          <a:prstGeom prst="ellipse">
            <a:avLst/>
          </a:prstGeom>
          <a:solidFill>
            <a:srgbClr val="C9961A"/>
          </a:solidFill>
          <a:ln w="12700">
            <a:solidFill>
              <a:srgbClr val="C9961A"/>
            </a:solidFill>
            <a:prstDash val="solid"/>
          </a:ln>
        </p:spPr>
      </p:sp>
      <p:sp>
        <p:nvSpPr>
          <p:cNvPr id="36" name="Text 34"/>
          <p:cNvSpPr txBox="1"/>
          <p:nvPr/>
        </p:nvSpPr>
        <p:spPr>
          <a:xfrm>
            <a:off x="548640" y="40873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37" name="Text 35"/>
          <p:cNvSpPr txBox="1"/>
          <p:nvPr/>
        </p:nvSpPr>
        <p:spPr>
          <a:xfrm>
            <a:off x="1078992" y="4041648"/>
            <a:ext cx="3474720" cy="594360"/>
          </a:xfrm>
          <a:prstGeom prst="rect">
            <a:avLst/>
          </a:prstGeom>
          <a:noFill/>
          <a:ln/>
        </p:spPr>
        <p:txBody>
          <a:bodyPr wrap="square" lIns="0" tIns="0" rIns="0" bIns="0" rtlCol="0" anchor="t"/>
          <a:lstStyle/>
          <a:p>
            <a:pPr indent="0" marL="0">
              <a:buNone/>
            </a:pPr>
            <a:r>
              <a:rPr lang="en-US" sz="1350" b="1" dirty="0">
                <a:solidFill>
                  <a:srgbClr val="18261F"/>
                </a:solidFill>
                <a:latin typeface="Cambria" pitchFamily="34" charset="0"/>
                <a:ea typeface="Cambria" pitchFamily="34" charset="-122"/>
                <a:cs typeface="Cambria" pitchFamily="34" charset="-120"/>
              </a:rPr>
              <a:t>“What if the LLM hallucinates?”</a:t>
            </a:r>
            <a:endParaRPr lang="en-US" sz="1350" dirty="0"/>
          </a:p>
        </p:txBody>
      </p:sp>
      <p:sp>
        <p:nvSpPr>
          <p:cNvPr id="38" name="Text 36"/>
          <p:cNvSpPr txBox="1"/>
          <p:nvPr/>
        </p:nvSpPr>
        <p:spPr>
          <a:xfrm>
            <a:off x="4663440" y="4041648"/>
            <a:ext cx="6976872" cy="594360"/>
          </a:xfrm>
          <a:prstGeom prst="rect">
            <a:avLst/>
          </a:prstGeom>
          <a:noFill/>
          <a:ln/>
        </p:spPr>
        <p:txBody>
          <a:bodyPr wrap="square" lIns="0" tIns="0" rIns="0" bIns="0" rtlCol="0" anchor="t"/>
          <a:lstStyle/>
          <a:p>
            <a:pPr indent="0" marL="0">
              <a:buNone/>
            </a:pPr>
            <a:r>
              <a:rPr lang="en-US" sz="1150" dirty="0">
                <a:solidFill>
                  <a:srgbClr val="18261F"/>
                </a:solidFill>
                <a:latin typeface="Calibri" pitchFamily="34" charset="0"/>
                <a:ea typeface="Calibri" pitchFamily="34" charset="-122"/>
                <a:cs typeface="Calibri" pitchFamily="34" charset="-120"/>
              </a:rPr>
              <a:t>It does not determine the claim; the deterministic rule engine does. Every finding requires transaction data + account state + effective-date rule + calculation + evidence.</a:t>
            </a:r>
            <a:endParaRPr lang="en-US" sz="1150" dirty="0"/>
          </a:p>
        </p:txBody>
      </p:sp>
      <p:sp>
        <p:nvSpPr>
          <p:cNvPr id="39" name="Shape 37"/>
          <p:cNvSpPr/>
          <p:nvPr/>
        </p:nvSpPr>
        <p:spPr>
          <a:xfrm>
            <a:off x="548640" y="4745736"/>
            <a:ext cx="347472" cy="347472"/>
          </a:xfrm>
          <a:prstGeom prst="ellipse">
            <a:avLst/>
          </a:prstGeom>
          <a:solidFill>
            <a:srgbClr val="C9961A"/>
          </a:solidFill>
          <a:ln w="12700">
            <a:solidFill>
              <a:srgbClr val="C9961A"/>
            </a:solidFill>
            <a:prstDash val="solid"/>
          </a:ln>
        </p:spPr>
      </p:sp>
      <p:sp>
        <p:nvSpPr>
          <p:cNvPr id="40" name="Text 38"/>
          <p:cNvSpPr txBox="1"/>
          <p:nvPr/>
        </p:nvSpPr>
        <p:spPr>
          <a:xfrm>
            <a:off x="548640" y="47457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41" name="Text 39"/>
          <p:cNvSpPr txBox="1"/>
          <p:nvPr/>
        </p:nvSpPr>
        <p:spPr>
          <a:xfrm>
            <a:off x="1078992" y="4700016"/>
            <a:ext cx="3474720" cy="594360"/>
          </a:xfrm>
          <a:prstGeom prst="rect">
            <a:avLst/>
          </a:prstGeom>
          <a:noFill/>
          <a:ln/>
        </p:spPr>
        <p:txBody>
          <a:bodyPr wrap="square" lIns="0" tIns="0" rIns="0" bIns="0" rtlCol="0" anchor="t"/>
          <a:lstStyle/>
          <a:p>
            <a:pPr indent="0" marL="0">
              <a:buNone/>
            </a:pPr>
            <a:r>
              <a:rPr lang="en-US" sz="1350" b="1" dirty="0">
                <a:solidFill>
                  <a:srgbClr val="18261F"/>
                </a:solidFill>
                <a:latin typeface="Cambria" pitchFamily="34" charset="0"/>
                <a:ea typeface="Cambria" pitchFamily="34" charset="-122"/>
                <a:cs typeface="Cambria" pitchFamily="34" charset="-120"/>
              </a:rPr>
              <a:t>“What if a rule changes?”</a:t>
            </a:r>
            <a:endParaRPr lang="en-US" sz="1350" dirty="0"/>
          </a:p>
        </p:txBody>
      </p:sp>
      <p:sp>
        <p:nvSpPr>
          <p:cNvPr id="42" name="Text 40"/>
          <p:cNvSpPr txBox="1"/>
          <p:nvPr/>
        </p:nvSpPr>
        <p:spPr>
          <a:xfrm>
            <a:off x="4663440" y="4700016"/>
            <a:ext cx="6976872" cy="594360"/>
          </a:xfrm>
          <a:prstGeom prst="rect">
            <a:avLst/>
          </a:prstGeom>
          <a:noFill/>
          <a:ln/>
        </p:spPr>
        <p:txBody>
          <a:bodyPr wrap="square" lIns="0" tIns="0" rIns="0" bIns="0" rtlCol="0" anchor="t"/>
          <a:lstStyle/>
          <a:p>
            <a:pPr indent="0" marL="0">
              <a:buNone/>
            </a:pPr>
            <a:r>
              <a:rPr lang="en-US" sz="1150" dirty="0">
                <a:solidFill>
                  <a:srgbClr val="18261F"/>
                </a:solidFill>
                <a:latin typeface="Calibri" pitchFamily="34" charset="0"/>
                <a:ea typeface="Calibri" pitchFamily="34" charset="-122"/>
                <a:cs typeface="Calibri" pitchFamily="34" charset="-120"/>
              </a:rPr>
              <a:t>Rules are versioned by effective date. The engine applies the rule that was in force when the transaction occurred (e.g. ATM cap ₹21 before 1 May 2025, ₹23 after).</a:t>
            </a:r>
            <a:endParaRPr lang="en-US" sz="1150" dirty="0"/>
          </a:p>
        </p:txBody>
      </p:sp>
      <p:sp>
        <p:nvSpPr>
          <p:cNvPr id="43" name="Shape 41"/>
          <p:cNvSpPr/>
          <p:nvPr/>
        </p:nvSpPr>
        <p:spPr>
          <a:xfrm>
            <a:off x="548640" y="5404104"/>
            <a:ext cx="347472" cy="347472"/>
          </a:xfrm>
          <a:prstGeom prst="ellipse">
            <a:avLst/>
          </a:prstGeom>
          <a:solidFill>
            <a:srgbClr val="C9961A"/>
          </a:solidFill>
          <a:ln w="12700">
            <a:solidFill>
              <a:srgbClr val="C9961A"/>
            </a:solidFill>
            <a:prstDash val="solid"/>
          </a:ln>
        </p:spPr>
      </p:sp>
      <p:sp>
        <p:nvSpPr>
          <p:cNvPr id="44" name="Text 42"/>
          <p:cNvSpPr txBox="1"/>
          <p:nvPr/>
        </p:nvSpPr>
        <p:spPr>
          <a:xfrm>
            <a:off x="548640" y="540410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45" name="Text 43"/>
          <p:cNvSpPr txBox="1"/>
          <p:nvPr/>
        </p:nvSpPr>
        <p:spPr>
          <a:xfrm>
            <a:off x="1078992" y="5358384"/>
            <a:ext cx="3474720" cy="594360"/>
          </a:xfrm>
          <a:prstGeom prst="rect">
            <a:avLst/>
          </a:prstGeom>
          <a:noFill/>
          <a:ln/>
        </p:spPr>
        <p:txBody>
          <a:bodyPr wrap="square" lIns="0" tIns="0" rIns="0" bIns="0" rtlCol="0" anchor="t"/>
          <a:lstStyle/>
          <a:p>
            <a:pPr indent="0" marL="0">
              <a:buNone/>
            </a:pPr>
            <a:r>
              <a:rPr lang="en-US" sz="1350" b="1" dirty="0">
                <a:solidFill>
                  <a:srgbClr val="18261F"/>
                </a:solidFill>
                <a:latin typeface="Cambria" pitchFamily="34" charset="0"/>
                <a:ea typeface="Cambria" pitchFamily="34" charset="-122"/>
                <a:cs typeface="Cambria" pitchFamily="34" charset="-120"/>
              </a:rPr>
              <a:t>“What if evidence is incomplete?”</a:t>
            </a:r>
            <a:endParaRPr lang="en-US" sz="1350" dirty="0"/>
          </a:p>
        </p:txBody>
      </p:sp>
      <p:sp>
        <p:nvSpPr>
          <p:cNvPr id="46" name="Text 44"/>
          <p:cNvSpPr txBox="1"/>
          <p:nvPr/>
        </p:nvSpPr>
        <p:spPr>
          <a:xfrm>
            <a:off x="4663440" y="5358384"/>
            <a:ext cx="6976872" cy="594360"/>
          </a:xfrm>
          <a:prstGeom prst="rect">
            <a:avLst/>
          </a:prstGeom>
          <a:noFill/>
          <a:ln/>
        </p:spPr>
        <p:txBody>
          <a:bodyPr wrap="square" lIns="0" tIns="0" rIns="0" bIns="0" rtlCol="0" anchor="t"/>
          <a:lstStyle/>
          <a:p>
            <a:pPr indent="0" marL="0">
              <a:buNone/>
            </a:pPr>
            <a:r>
              <a:rPr lang="en-US" sz="1150" dirty="0">
                <a:solidFill>
                  <a:srgbClr val="18261F"/>
                </a:solidFill>
                <a:latin typeface="Calibri" pitchFamily="34" charset="0"/>
                <a:ea typeface="Calibri" pitchFamily="34" charset="-122"/>
                <a:cs typeface="Calibri" pitchFamily="34" charset="-120"/>
              </a:rPr>
              <a:t>Do not claim. The finding is labelled “unclear” and the system asks for the missing information — it never presents an unclear finding as a claim.</a:t>
            </a:r>
            <a:endParaRPr lang="en-US" sz="1150" dirty="0"/>
          </a:p>
        </p:txBody>
      </p:sp>
      <p:sp>
        <p:nvSpPr>
          <p:cNvPr id="47" name="Text 45"/>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4E5D55"/>
                </a:solidFill>
                <a:latin typeface="Calibri" pitchFamily="34" charset="0"/>
                <a:ea typeface="Calibri" pitchFamily="34" charset="-122"/>
                <a:cs typeface="Calibri" pitchFamily="34" charset="-120"/>
              </a:rPr>
              <a:t>Vasool Raja  ·  HackVerse 2.0  ·  Digital Twins &amp; FinTech</a:t>
            </a:r>
            <a:endParaRPr lang="en-US" sz="900" dirty="0"/>
          </a:p>
        </p:txBody>
      </p:sp>
      <p:sp>
        <p:nvSpPr>
          <p:cNvPr id="48" name="Text 46"/>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900" dirty="0">
                <a:solidFill>
                  <a:srgbClr val="4E5D5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3657600" cy="274320"/>
          </a:xfrm>
          <a:prstGeom prst="rect">
            <a:avLst/>
          </a:prstGeom>
          <a:noFill/>
          <a:ln/>
        </p:spPr>
        <p:txBody>
          <a:bodyPr wrap="square" lIns="0" tIns="0" rIns="0" bIns="0" rtlCol="0" anchor="ctr"/>
          <a:lstStyle/>
          <a:p>
            <a:pPr indent="0" marL="0">
              <a:buNone/>
            </a:pPr>
            <a:r>
              <a:rPr lang="en-US" sz="1000" b="1" spc="300" kern="0" dirty="0">
                <a:solidFill>
                  <a:srgbClr val="1E6A44"/>
                </a:solidFill>
                <a:latin typeface="Calibri" pitchFamily="34" charset="0"/>
                <a:ea typeface="Calibri" pitchFamily="34" charset="-122"/>
                <a:cs typeface="Calibri" pitchFamily="34" charset="-120"/>
              </a:rPr>
              <a:t>TEAM · WHAT EXISTS TODAY</a:t>
            </a:r>
            <a:endParaRPr lang="en-US" sz="10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18261F"/>
                </a:solidFill>
                <a:latin typeface="Cambria" pitchFamily="34" charset="0"/>
                <a:ea typeface="Cambria" pitchFamily="34" charset="-122"/>
                <a:cs typeface="Cambria" pitchFamily="34" charset="-120"/>
              </a:rPr>
              <a:t>NOT A PLAN. A WORKING ENGINE.</a:t>
            </a:r>
            <a:endParaRPr lang="en-US" sz="3000" dirty="0"/>
          </a:p>
        </p:txBody>
      </p:sp>
      <p:sp>
        <p:nvSpPr>
          <p:cNvPr id="4" name="Text 2"/>
          <p:cNvSpPr txBox="1"/>
          <p:nvPr/>
        </p:nvSpPr>
        <p:spPr>
          <a:xfrm>
            <a:off x="548640" y="1371600"/>
            <a:ext cx="11064240" cy="320040"/>
          </a:xfrm>
          <a:prstGeom prst="rect">
            <a:avLst/>
          </a:prstGeom>
          <a:noFill/>
          <a:ln/>
        </p:spPr>
        <p:txBody>
          <a:bodyPr wrap="square" lIns="0" tIns="0" rIns="0" bIns="0" rtlCol="0" anchor="ctr"/>
          <a:lstStyle/>
          <a:p>
            <a:pPr indent="0" marL="0">
              <a:buNone/>
            </a:pPr>
            <a:r>
              <a:rPr lang="en-US" sz="1150" dirty="0">
                <a:solidFill>
                  <a:srgbClr val="4E5D55"/>
                </a:solidFill>
                <a:latin typeface="Calibri" pitchFamily="34" charset="0"/>
                <a:ea typeface="Calibri" pitchFamily="34" charset="-122"/>
                <a:cs typeface="Calibri" pitchFamily="34" charset="-120"/>
              </a:rPr>
              <a:t>Mad Angles · Coimbatore Institute of Technology. Everything below is running code; screenshots from the prototype, 17 Sep 2026. Demo data is synthetic.</a:t>
            </a:r>
            <a:endParaRPr lang="en-US" sz="1150" dirty="0"/>
          </a:p>
        </p:txBody>
      </p:sp>
      <p:pic>
        <p:nvPicPr>
          <p:cNvPr id="5" name="Image 0" descr="/home/claude/deck/shot-found.png">    </p:cNvPr>
          <p:cNvPicPr>
            <a:picLocks noChangeAspect="1"/>
          </p:cNvPicPr>
          <p:nvPr/>
        </p:nvPicPr>
        <p:blipFill>
          <a:blip r:embed="rId1"/>
          <a:stretch>
            <a:fillRect/>
          </a:stretch>
        </p:blipFill>
        <p:spPr>
          <a:xfrm>
            <a:off x="548640" y="1737360"/>
            <a:ext cx="5029200" cy="2749699"/>
          </a:xfrm>
          <a:prstGeom prst="rect">
            <a:avLst/>
          </a:prstGeom>
        </p:spPr>
      </p:pic>
      <p:sp>
        <p:nvSpPr>
          <p:cNvPr id="6" name="Text 3"/>
          <p:cNvSpPr txBox="1"/>
          <p:nvPr/>
        </p:nvSpPr>
        <p:spPr>
          <a:xfrm>
            <a:off x="548640" y="4560211"/>
            <a:ext cx="5029200" cy="411480"/>
          </a:xfrm>
          <a:prstGeom prst="rect">
            <a:avLst/>
          </a:prstGeom>
          <a:noFill/>
          <a:ln/>
        </p:spPr>
        <p:txBody>
          <a:bodyPr wrap="square" lIns="0" tIns="0" rIns="0" bIns="0" rtlCol="0" anchor="t"/>
          <a:lstStyle/>
          <a:p>
            <a:pPr indent="0" marL="0">
              <a:buNone/>
            </a:pPr>
            <a:r>
              <a:rPr lang="en-US" sz="950" b="1" dirty="0">
                <a:solidFill>
                  <a:srgbClr val="1E6A44"/>
                </a:solidFill>
                <a:latin typeface="Calibri" pitchFamily="34" charset="0"/>
                <a:ea typeface="Calibri" pitchFamily="34" charset="-122"/>
                <a:cs typeface="Calibri" pitchFamily="34" charset="-120"/>
              </a:rPr>
              <a:t>₹5,402 potential claim value identified </a:t>
            </a:r>
            <a:pPr indent="0" marL="0">
              <a:buNone/>
            </a:pPr>
            <a:r>
              <a:rPr lang="en-US" sz="950" dirty="0">
                <a:solidFill>
                  <a:srgbClr val="18261F"/>
                </a:solidFill>
                <a:latin typeface="Calibri" pitchFamily="34" charset="0"/>
                <a:ea typeface="Calibri" pitchFamily="34" charset="-122"/>
                <a:cs typeface="Calibri" pitchFamily="34" charset="-120"/>
              </a:rPr>
              <a:t>(sum of RECOVERABLE findings; synthetic demo data) · 2 Canara statements merged, Mar–Aug · 5 findings, each with rule id and confidence.</a:t>
            </a:r>
            <a:endParaRPr lang="en-US" sz="950" dirty="0"/>
          </a:p>
        </p:txBody>
      </p:sp>
      <p:sp>
        <p:nvSpPr>
          <p:cNvPr id="7" name="Text 4"/>
          <p:cNvSpPr txBox="1"/>
          <p:nvPr/>
        </p:nvSpPr>
        <p:spPr>
          <a:xfrm>
            <a:off x="548640" y="4999123"/>
            <a:ext cx="5029200" cy="182880"/>
          </a:xfrm>
          <a:prstGeom prst="rect">
            <a:avLst/>
          </a:prstGeom>
          <a:noFill/>
          <a:ln/>
        </p:spPr>
        <p:txBody>
          <a:bodyPr wrap="square" lIns="0" tIns="0" rIns="0" bIns="0" rtlCol="0" anchor="ctr"/>
          <a:lstStyle/>
          <a:p>
            <a:pPr indent="0" marL="0">
              <a:buNone/>
            </a:pPr>
            <a:r>
              <a:rPr lang="en-US" sz="750" b="1" spc="150" kern="0" dirty="0">
                <a:solidFill>
                  <a:srgbClr val="1E6A44"/>
                </a:solidFill>
                <a:latin typeface="Calibri" pitchFamily="34" charset="0"/>
                <a:ea typeface="Calibri" pitchFamily="34" charset="-122"/>
                <a:cs typeface="Calibri" pitchFamily="34" charset="-120"/>
              </a:rPr>
              <a:t>STATEFUL REGULATORY TWIN — not a one-shot LLM response</a:t>
            </a:r>
            <a:endParaRPr lang="en-US" sz="750" dirty="0"/>
          </a:p>
        </p:txBody>
      </p:sp>
      <p:sp>
        <p:nvSpPr>
          <p:cNvPr id="8" name="Shape 5"/>
          <p:cNvSpPr/>
          <p:nvPr/>
        </p:nvSpPr>
        <p:spPr>
          <a:xfrm>
            <a:off x="548640" y="5200291"/>
            <a:ext cx="932688" cy="566928"/>
          </a:xfrm>
          <a:prstGeom prst="rect">
            <a:avLst/>
          </a:prstGeom>
          <a:solidFill>
            <a:srgbClr val="E3EFE7"/>
          </a:solidFill>
          <a:ln w="9525">
            <a:solidFill>
              <a:srgbClr val="1E6A44"/>
            </a:solidFill>
            <a:prstDash val="solid"/>
          </a:ln>
        </p:spPr>
      </p:sp>
      <p:sp>
        <p:nvSpPr>
          <p:cNvPr id="9" name="Text 6"/>
          <p:cNvSpPr txBox="1"/>
          <p:nvPr/>
        </p:nvSpPr>
        <p:spPr>
          <a:xfrm>
            <a:off x="585216" y="5236867"/>
            <a:ext cx="859536" cy="310896"/>
          </a:xfrm>
          <a:prstGeom prst="rect">
            <a:avLst/>
          </a:prstGeom>
          <a:noFill/>
          <a:ln/>
        </p:spPr>
        <p:txBody>
          <a:bodyPr wrap="square" lIns="0" tIns="0" rIns="0" bIns="0" rtlCol="0" anchor="t"/>
          <a:lstStyle/>
          <a:p>
            <a:pPr indent="0" marL="0">
              <a:buNone/>
            </a:pPr>
            <a:r>
              <a:rPr lang="en-US" sz="630" b="1" dirty="0">
                <a:solidFill>
                  <a:srgbClr val="1E6A44"/>
                </a:solidFill>
                <a:latin typeface="Calibri" pitchFamily="34" charset="0"/>
                <a:ea typeface="Calibri" pitchFamily="34" charset="-122"/>
                <a:cs typeface="Calibri" pitchFamily="34" charset="-120"/>
              </a:rPr>
              <a:t>ADD LAST QUARTER</a:t>
            </a:r>
            <a:endParaRPr lang="en-US" sz="630" dirty="0"/>
          </a:p>
        </p:txBody>
      </p:sp>
      <p:sp>
        <p:nvSpPr>
          <p:cNvPr id="10" name="Text 7"/>
          <p:cNvSpPr txBox="1"/>
          <p:nvPr/>
        </p:nvSpPr>
        <p:spPr>
          <a:xfrm>
            <a:off x="585216" y="5538619"/>
            <a:ext cx="859536" cy="201168"/>
          </a:xfrm>
          <a:prstGeom prst="rect">
            <a:avLst/>
          </a:prstGeom>
          <a:noFill/>
          <a:ln/>
        </p:spPr>
        <p:txBody>
          <a:bodyPr wrap="square" lIns="0" tIns="0" rIns="0" bIns="0" rtlCol="0" anchor="t"/>
          <a:lstStyle/>
          <a:p>
            <a:pPr indent="0" marL="0">
              <a:buNone/>
            </a:pPr>
            <a:r>
              <a:rPr lang="en-US" sz="680" dirty="0">
                <a:solidFill>
                  <a:srgbClr val="18261F"/>
                </a:solidFill>
                <a:latin typeface="Calibri" pitchFamily="34" charset="0"/>
                <a:ea typeface="Calibri" pitchFamily="34" charset="-122"/>
                <a:cs typeface="Calibri" pitchFamily="34" charset="-120"/>
              </a:rPr>
              <a:t>2nd statement merged</a:t>
            </a:r>
            <a:endParaRPr lang="en-US" sz="680" dirty="0"/>
          </a:p>
        </p:txBody>
      </p:sp>
      <p:sp>
        <p:nvSpPr>
          <p:cNvPr id="11" name="Text 8"/>
          <p:cNvSpPr txBox="1"/>
          <p:nvPr/>
        </p:nvSpPr>
        <p:spPr>
          <a:xfrm>
            <a:off x="1435608" y="5337451"/>
            <a:ext cx="182880" cy="274320"/>
          </a:xfrm>
          <a:prstGeom prst="rect">
            <a:avLst/>
          </a:prstGeom>
          <a:noFill/>
          <a:ln/>
        </p:spPr>
        <p:txBody>
          <a:bodyPr wrap="square" lIns="0" tIns="0" rIns="0" bIns="0" rtlCol="0" anchor="ctr"/>
          <a:lstStyle/>
          <a:p>
            <a:pPr algn="ctr" indent="0" marL="0">
              <a:buNone/>
            </a:pPr>
            <a:r>
              <a:rPr lang="en-US" sz="900" dirty="0">
                <a:solidFill>
                  <a:srgbClr val="4E5D55"/>
                </a:solidFill>
                <a:latin typeface="Cambria" pitchFamily="34" charset="0"/>
                <a:ea typeface="Cambria" pitchFamily="34" charset="-122"/>
                <a:cs typeface="Cambria" pitchFamily="34" charset="-120"/>
              </a:rPr>
              <a:t>→</a:t>
            </a:r>
            <a:endParaRPr lang="en-US" sz="900" dirty="0"/>
          </a:p>
        </p:txBody>
      </p:sp>
      <p:sp>
        <p:nvSpPr>
          <p:cNvPr id="12" name="Shape 9"/>
          <p:cNvSpPr/>
          <p:nvPr/>
        </p:nvSpPr>
        <p:spPr>
          <a:xfrm>
            <a:off x="1572768" y="5200291"/>
            <a:ext cx="932688" cy="566928"/>
          </a:xfrm>
          <a:prstGeom prst="rect">
            <a:avLst/>
          </a:prstGeom>
          <a:solidFill>
            <a:srgbClr val="E3EFE7"/>
          </a:solidFill>
          <a:ln w="9525">
            <a:solidFill>
              <a:srgbClr val="1E6A44"/>
            </a:solidFill>
            <a:prstDash val="solid"/>
          </a:ln>
        </p:spPr>
      </p:sp>
      <p:sp>
        <p:nvSpPr>
          <p:cNvPr id="13" name="Text 10"/>
          <p:cNvSpPr txBox="1"/>
          <p:nvPr/>
        </p:nvSpPr>
        <p:spPr>
          <a:xfrm>
            <a:off x="1609344" y="5236867"/>
            <a:ext cx="859536" cy="310896"/>
          </a:xfrm>
          <a:prstGeom prst="rect">
            <a:avLst/>
          </a:prstGeom>
          <a:noFill/>
          <a:ln/>
        </p:spPr>
        <p:txBody>
          <a:bodyPr wrap="square" lIns="0" tIns="0" rIns="0" bIns="0" rtlCol="0" anchor="t"/>
          <a:lstStyle/>
          <a:p>
            <a:pPr indent="0" marL="0">
              <a:buNone/>
            </a:pPr>
            <a:r>
              <a:rPr lang="en-US" sz="630" b="1" dirty="0">
                <a:solidFill>
                  <a:srgbClr val="1E6A44"/>
                </a:solidFill>
                <a:latin typeface="Calibri" pitchFamily="34" charset="0"/>
                <a:ea typeface="Calibri" pitchFamily="34" charset="-122"/>
                <a:cs typeface="Calibri" pitchFamily="34" charset="-120"/>
              </a:rPr>
              <a:t>ACCOUNT STATE CHANGES</a:t>
            </a:r>
            <a:endParaRPr lang="en-US" sz="630" dirty="0"/>
          </a:p>
        </p:txBody>
      </p:sp>
      <p:sp>
        <p:nvSpPr>
          <p:cNvPr id="14" name="Text 11"/>
          <p:cNvSpPr txBox="1"/>
          <p:nvPr/>
        </p:nvSpPr>
        <p:spPr>
          <a:xfrm>
            <a:off x="1609344" y="5538619"/>
            <a:ext cx="859536" cy="201168"/>
          </a:xfrm>
          <a:prstGeom prst="rect">
            <a:avLst/>
          </a:prstGeom>
          <a:noFill/>
          <a:ln/>
        </p:spPr>
        <p:txBody>
          <a:bodyPr wrap="square" lIns="0" tIns="0" rIns="0" bIns="0" rtlCol="0" anchor="t"/>
          <a:lstStyle/>
          <a:p>
            <a:pPr indent="0" marL="0">
              <a:buNone/>
            </a:pPr>
            <a:r>
              <a:rPr lang="en-US" sz="680" dirty="0">
                <a:solidFill>
                  <a:srgbClr val="18261F"/>
                </a:solidFill>
                <a:latin typeface="Calibri" pitchFamily="34" charset="0"/>
                <a:ea typeface="Calibri" pitchFamily="34" charset="-122"/>
                <a:cs typeface="Calibri" pitchFamily="34" charset="-120"/>
              </a:rPr>
              <a:t>more history available</a:t>
            </a:r>
            <a:endParaRPr lang="en-US" sz="680" dirty="0"/>
          </a:p>
        </p:txBody>
      </p:sp>
      <p:sp>
        <p:nvSpPr>
          <p:cNvPr id="15" name="Text 12"/>
          <p:cNvSpPr txBox="1"/>
          <p:nvPr/>
        </p:nvSpPr>
        <p:spPr>
          <a:xfrm>
            <a:off x="2459736" y="5337451"/>
            <a:ext cx="182880" cy="274320"/>
          </a:xfrm>
          <a:prstGeom prst="rect">
            <a:avLst/>
          </a:prstGeom>
          <a:noFill/>
          <a:ln/>
        </p:spPr>
        <p:txBody>
          <a:bodyPr wrap="square" lIns="0" tIns="0" rIns="0" bIns="0" rtlCol="0" anchor="ctr"/>
          <a:lstStyle/>
          <a:p>
            <a:pPr algn="ctr" indent="0" marL="0">
              <a:buNone/>
            </a:pPr>
            <a:r>
              <a:rPr lang="en-US" sz="900" dirty="0">
                <a:solidFill>
                  <a:srgbClr val="4E5D55"/>
                </a:solidFill>
                <a:latin typeface="Cambria" pitchFamily="34" charset="0"/>
                <a:ea typeface="Cambria" pitchFamily="34" charset="-122"/>
                <a:cs typeface="Cambria" pitchFamily="34" charset="-120"/>
              </a:rPr>
              <a:t>→</a:t>
            </a:r>
            <a:endParaRPr lang="en-US" sz="900" dirty="0"/>
          </a:p>
        </p:txBody>
      </p:sp>
      <p:sp>
        <p:nvSpPr>
          <p:cNvPr id="16" name="Shape 13"/>
          <p:cNvSpPr/>
          <p:nvPr/>
        </p:nvSpPr>
        <p:spPr>
          <a:xfrm>
            <a:off x="2596896" y="5200291"/>
            <a:ext cx="932688" cy="566928"/>
          </a:xfrm>
          <a:prstGeom prst="rect">
            <a:avLst/>
          </a:prstGeom>
          <a:solidFill>
            <a:srgbClr val="E3EFE7"/>
          </a:solidFill>
          <a:ln w="9525">
            <a:solidFill>
              <a:srgbClr val="1E6A44"/>
            </a:solidFill>
            <a:prstDash val="solid"/>
          </a:ln>
        </p:spPr>
      </p:sp>
      <p:sp>
        <p:nvSpPr>
          <p:cNvPr id="17" name="Text 14"/>
          <p:cNvSpPr txBox="1"/>
          <p:nvPr/>
        </p:nvSpPr>
        <p:spPr>
          <a:xfrm>
            <a:off x="2633472" y="5236867"/>
            <a:ext cx="859536" cy="310896"/>
          </a:xfrm>
          <a:prstGeom prst="rect">
            <a:avLst/>
          </a:prstGeom>
          <a:noFill/>
          <a:ln/>
        </p:spPr>
        <p:txBody>
          <a:bodyPr wrap="square" lIns="0" tIns="0" rIns="0" bIns="0" rtlCol="0" anchor="t"/>
          <a:lstStyle/>
          <a:p>
            <a:pPr indent="0" marL="0">
              <a:buNone/>
            </a:pPr>
            <a:r>
              <a:rPr lang="en-US" sz="630" b="1" dirty="0">
                <a:solidFill>
                  <a:srgbClr val="1E6A44"/>
                </a:solidFill>
                <a:latin typeface="Calibri" pitchFamily="34" charset="0"/>
                <a:ea typeface="Calibri" pitchFamily="34" charset="-122"/>
                <a:cs typeface="Calibri" pitchFamily="34" charset="-120"/>
              </a:rPr>
              <a:t>MAY BALANCES VISIBLE</a:t>
            </a:r>
            <a:endParaRPr lang="en-US" sz="630" dirty="0"/>
          </a:p>
        </p:txBody>
      </p:sp>
      <p:sp>
        <p:nvSpPr>
          <p:cNvPr id="18" name="Text 15"/>
          <p:cNvSpPr txBox="1"/>
          <p:nvPr/>
        </p:nvSpPr>
        <p:spPr>
          <a:xfrm>
            <a:off x="2633472" y="5538619"/>
            <a:ext cx="859536" cy="201168"/>
          </a:xfrm>
          <a:prstGeom prst="rect">
            <a:avLst/>
          </a:prstGeom>
          <a:noFill/>
          <a:ln/>
        </p:spPr>
        <p:txBody>
          <a:bodyPr wrap="square" lIns="0" tIns="0" rIns="0" bIns="0" rtlCol="0" anchor="t"/>
          <a:lstStyle/>
          <a:p>
            <a:pPr indent="0" marL="0">
              <a:buNone/>
            </a:pPr>
            <a:r>
              <a:rPr lang="en-US" sz="680" dirty="0">
                <a:solidFill>
                  <a:srgbClr val="18261F"/>
                </a:solidFill>
                <a:latin typeface="Calibri" pitchFamily="34" charset="0"/>
                <a:ea typeface="Calibri" pitchFamily="34" charset="-122"/>
                <a:cs typeface="Calibri" pitchFamily="34" charset="-120"/>
              </a:rPr>
              <a:t>never below ₹500</a:t>
            </a:r>
            <a:endParaRPr lang="en-US" sz="680" dirty="0"/>
          </a:p>
        </p:txBody>
      </p:sp>
      <p:sp>
        <p:nvSpPr>
          <p:cNvPr id="19" name="Text 16"/>
          <p:cNvSpPr txBox="1"/>
          <p:nvPr/>
        </p:nvSpPr>
        <p:spPr>
          <a:xfrm>
            <a:off x="3483864" y="5337451"/>
            <a:ext cx="182880" cy="274320"/>
          </a:xfrm>
          <a:prstGeom prst="rect">
            <a:avLst/>
          </a:prstGeom>
          <a:noFill/>
          <a:ln/>
        </p:spPr>
        <p:txBody>
          <a:bodyPr wrap="square" lIns="0" tIns="0" rIns="0" bIns="0" rtlCol="0" anchor="ctr"/>
          <a:lstStyle/>
          <a:p>
            <a:pPr algn="ctr" indent="0" marL="0">
              <a:buNone/>
            </a:pPr>
            <a:r>
              <a:rPr lang="en-US" sz="900" dirty="0">
                <a:solidFill>
                  <a:srgbClr val="4E5D55"/>
                </a:solidFill>
                <a:latin typeface="Cambria" pitchFamily="34" charset="0"/>
                <a:ea typeface="Cambria" pitchFamily="34" charset="-122"/>
                <a:cs typeface="Cambria" pitchFamily="34" charset="-120"/>
              </a:rPr>
              <a:t>→</a:t>
            </a:r>
            <a:endParaRPr lang="en-US" sz="900" dirty="0"/>
          </a:p>
        </p:txBody>
      </p:sp>
      <p:sp>
        <p:nvSpPr>
          <p:cNvPr id="20" name="Shape 17"/>
          <p:cNvSpPr/>
          <p:nvPr/>
        </p:nvSpPr>
        <p:spPr>
          <a:xfrm>
            <a:off x="3621024" y="5200291"/>
            <a:ext cx="932688" cy="566928"/>
          </a:xfrm>
          <a:prstGeom prst="rect">
            <a:avLst/>
          </a:prstGeom>
          <a:solidFill>
            <a:srgbClr val="E3EFE7"/>
          </a:solidFill>
          <a:ln w="9525">
            <a:solidFill>
              <a:srgbClr val="1E6A44"/>
            </a:solidFill>
            <a:prstDash val="solid"/>
          </a:ln>
        </p:spPr>
      </p:sp>
      <p:sp>
        <p:nvSpPr>
          <p:cNvPr id="21" name="Text 18"/>
          <p:cNvSpPr txBox="1"/>
          <p:nvPr/>
        </p:nvSpPr>
        <p:spPr>
          <a:xfrm>
            <a:off x="3657600" y="5236867"/>
            <a:ext cx="859536" cy="310896"/>
          </a:xfrm>
          <a:prstGeom prst="rect">
            <a:avLst/>
          </a:prstGeom>
          <a:noFill/>
          <a:ln/>
        </p:spPr>
        <p:txBody>
          <a:bodyPr wrap="square" lIns="0" tIns="0" rIns="0" bIns="0" rtlCol="0" anchor="t"/>
          <a:lstStyle/>
          <a:p>
            <a:pPr indent="0" marL="0">
              <a:buNone/>
            </a:pPr>
            <a:r>
              <a:rPr lang="en-US" sz="630" b="1" dirty="0">
                <a:solidFill>
                  <a:srgbClr val="1E6A44"/>
                </a:solidFill>
                <a:latin typeface="Calibri" pitchFamily="34" charset="0"/>
                <a:ea typeface="Calibri" pitchFamily="34" charset="-122"/>
                <a:cs typeface="Calibri" pitchFamily="34" charset="-120"/>
              </a:rPr>
              <a:t>JUNE VERDICT CHANGES</a:t>
            </a:r>
            <a:endParaRPr lang="en-US" sz="630" dirty="0"/>
          </a:p>
        </p:txBody>
      </p:sp>
      <p:sp>
        <p:nvSpPr>
          <p:cNvPr id="22" name="Text 19"/>
          <p:cNvSpPr txBox="1"/>
          <p:nvPr/>
        </p:nvSpPr>
        <p:spPr>
          <a:xfrm>
            <a:off x="3657600" y="5538619"/>
            <a:ext cx="859536" cy="201168"/>
          </a:xfrm>
          <a:prstGeom prst="rect">
            <a:avLst/>
          </a:prstGeom>
          <a:noFill/>
          <a:ln/>
        </p:spPr>
        <p:txBody>
          <a:bodyPr wrap="square" lIns="0" tIns="0" rIns="0" bIns="0" rtlCol="0" anchor="t"/>
          <a:lstStyle/>
          <a:p>
            <a:pPr indent="0" marL="0">
              <a:buNone/>
            </a:pPr>
            <a:r>
              <a:rPr lang="en-US" sz="680" dirty="0">
                <a:solidFill>
                  <a:srgbClr val="18261F"/>
                </a:solidFill>
                <a:latin typeface="Calibri" pitchFamily="34" charset="0"/>
                <a:ea typeface="Calibri" pitchFamily="34" charset="-122"/>
                <a:cs typeface="Calibri" pitchFamily="34" charset="-120"/>
              </a:rPr>
              <a:t>min-balance penalty</a:t>
            </a:r>
            <a:endParaRPr lang="en-US" sz="680" dirty="0"/>
          </a:p>
        </p:txBody>
      </p:sp>
      <p:sp>
        <p:nvSpPr>
          <p:cNvPr id="23" name="Text 20"/>
          <p:cNvSpPr txBox="1"/>
          <p:nvPr/>
        </p:nvSpPr>
        <p:spPr>
          <a:xfrm>
            <a:off x="4507992" y="5337451"/>
            <a:ext cx="182880" cy="274320"/>
          </a:xfrm>
          <a:prstGeom prst="rect">
            <a:avLst/>
          </a:prstGeom>
          <a:noFill/>
          <a:ln/>
        </p:spPr>
        <p:txBody>
          <a:bodyPr wrap="square" lIns="0" tIns="0" rIns="0" bIns="0" rtlCol="0" anchor="ctr"/>
          <a:lstStyle/>
          <a:p>
            <a:pPr algn="ctr" indent="0" marL="0">
              <a:buNone/>
            </a:pPr>
            <a:r>
              <a:rPr lang="en-US" sz="900" dirty="0">
                <a:solidFill>
                  <a:srgbClr val="4E5D55"/>
                </a:solidFill>
                <a:latin typeface="Cambria" pitchFamily="34" charset="0"/>
                <a:ea typeface="Cambria" pitchFamily="34" charset="-122"/>
                <a:cs typeface="Cambria" pitchFamily="34" charset="-120"/>
              </a:rPr>
              <a:t>→</a:t>
            </a:r>
            <a:endParaRPr lang="en-US" sz="900" dirty="0"/>
          </a:p>
        </p:txBody>
      </p:sp>
      <p:sp>
        <p:nvSpPr>
          <p:cNvPr id="24" name="Shape 21"/>
          <p:cNvSpPr/>
          <p:nvPr/>
        </p:nvSpPr>
        <p:spPr>
          <a:xfrm>
            <a:off x="4645152" y="5200291"/>
            <a:ext cx="932688" cy="566928"/>
          </a:xfrm>
          <a:prstGeom prst="rect">
            <a:avLst/>
          </a:prstGeom>
          <a:solidFill>
            <a:srgbClr val="144C31"/>
          </a:solidFill>
          <a:ln w="9525">
            <a:solidFill>
              <a:srgbClr val="144C31"/>
            </a:solidFill>
            <a:prstDash val="solid"/>
          </a:ln>
        </p:spPr>
      </p:sp>
      <p:sp>
        <p:nvSpPr>
          <p:cNvPr id="25" name="Text 22"/>
          <p:cNvSpPr txBox="1"/>
          <p:nvPr/>
        </p:nvSpPr>
        <p:spPr>
          <a:xfrm>
            <a:off x="4681728" y="5236867"/>
            <a:ext cx="859536" cy="310896"/>
          </a:xfrm>
          <a:prstGeom prst="rect">
            <a:avLst/>
          </a:prstGeom>
          <a:noFill/>
          <a:ln/>
        </p:spPr>
        <p:txBody>
          <a:bodyPr wrap="square" lIns="0" tIns="0" rIns="0" bIns="0" rtlCol="0" anchor="t"/>
          <a:lstStyle/>
          <a:p>
            <a:pPr indent="0" marL="0">
              <a:buNone/>
            </a:pPr>
            <a:r>
              <a:rPr lang="en-US" sz="630" b="1" dirty="0">
                <a:solidFill>
                  <a:srgbClr val="C9961A"/>
                </a:solidFill>
                <a:latin typeface="Calibri" pitchFamily="34" charset="0"/>
                <a:ea typeface="Calibri" pitchFamily="34" charset="-122"/>
                <a:cs typeface="Calibri" pitchFamily="34" charset="-120"/>
              </a:rPr>
              <a:t>“NEEDS ONE ANSWER” → “CONFIRMED”</a:t>
            </a:r>
            <a:endParaRPr lang="en-US" sz="630" dirty="0"/>
          </a:p>
        </p:txBody>
      </p:sp>
      <p:sp>
        <p:nvSpPr>
          <p:cNvPr id="26" name="Text 23"/>
          <p:cNvSpPr txBox="1"/>
          <p:nvPr/>
        </p:nvSpPr>
        <p:spPr>
          <a:xfrm>
            <a:off x="4681728" y="5538619"/>
            <a:ext cx="859536" cy="201168"/>
          </a:xfrm>
          <a:prstGeom prst="rect">
            <a:avLst/>
          </a:prstGeom>
          <a:noFill/>
          <a:ln/>
        </p:spPr>
        <p:txBody>
          <a:bodyPr wrap="square" lIns="0" tIns="0" rIns="0" bIns="0" rtlCol="0" anchor="t"/>
          <a:lstStyle/>
          <a:p>
            <a:pPr indent="0" marL="0">
              <a:buNone/>
            </a:pPr>
            <a:r>
              <a:rPr lang="en-US" sz="680" dirty="0">
                <a:solidFill>
                  <a:srgbClr val="FFFFFF"/>
                </a:solidFill>
                <a:latin typeface="Calibri" pitchFamily="34" charset="0"/>
                <a:ea typeface="Calibri" pitchFamily="34" charset="-122"/>
                <a:cs typeface="Calibri" pitchFamily="34" charset="-120"/>
              </a:rPr>
              <a:t>recoverable</a:t>
            </a:r>
            <a:endParaRPr lang="en-US" sz="680" dirty="0"/>
          </a:p>
        </p:txBody>
      </p:sp>
      <p:pic>
        <p:nvPicPr>
          <p:cNvPr id="27" name="Image 1" descr="/home/claude/deck/shot-tests.png">    </p:cNvPr>
          <p:cNvPicPr>
            <a:picLocks noChangeAspect="1"/>
          </p:cNvPicPr>
          <p:nvPr/>
        </p:nvPicPr>
        <p:blipFill>
          <a:blip r:embed="rId2"/>
          <a:stretch>
            <a:fillRect/>
          </a:stretch>
        </p:blipFill>
        <p:spPr>
          <a:xfrm>
            <a:off x="5852160" y="1737360"/>
            <a:ext cx="2788920" cy="1143000"/>
          </a:xfrm>
          <a:prstGeom prst="rect">
            <a:avLst/>
          </a:prstGeom>
        </p:spPr>
      </p:pic>
      <p:sp>
        <p:nvSpPr>
          <p:cNvPr id="28" name="Text 24"/>
          <p:cNvSpPr txBox="1"/>
          <p:nvPr/>
        </p:nvSpPr>
        <p:spPr>
          <a:xfrm>
            <a:off x="5852160" y="2916936"/>
            <a:ext cx="2788920" cy="228600"/>
          </a:xfrm>
          <a:prstGeom prst="rect">
            <a:avLst/>
          </a:prstGeom>
          <a:noFill/>
          <a:ln/>
        </p:spPr>
        <p:txBody>
          <a:bodyPr wrap="square" lIns="0" tIns="0" rIns="0" bIns="0" rtlCol="0" anchor="ctr"/>
          <a:lstStyle/>
          <a:p>
            <a:pPr indent="0" marL="0">
              <a:buNone/>
            </a:pPr>
            <a:r>
              <a:rPr lang="en-US" sz="900" b="1" dirty="0">
                <a:solidFill>
                  <a:srgbClr val="1E6A44"/>
                </a:solidFill>
                <a:latin typeface="Calibri" pitchFamily="34" charset="0"/>
                <a:ea typeface="Calibri" pitchFamily="34" charset="-122"/>
                <a:cs typeface="Calibri" pitchFamily="34" charset="-120"/>
              </a:rPr>
              <a:t>76 automated tests, all passing (pytest)</a:t>
            </a:r>
            <a:endParaRPr lang="en-US" sz="900" dirty="0"/>
          </a:p>
        </p:txBody>
      </p:sp>
      <p:sp>
        <p:nvSpPr>
          <p:cNvPr id="29" name="Text 25"/>
          <p:cNvSpPr txBox="1"/>
          <p:nvPr/>
        </p:nvSpPr>
        <p:spPr>
          <a:xfrm>
            <a:off x="8823960" y="1737360"/>
            <a:ext cx="2816352" cy="219456"/>
          </a:xfrm>
          <a:prstGeom prst="rect">
            <a:avLst/>
          </a:prstGeom>
          <a:noFill/>
          <a:ln/>
        </p:spPr>
        <p:txBody>
          <a:bodyPr wrap="square" lIns="0" tIns="0" rIns="0" bIns="0" rtlCol="0" anchor="ctr"/>
          <a:lstStyle/>
          <a:p>
            <a:pPr indent="0" marL="0">
              <a:buNone/>
            </a:pPr>
            <a:r>
              <a:rPr lang="en-US" sz="800" b="1" spc="150" kern="0" dirty="0">
                <a:solidFill>
                  <a:srgbClr val="4E5D55"/>
                </a:solidFill>
                <a:latin typeface="Calibri" pitchFamily="34" charset="0"/>
                <a:ea typeface="Calibri" pitchFamily="34" charset="-122"/>
                <a:cs typeface="Calibri" pitchFamily="34" charset="-120"/>
              </a:rPr>
              <a:t>REPRESENTATIVE AUTOMATED TESTS  ·  3 of 76</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823960" y="1975104"/>
          <a:ext cx="2816352" cy="914400"/>
        </p:xfrm>
        <a:graphic>
          <a:graphicData uri="http://schemas.openxmlformats.org/drawingml/2006/table">
            <a:tbl>
              <a:tblPr/>
              <a:tblGrid>
                <a:gridCol w="1323685"/>
                <a:gridCol w="929396"/>
                <a:gridCol w="563270"/>
              </a:tblGrid>
              <a:tr h="246888">
                <a:tc>
                  <a:txBody>
                    <a:bodyPr/>
                    <a:lstStyle/>
                    <a:p>
                      <a:pPr indent="0" marL="0">
                        <a:buNone/>
                      </a:pPr>
                      <a:r>
                        <a:rPr lang="en-US" sz="850" b="1" dirty="0">
                          <a:solidFill>
                            <a:srgbClr val="4E5D55"/>
                          </a:solidFill>
                          <a:latin typeface="Calibri" pitchFamily="34" charset="0"/>
                          <a:ea typeface="Calibri" pitchFamily="34" charset="-122"/>
                          <a:cs typeface="Calibri" pitchFamily="34" charset="-120"/>
                        </a:rPr>
                        <a:t>Case</a:t>
                      </a:r>
                      <a:endParaRPr lang="en-US" sz="850" dirty="0">
                        <a:latin typeface="Calibri" charset="0"/>
                        <a:ea typeface="Calibri" charset="0"/>
                        <a:cs typeface="Calibri" charset="0"/>
                      </a:endParaRPr>
                    </a:p>
                  </a:txBody>
                  <a:tcPr marL="36576" marR="36576" marT="36576" marB="36576"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indent="0" marL="0">
                        <a:buNone/>
                      </a:pPr>
                      <a:r>
                        <a:rPr lang="en-US" sz="850" b="1" dirty="0">
                          <a:solidFill>
                            <a:srgbClr val="4E5D55"/>
                          </a:solidFill>
                          <a:latin typeface="Calibri" pitchFamily="34" charset="0"/>
                          <a:ea typeface="Calibri" pitchFamily="34" charset="-122"/>
                          <a:cs typeface="Calibri" pitchFamily="34" charset="-120"/>
                        </a:rPr>
                        <a:t>Expected</a:t>
                      </a:r>
                      <a:endParaRPr lang="en-US" sz="850" dirty="0">
                        <a:latin typeface="Calibri" charset="0"/>
                        <a:ea typeface="Calibri" charset="0"/>
                        <a:cs typeface="Calibri" charset="0"/>
                      </a:endParaRPr>
                    </a:p>
                  </a:txBody>
                  <a:tcPr marL="36576" marR="36576" marT="36576" marB="36576"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c>
                  <a:txBody>
                    <a:bodyPr/>
                    <a:lstStyle/>
                    <a:p>
                      <a:pPr algn="ctr" indent="0" marL="0">
                        <a:buNone/>
                      </a:pPr>
                      <a:r>
                        <a:rPr lang="en-US" sz="850" b="1" dirty="0">
                          <a:solidFill>
                            <a:srgbClr val="4E5D55"/>
                          </a:solidFill>
                          <a:latin typeface="Calibri" pitchFamily="34" charset="0"/>
                          <a:ea typeface="Calibri" pitchFamily="34" charset="-122"/>
                          <a:cs typeface="Calibri" pitchFamily="34" charset="-120"/>
                        </a:rPr>
                        <a:t>Result</a:t>
                      </a:r>
                      <a:endParaRPr lang="en-US" sz="850" dirty="0">
                        <a:latin typeface="Calibri" charset="0"/>
                        <a:ea typeface="Calibri" charset="0"/>
                        <a:cs typeface="Calibri" charset="0"/>
                      </a:endParaRPr>
                    </a:p>
                  </a:txBody>
                  <a:tcPr marL="36576" marR="36576" marT="36576" marB="36576"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solidFill>
                      <a:srgbClr val="F5F7F2"/>
                    </a:solidFill>
                  </a:tcPr>
                </a:tc>
              </a:tr>
              <a:tr h="246888">
                <a:tc>
                  <a:txBody>
                    <a:bodyPr/>
                    <a:lstStyle/>
                    <a:p>
                      <a:pPr indent="0" marL="0">
                        <a:buNone/>
                      </a:pPr>
                      <a:r>
                        <a:rPr lang="en-US" sz="900" dirty="0">
                          <a:solidFill>
                            <a:srgbClr val="18261F"/>
                          </a:solidFill>
                          <a:latin typeface="Calibri" pitchFamily="34" charset="0"/>
                          <a:ea typeface="Calibri" pitchFamily="34" charset="-122"/>
                          <a:cs typeface="Calibri" pitchFamily="34" charset="-120"/>
                        </a:rPr>
                        <a:t>Late ATM reversal — 12 days</a:t>
                      </a:r>
                      <a:endParaRPr lang="en-US" sz="900" dirty="0">
                        <a:latin typeface="Calibri" charset="0"/>
                        <a:ea typeface="Calibri" charset="0"/>
                        <a:cs typeface="Calibri" charset="0"/>
                      </a:endParaRPr>
                    </a:p>
                  </a:txBody>
                  <a:tcPr marL="36576" marR="36576" marT="36576" marB="36576"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indent="0" marL="0">
                        <a:buNone/>
                      </a:pPr>
                      <a:r>
                        <a:rPr lang="en-US" sz="900" dirty="0">
                          <a:solidFill>
                            <a:srgbClr val="18261F"/>
                          </a:solidFill>
                          <a:latin typeface="Calibri" pitchFamily="34" charset="0"/>
                          <a:ea typeface="Calibri" pitchFamily="34" charset="-122"/>
                          <a:cs typeface="Calibri" pitchFamily="34" charset="-120"/>
                        </a:rPr>
                        <a:t>Claim: 12 × ₹100</a:t>
                      </a:r>
                      <a:endParaRPr lang="en-US" sz="900" dirty="0">
                        <a:latin typeface="Calibri" charset="0"/>
                        <a:ea typeface="Calibri" charset="0"/>
                        <a:cs typeface="Calibri" charset="0"/>
                      </a:endParaRPr>
                    </a:p>
                  </a:txBody>
                  <a:tcPr marL="36576" marR="36576" marT="36576" marB="36576"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900" b="1" dirty="0">
                          <a:solidFill>
                            <a:srgbClr val="1E6A44"/>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marL="36576" marR="36576" marT="36576" marB="36576"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r>
              <a:tr h="246888">
                <a:tc>
                  <a:txBody>
                    <a:bodyPr/>
                    <a:lstStyle/>
                    <a:p>
                      <a:pPr indent="0" marL="0">
                        <a:buNone/>
                      </a:pPr>
                      <a:r>
                        <a:rPr lang="en-US" sz="900" dirty="0">
                          <a:solidFill>
                            <a:srgbClr val="18261F"/>
                          </a:solidFill>
                          <a:latin typeface="Calibri" pitchFamily="34" charset="0"/>
                          <a:ea typeface="Calibri" pitchFamily="34" charset="-122"/>
                          <a:cs typeface="Calibri" pitchFamily="34" charset="-120"/>
                        </a:rPr>
                        <a:t>Partial reversal within T+5</a:t>
                      </a:r>
                      <a:endParaRPr lang="en-US" sz="900" dirty="0">
                        <a:latin typeface="Calibri" charset="0"/>
                        <a:ea typeface="Calibri" charset="0"/>
                        <a:cs typeface="Calibri" charset="0"/>
                      </a:endParaRPr>
                    </a:p>
                  </a:txBody>
                  <a:tcPr marL="36576" marR="36576" marT="36576" marB="36576"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indent="0" marL="0">
                        <a:buNone/>
                      </a:pPr>
                      <a:r>
                        <a:rPr lang="en-US" sz="900" dirty="0">
                          <a:solidFill>
                            <a:srgbClr val="18261F"/>
                          </a:solidFill>
                          <a:latin typeface="Calibri" pitchFamily="34" charset="0"/>
                          <a:ea typeface="Calibri" pitchFamily="34" charset="-122"/>
                          <a:cs typeface="Calibri" pitchFamily="34" charset="-120"/>
                        </a:rPr>
                        <a:t>No claim</a:t>
                      </a:r>
                      <a:endParaRPr lang="en-US" sz="900" dirty="0">
                        <a:latin typeface="Calibri" charset="0"/>
                        <a:ea typeface="Calibri" charset="0"/>
                        <a:cs typeface="Calibri" charset="0"/>
                      </a:endParaRPr>
                    </a:p>
                  </a:txBody>
                  <a:tcPr marL="36576" marR="36576" marT="36576" marB="36576"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900" b="1" dirty="0">
                          <a:solidFill>
                            <a:srgbClr val="1E6A44"/>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marL="36576" marR="36576" marT="36576" marB="36576"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r>
              <a:tr h="246888">
                <a:tc>
                  <a:txBody>
                    <a:bodyPr/>
                    <a:lstStyle/>
                    <a:p>
                      <a:pPr indent="0" marL="0">
                        <a:buNone/>
                      </a:pPr>
                      <a:r>
                        <a:rPr lang="en-US" sz="900" dirty="0">
                          <a:solidFill>
                            <a:srgbClr val="18261F"/>
                          </a:solidFill>
                          <a:latin typeface="Calibri" pitchFamily="34" charset="0"/>
                          <a:ea typeface="Calibri" pitchFamily="34" charset="-122"/>
                          <a:cs typeface="Calibri" pitchFamily="34" charset="-120"/>
                        </a:rPr>
                        <a:t>₹50,000 college fee</a:t>
                      </a:r>
                      <a:endParaRPr lang="en-US" sz="900" dirty="0">
                        <a:latin typeface="Calibri" charset="0"/>
                        <a:ea typeface="Calibri" charset="0"/>
                        <a:cs typeface="Calibri" charset="0"/>
                      </a:endParaRPr>
                    </a:p>
                  </a:txBody>
                  <a:tcPr marL="36576" marR="36576" marT="36576" marB="36576"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indent="0" marL="0">
                        <a:buNone/>
                      </a:pPr>
                      <a:r>
                        <a:rPr lang="en-US" sz="900" dirty="0">
                          <a:solidFill>
                            <a:srgbClr val="18261F"/>
                          </a:solidFill>
                          <a:latin typeface="Calibri" pitchFamily="34" charset="0"/>
                          <a:ea typeface="Calibri" pitchFamily="34" charset="-122"/>
                          <a:cs typeface="Calibri" pitchFamily="34" charset="-120"/>
                        </a:rPr>
                        <a:t>Never flagged</a:t>
                      </a:r>
                      <a:endParaRPr lang="en-US" sz="900" dirty="0">
                        <a:latin typeface="Calibri" charset="0"/>
                        <a:ea typeface="Calibri" charset="0"/>
                        <a:cs typeface="Calibri" charset="0"/>
                      </a:endParaRPr>
                    </a:p>
                  </a:txBody>
                  <a:tcPr marL="36576" marR="36576" marT="36576" marB="36576"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c>
                  <a:txBody>
                    <a:bodyPr/>
                    <a:lstStyle/>
                    <a:p>
                      <a:pPr algn="ctr" indent="0" marL="0">
                        <a:buNone/>
                      </a:pPr>
                      <a:r>
                        <a:rPr lang="en-US" sz="900" b="1" dirty="0">
                          <a:solidFill>
                            <a:srgbClr val="1E6A44"/>
                          </a:solidFill>
                          <a:latin typeface="Calibri" pitchFamily="34" charset="0"/>
                          <a:ea typeface="Calibri" pitchFamily="34" charset="-122"/>
                          <a:cs typeface="Calibri" pitchFamily="34" charset="-120"/>
                        </a:rPr>
                        <a:t>PASS</a:t>
                      </a:r>
                      <a:endParaRPr lang="en-US" sz="900" dirty="0">
                        <a:latin typeface="Calibri" charset="0"/>
                        <a:ea typeface="Calibri" charset="0"/>
                        <a:cs typeface="Calibri" charset="0"/>
                      </a:endParaRPr>
                    </a:p>
                  </a:txBody>
                  <a:tcPr marL="36576" marR="36576" marT="36576" marB="36576" anchor="ctr">
                    <a:lnL w="6350" cap="flat" cmpd="sng" algn="ctr">
                      <a:solidFill>
                        <a:srgbClr val="D7DDD6"/>
                      </a:solidFill>
                      <a:prstDash val="solid"/>
                      <a:round/>
                      <a:headEnd type="none" w="med" len="med"/>
                      <a:tailEnd type="none" w="med" len="med"/>
                    </a:lnL>
                    <a:lnR w="6350" cap="flat" cmpd="sng" algn="ctr">
                      <a:solidFill>
                        <a:srgbClr val="D7DDD6"/>
                      </a:solidFill>
                      <a:prstDash val="solid"/>
                      <a:round/>
                      <a:headEnd type="none" w="med" len="med"/>
                      <a:tailEnd type="none" w="med" len="med"/>
                    </a:lnR>
                    <a:lnT w="6350" cap="flat" cmpd="sng" algn="ctr">
                      <a:solidFill>
                        <a:srgbClr val="D7DDD6"/>
                      </a:solidFill>
                      <a:prstDash val="solid"/>
                      <a:round/>
                      <a:headEnd type="none" w="med" len="med"/>
                      <a:tailEnd type="none" w="med" len="med"/>
                    </a:lnT>
                    <a:lnB w="6350" cap="flat" cmpd="sng" algn="ctr">
                      <a:solidFill>
                        <a:srgbClr val="D7DDD6"/>
                      </a:solidFill>
                      <a:prstDash val="solid"/>
                      <a:round/>
                      <a:headEnd type="none" w="med" len="med"/>
                      <a:tailEnd type="none" w="med" len="med"/>
                    </a:lnB>
                  </a:tcPr>
                </a:tc>
              </a:tr>
            </a:tbl>
          </a:graphicData>
        </a:graphic>
      </p:graphicFrame>
      <p:pic>
        <p:nvPicPr>
          <p:cNvPr id="31" name="Image 2" descr="/home/claude/deck/shot-print.png">    </p:cNvPr>
          <p:cNvPicPr>
            <a:picLocks noChangeAspect="1"/>
          </p:cNvPicPr>
          <p:nvPr/>
        </p:nvPicPr>
        <p:blipFill>
          <a:blip r:embed="rId3"/>
          <a:stretch>
            <a:fillRect/>
          </a:stretch>
        </p:blipFill>
        <p:spPr>
          <a:xfrm>
            <a:off x="5852160" y="3200400"/>
            <a:ext cx="1645509" cy="1234440"/>
          </a:xfrm>
          <a:prstGeom prst="rect">
            <a:avLst/>
          </a:prstGeom>
        </p:spPr>
      </p:pic>
      <p:pic>
        <p:nvPicPr>
          <p:cNvPr id="32" name="Image 3" descr="/home/claude/deck/shot-phone.png">    </p:cNvPr>
          <p:cNvPicPr>
            <a:picLocks noChangeAspect="1"/>
          </p:cNvPicPr>
          <p:nvPr/>
        </p:nvPicPr>
        <p:blipFill>
          <a:blip r:embed="rId4"/>
          <a:stretch>
            <a:fillRect/>
          </a:stretch>
        </p:blipFill>
        <p:spPr>
          <a:xfrm>
            <a:off x="7607397" y="3200400"/>
            <a:ext cx="633268" cy="1234440"/>
          </a:xfrm>
          <a:prstGeom prst="rect">
            <a:avLst/>
          </a:prstGeom>
        </p:spPr>
      </p:pic>
      <p:sp>
        <p:nvSpPr>
          <p:cNvPr id="33" name="Text 26"/>
          <p:cNvSpPr txBox="1"/>
          <p:nvPr/>
        </p:nvSpPr>
        <p:spPr>
          <a:xfrm>
            <a:off x="8405256" y="3182112"/>
            <a:ext cx="3235056" cy="1828800"/>
          </a:xfrm>
          <a:prstGeom prst="rect">
            <a:avLst/>
          </a:prstGeom>
          <a:noFill/>
          <a:ln/>
        </p:spPr>
        <p:txBody>
          <a:bodyPr wrap="square" lIns="0" tIns="0" rIns="0" bIns="0" rtlCol="0" anchor="t"/>
          <a:lstStyle/>
          <a:p>
            <a:pPr indent="0" marL="0">
              <a:buNone/>
            </a:pPr>
            <a:r>
              <a:rPr lang="en-US" sz="1050" b="1" dirty="0">
                <a:solidFill>
                  <a:srgbClr val="1E6A44"/>
                </a:solidFill>
                <a:latin typeface="Cambria" pitchFamily="34" charset="0"/>
                <a:ea typeface="Cambria" pitchFamily="34" charset="-122"/>
                <a:cs typeface="Cambria" pitchFamily="34" charset="-120"/>
              </a:rPr>
              <a:t>Complaint generated, print-ready A4</a:t>
            </a:r>
            <a:endParaRPr lang="en-US" sz="1050" dirty="0"/>
          </a:p>
          <a:p>
            <a:pPr indent="0" marL="0">
              <a:buNone/>
            </a:pPr>
            <a:r>
              <a:rPr lang="en-US" sz="900" dirty="0">
                <a:solidFill>
                  <a:srgbClr val="18261F"/>
                </a:solidFill>
                <a:latin typeface="Calibri" pitchFamily="34" charset="0"/>
                <a:ea typeface="Calibri" pitchFamily="34" charset="-122"/>
                <a:cs typeface="Calibri" pitchFamily="34" charset="-120"/>
              </a:rPr>
              <a:t>letter, RBI references, Annexure A with the evidence lines</a:t>
            </a:r>
            <a:endParaRPr lang="en-US" sz="105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1E6A44"/>
                </a:solidFill>
                <a:latin typeface="Cambria" pitchFamily="34" charset="0"/>
                <a:ea typeface="Cambria" pitchFamily="34" charset="-122"/>
                <a:cs typeface="Cambria" pitchFamily="34" charset="-120"/>
              </a:rPr>
              <a:t>Guardian message — real email, one button</a:t>
            </a:r>
            <a:endParaRPr lang="en-US" sz="1050" dirty="0"/>
          </a:p>
          <a:p>
            <a:pPr indent="0" marL="0">
              <a:buNone/>
            </a:pPr>
            <a:r>
              <a:rPr lang="en-US" sz="900" dirty="0">
                <a:solidFill>
                  <a:srgbClr val="18261F"/>
                </a:solidFill>
                <a:latin typeface="Calibri" pitchFamily="34" charset="0"/>
                <a:ea typeface="Calibri" pitchFamily="34" charset="-122"/>
                <a:cs typeface="Calibri" pitchFamily="34" charset="-120"/>
              </a:rPr>
              <a:t>the laptop screen moves to “Sent” when the phone taps; no complaint without human confirmation</a:t>
            </a:r>
            <a:endParaRPr lang="en-US" sz="1050" dirty="0"/>
          </a:p>
          <a:p>
            <a:pPr indent="0" marL="0">
              <a:buNone/>
            </a:pPr>
            <a:r>
              <a:rPr lang="en-US" sz="400" dirty="0">
                <a:solidFill>
                  <a:srgbClr val="000000"/>
                </a:solidFill>
                <a:latin typeface="Calibri" pitchFamily="34" charset="0"/>
                <a:ea typeface="Calibri" pitchFamily="34" charset="-122"/>
                <a:cs typeface="Calibri" pitchFamily="34" charset="-120"/>
              </a:rPr>
              <a:t> </a:t>
            </a:r>
            <a:endParaRPr lang="en-US" sz="1050" dirty="0"/>
          </a:p>
          <a:p>
            <a:pPr indent="0" marL="0">
              <a:buNone/>
            </a:pPr>
            <a:r>
              <a:rPr lang="en-US" sz="1050" b="1" dirty="0">
                <a:solidFill>
                  <a:srgbClr val="1E6A44"/>
                </a:solidFill>
                <a:latin typeface="Cambria" pitchFamily="34" charset="0"/>
                <a:ea typeface="Cambria" pitchFamily="34" charset="-122"/>
                <a:cs typeface="Cambria" pitchFamily="34" charset="-120"/>
              </a:rPr>
              <a:t>Open 22-rule JSON rulebook</a:t>
            </a:r>
            <a:endParaRPr lang="en-US" sz="1050" dirty="0"/>
          </a:p>
          <a:p>
            <a:pPr indent="0" marL="0">
              <a:buNone/>
            </a:pPr>
            <a:r>
              <a:rPr lang="en-US" sz="900" dirty="0">
                <a:solidFill>
                  <a:srgbClr val="18261F"/>
                </a:solidFill>
                <a:latin typeface="Calibri" pitchFamily="34" charset="0"/>
                <a:ea typeface="Calibri" pitchFamily="34" charset="-122"/>
                <a:cs typeface="Calibri" pitchFamily="34" charset="-120"/>
              </a:rPr>
              <a:t>circular · effective window · formula · evidence · tests. Code on the demo laptop, available to the panel.</a:t>
            </a:r>
            <a:endParaRPr lang="en-US" sz="1050" dirty="0"/>
          </a:p>
        </p:txBody>
      </p:sp>
      <p:sp>
        <p:nvSpPr>
          <p:cNvPr id="34" name="Shape 27"/>
          <p:cNvSpPr/>
          <p:nvPr/>
        </p:nvSpPr>
        <p:spPr>
          <a:xfrm>
            <a:off x="5852160" y="5074920"/>
            <a:ext cx="5788152" cy="960120"/>
          </a:xfrm>
          <a:prstGeom prst="rect">
            <a:avLst/>
          </a:prstGeom>
          <a:solidFill>
            <a:srgbClr val="F7E3DF"/>
          </a:solidFill>
          <a:ln w="9525">
            <a:solidFill>
              <a:srgbClr val="A9392C"/>
            </a:solidFill>
            <a:prstDash val="solid"/>
          </a:ln>
        </p:spPr>
      </p:sp>
      <p:sp>
        <p:nvSpPr>
          <p:cNvPr id="35" name="Text 28"/>
          <p:cNvSpPr txBox="1"/>
          <p:nvPr/>
        </p:nvSpPr>
        <p:spPr>
          <a:xfrm>
            <a:off x="5989320" y="5102352"/>
            <a:ext cx="5513832" cy="914400"/>
          </a:xfrm>
          <a:prstGeom prst="rect">
            <a:avLst/>
          </a:prstGeom>
          <a:noFill/>
          <a:ln/>
        </p:spPr>
        <p:txBody>
          <a:bodyPr wrap="square" lIns="0" tIns="0" rIns="0" bIns="0" rtlCol="0" anchor="ctr"/>
          <a:lstStyle/>
          <a:p>
            <a:pPr indent="0" marL="0">
              <a:buNone/>
            </a:pPr>
            <a:r>
              <a:rPr lang="en-US" sz="1000" b="1" spc="150" kern="0" dirty="0">
                <a:solidFill>
                  <a:srgbClr val="A9392C"/>
                </a:solidFill>
                <a:latin typeface="Calibri" pitchFamily="34" charset="0"/>
                <a:ea typeface="Calibri" pitchFamily="34" charset="-122"/>
                <a:cs typeface="Calibri" pitchFamily="34" charset="-120"/>
              </a:rPr>
              <a:t>HONEST LIMITATION</a:t>
            </a:r>
            <a:endParaRPr lang="en-US" sz="1000" dirty="0"/>
          </a:p>
          <a:p>
            <a:pPr indent="0" marL="0">
              <a:buNone/>
            </a:pPr>
            <a:r>
              <a:rPr lang="en-US" sz="950" dirty="0">
                <a:solidFill>
                  <a:srgbClr val="18261F"/>
                </a:solidFill>
                <a:latin typeface="Calibri" pitchFamily="34" charset="0"/>
                <a:ea typeface="Calibri" pitchFamily="34" charset="-122"/>
                <a:cs typeface="Calibri" pitchFamily="34" charset="-120"/>
              </a:rPr>
              <a:t>Recovery is currently simulated. The prototype identifies potential claims and prepares the recovery workflow. It does not email a bank. No actual bank recovery has been demonstrated.</a:t>
            </a:r>
            <a:endParaRPr lang="en-US" sz="1000" dirty="0"/>
          </a:p>
        </p:txBody>
      </p:sp>
      <p:sp>
        <p:nvSpPr>
          <p:cNvPr id="36" name="Text 29"/>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4E5D55"/>
                </a:solidFill>
                <a:latin typeface="Calibri" pitchFamily="34" charset="0"/>
                <a:ea typeface="Calibri" pitchFamily="34" charset="-122"/>
                <a:cs typeface="Calibri" pitchFamily="34" charset="-120"/>
              </a:rPr>
              <a:t>Vasool Raja  ·  HackVerse 2.0  ·  Digital Twins &amp; FinTech</a:t>
            </a:r>
            <a:endParaRPr lang="en-US" sz="900" dirty="0"/>
          </a:p>
        </p:txBody>
      </p:sp>
      <p:sp>
        <p:nvSpPr>
          <p:cNvPr id="37" name="Text 30"/>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900" dirty="0">
                <a:solidFill>
                  <a:srgbClr val="4E5D5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4C31"/>
        </a:solidFill>
      </p:bgPr>
    </p:bg>
    <p:spTree>
      <p:nvGrpSpPr>
        <p:cNvPr id="1" name=""/>
        <p:cNvGrpSpPr/>
        <p:nvPr/>
      </p:nvGrpSpPr>
      <p:grpSpPr>
        <a:xfrm>
          <a:off x="0" y="0"/>
          <a:ext cx="0" cy="0"/>
          <a:chOff x="0" y="0"/>
          <a:chExt cx="0" cy="0"/>
        </a:xfrm>
      </p:grpSpPr>
      <p:sp>
        <p:nvSpPr>
          <p:cNvPr id="2" name="Text 0"/>
          <p:cNvSpPr txBox="1"/>
          <p:nvPr/>
        </p:nvSpPr>
        <p:spPr>
          <a:xfrm>
            <a:off x="548640" y="292608"/>
            <a:ext cx="3657600" cy="274320"/>
          </a:xfrm>
          <a:prstGeom prst="rect">
            <a:avLst/>
          </a:prstGeom>
          <a:noFill/>
          <a:ln/>
        </p:spPr>
        <p:txBody>
          <a:bodyPr wrap="square" lIns="0" tIns="0" rIns="0" bIns="0" rtlCol="0" anchor="ctr"/>
          <a:lstStyle/>
          <a:p>
            <a:pPr indent="0" marL="0">
              <a:buNone/>
            </a:pPr>
            <a:r>
              <a:rPr lang="en-US" sz="1000" b="1" spc="300" kern="0" dirty="0">
                <a:solidFill>
                  <a:srgbClr val="C9961A"/>
                </a:solidFill>
                <a:latin typeface="Calibri" pitchFamily="34" charset="0"/>
                <a:ea typeface="Calibri" pitchFamily="34" charset="-122"/>
                <a:cs typeface="Calibri" pitchFamily="34" charset="-120"/>
              </a:rPr>
              <a:t>DEMO · 25 SEPTEMBER · BUSINESS MODEL</a:t>
            </a:r>
            <a:endParaRPr lang="en-US" sz="10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On 25 September you will see this journey live.</a:t>
            </a:r>
            <a:endParaRPr lang="en-US" sz="3000" dirty="0"/>
          </a:p>
        </p:txBody>
      </p:sp>
      <p:sp>
        <p:nvSpPr>
          <p:cNvPr id="4" name="Text 2"/>
          <p:cNvSpPr txBox="1"/>
          <p:nvPr/>
        </p:nvSpPr>
        <p:spPr>
          <a:xfrm>
            <a:off x="548640" y="1298448"/>
            <a:ext cx="7315200" cy="256032"/>
          </a:xfrm>
          <a:prstGeom prst="rect">
            <a:avLst/>
          </a:prstGeom>
          <a:noFill/>
          <a:ln/>
        </p:spPr>
        <p:txBody>
          <a:bodyPr wrap="square" lIns="0" tIns="0" rIns="0" bIns="0" rtlCol="0" anchor="ctr"/>
          <a:lstStyle/>
          <a:p>
            <a:pPr indent="0" marL="0">
              <a:buNone/>
            </a:pPr>
            <a:r>
              <a:rPr lang="en-US" sz="950" b="1" spc="200" kern="0" dirty="0">
                <a:solidFill>
                  <a:srgbClr val="C9961A"/>
                </a:solidFill>
                <a:latin typeface="Calibri" pitchFamily="34" charset="0"/>
                <a:ea typeface="Calibri" pitchFamily="34" charset="-122"/>
                <a:cs typeface="Calibri" pitchFamily="34" charset="-120"/>
              </a:rPr>
              <a:t>A · LIVE DEMO  —  every demonstrated step already works</a:t>
            </a:r>
            <a:endParaRPr lang="en-US" sz="950" dirty="0"/>
          </a:p>
        </p:txBody>
      </p:sp>
      <p:sp>
        <p:nvSpPr>
          <p:cNvPr id="5" name="Shape 3"/>
          <p:cNvSpPr/>
          <p:nvPr/>
        </p:nvSpPr>
        <p:spPr>
          <a:xfrm>
            <a:off x="548640" y="1600200"/>
            <a:ext cx="1711452" cy="768096"/>
          </a:xfrm>
          <a:prstGeom prst="rect">
            <a:avLst/>
          </a:prstGeom>
          <a:solidFill>
            <a:srgbClr val="0E3A25"/>
          </a:solidFill>
          <a:ln w="9525">
            <a:solidFill>
              <a:srgbClr val="2A5C42"/>
            </a:solidFill>
            <a:prstDash val="solid"/>
          </a:ln>
        </p:spPr>
      </p:sp>
      <p:sp>
        <p:nvSpPr>
          <p:cNvPr id="6" name="Text 4"/>
          <p:cNvSpPr txBox="1"/>
          <p:nvPr/>
        </p:nvSpPr>
        <p:spPr>
          <a:xfrm>
            <a:off x="640080" y="1655064"/>
            <a:ext cx="365760" cy="274320"/>
          </a:xfrm>
          <a:prstGeom prst="rect">
            <a:avLst/>
          </a:prstGeom>
          <a:noFill/>
          <a:ln/>
        </p:spPr>
        <p:txBody>
          <a:bodyPr wrap="square" lIns="0" tIns="0" rIns="0" bIns="0" rtlCol="0" anchor="ctr"/>
          <a:lstStyle/>
          <a:p>
            <a:pPr indent="0" marL="0">
              <a:buNone/>
            </a:pPr>
            <a:r>
              <a:rPr lang="en-US" sz="1300" b="1" dirty="0">
                <a:solidFill>
                  <a:srgbClr val="C9961A"/>
                </a:solidFill>
                <a:latin typeface="Cambria" pitchFamily="34" charset="0"/>
                <a:ea typeface="Cambria" pitchFamily="34" charset="-122"/>
                <a:cs typeface="Cambria" pitchFamily="34" charset="-120"/>
              </a:rPr>
              <a:t>1</a:t>
            </a:r>
            <a:endParaRPr lang="en-US" sz="1300" dirty="0"/>
          </a:p>
        </p:txBody>
      </p:sp>
      <p:sp>
        <p:nvSpPr>
          <p:cNvPr id="7" name="Text 5"/>
          <p:cNvSpPr txBox="1"/>
          <p:nvPr/>
        </p:nvSpPr>
        <p:spPr>
          <a:xfrm>
            <a:off x="640080" y="1911096"/>
            <a:ext cx="1528572" cy="45720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Upload real statement (CSV · PDF · passbook photo)</a:t>
            </a:r>
            <a:endParaRPr lang="en-US" sz="950" dirty="0"/>
          </a:p>
        </p:txBody>
      </p:sp>
      <p:sp>
        <p:nvSpPr>
          <p:cNvPr id="8" name="Text 6"/>
          <p:cNvSpPr txBox="1"/>
          <p:nvPr/>
        </p:nvSpPr>
        <p:spPr>
          <a:xfrm>
            <a:off x="2205228" y="1856232"/>
            <a:ext cx="274320" cy="274320"/>
          </a:xfrm>
          <a:prstGeom prst="rect">
            <a:avLst/>
          </a:prstGeom>
          <a:noFill/>
          <a:ln/>
        </p:spPr>
        <p:txBody>
          <a:bodyPr wrap="square" lIns="0" tIns="0" rIns="0" bIns="0" rtlCol="0" anchor="ctr"/>
          <a:lstStyle/>
          <a:p>
            <a:pPr algn="ctr" indent="0" marL="0">
              <a:buNone/>
            </a:pPr>
            <a:r>
              <a:rPr lang="en-US" sz="1200" dirty="0">
                <a:solidFill>
                  <a:srgbClr val="9DB8A8"/>
                </a:solidFill>
                <a:latin typeface="Cambria" pitchFamily="34" charset="0"/>
                <a:ea typeface="Cambria" pitchFamily="34" charset="-122"/>
                <a:cs typeface="Cambria" pitchFamily="34" charset="-120"/>
              </a:rPr>
              <a:t>→</a:t>
            </a:r>
            <a:endParaRPr lang="en-US" sz="1200" dirty="0"/>
          </a:p>
        </p:txBody>
      </p:sp>
      <p:sp>
        <p:nvSpPr>
          <p:cNvPr id="9" name="Shape 7"/>
          <p:cNvSpPr/>
          <p:nvPr/>
        </p:nvSpPr>
        <p:spPr>
          <a:xfrm>
            <a:off x="2424684" y="1600200"/>
            <a:ext cx="1711452" cy="768096"/>
          </a:xfrm>
          <a:prstGeom prst="rect">
            <a:avLst/>
          </a:prstGeom>
          <a:solidFill>
            <a:srgbClr val="0E3A25"/>
          </a:solidFill>
          <a:ln w="9525">
            <a:solidFill>
              <a:srgbClr val="2A5C42"/>
            </a:solidFill>
            <a:prstDash val="solid"/>
          </a:ln>
        </p:spPr>
      </p:sp>
      <p:sp>
        <p:nvSpPr>
          <p:cNvPr id="10" name="Text 8"/>
          <p:cNvSpPr txBox="1"/>
          <p:nvPr/>
        </p:nvSpPr>
        <p:spPr>
          <a:xfrm>
            <a:off x="2516124" y="1655064"/>
            <a:ext cx="365760" cy="274320"/>
          </a:xfrm>
          <a:prstGeom prst="rect">
            <a:avLst/>
          </a:prstGeom>
          <a:noFill/>
          <a:ln/>
        </p:spPr>
        <p:txBody>
          <a:bodyPr wrap="square" lIns="0" tIns="0" rIns="0" bIns="0" rtlCol="0" anchor="ctr"/>
          <a:lstStyle/>
          <a:p>
            <a:pPr indent="0" marL="0">
              <a:buNone/>
            </a:pPr>
            <a:r>
              <a:rPr lang="en-US" sz="1300" b="1" dirty="0">
                <a:solidFill>
                  <a:srgbClr val="C9961A"/>
                </a:solidFill>
                <a:latin typeface="Cambria" pitchFamily="34" charset="0"/>
                <a:ea typeface="Cambria" pitchFamily="34" charset="-122"/>
                <a:cs typeface="Cambria" pitchFamily="34" charset="-120"/>
              </a:rPr>
              <a:t>2</a:t>
            </a:r>
            <a:endParaRPr lang="en-US" sz="1300" dirty="0"/>
          </a:p>
        </p:txBody>
      </p:sp>
      <p:sp>
        <p:nvSpPr>
          <p:cNvPr id="11" name="Text 9"/>
          <p:cNvSpPr txBox="1"/>
          <p:nvPr/>
        </p:nvSpPr>
        <p:spPr>
          <a:xfrm>
            <a:off x="2516124" y="1911096"/>
            <a:ext cx="1528572" cy="45720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Extract transactions</a:t>
            </a:r>
            <a:endParaRPr lang="en-US" sz="950" dirty="0"/>
          </a:p>
        </p:txBody>
      </p:sp>
      <p:sp>
        <p:nvSpPr>
          <p:cNvPr id="12" name="Text 10"/>
          <p:cNvSpPr txBox="1"/>
          <p:nvPr/>
        </p:nvSpPr>
        <p:spPr>
          <a:xfrm>
            <a:off x="4081272" y="1856232"/>
            <a:ext cx="274320" cy="274320"/>
          </a:xfrm>
          <a:prstGeom prst="rect">
            <a:avLst/>
          </a:prstGeom>
          <a:noFill/>
          <a:ln/>
        </p:spPr>
        <p:txBody>
          <a:bodyPr wrap="square" lIns="0" tIns="0" rIns="0" bIns="0" rtlCol="0" anchor="ctr"/>
          <a:lstStyle/>
          <a:p>
            <a:pPr algn="ctr" indent="0" marL="0">
              <a:buNone/>
            </a:pPr>
            <a:r>
              <a:rPr lang="en-US" sz="1200" dirty="0">
                <a:solidFill>
                  <a:srgbClr val="9DB8A8"/>
                </a:solidFill>
                <a:latin typeface="Cambria" pitchFamily="34" charset="0"/>
                <a:ea typeface="Cambria" pitchFamily="34" charset="-122"/>
                <a:cs typeface="Cambria" pitchFamily="34" charset="-120"/>
              </a:rPr>
              <a:t>→</a:t>
            </a:r>
            <a:endParaRPr lang="en-US" sz="1200" dirty="0"/>
          </a:p>
        </p:txBody>
      </p:sp>
      <p:sp>
        <p:nvSpPr>
          <p:cNvPr id="13" name="Shape 11"/>
          <p:cNvSpPr/>
          <p:nvPr/>
        </p:nvSpPr>
        <p:spPr>
          <a:xfrm>
            <a:off x="4300728" y="1600200"/>
            <a:ext cx="1711452" cy="768096"/>
          </a:xfrm>
          <a:prstGeom prst="rect">
            <a:avLst/>
          </a:prstGeom>
          <a:solidFill>
            <a:srgbClr val="0E3A25"/>
          </a:solidFill>
          <a:ln w="9525">
            <a:solidFill>
              <a:srgbClr val="2A5C42"/>
            </a:solidFill>
            <a:prstDash val="solid"/>
          </a:ln>
        </p:spPr>
      </p:sp>
      <p:sp>
        <p:nvSpPr>
          <p:cNvPr id="14" name="Text 12"/>
          <p:cNvSpPr txBox="1"/>
          <p:nvPr/>
        </p:nvSpPr>
        <p:spPr>
          <a:xfrm>
            <a:off x="4392168" y="1655064"/>
            <a:ext cx="365760" cy="274320"/>
          </a:xfrm>
          <a:prstGeom prst="rect">
            <a:avLst/>
          </a:prstGeom>
          <a:noFill/>
          <a:ln/>
        </p:spPr>
        <p:txBody>
          <a:bodyPr wrap="square" lIns="0" tIns="0" rIns="0" bIns="0" rtlCol="0" anchor="ctr"/>
          <a:lstStyle/>
          <a:p>
            <a:pPr indent="0" marL="0">
              <a:buNone/>
            </a:pPr>
            <a:r>
              <a:rPr lang="en-US" sz="1300" b="1" dirty="0">
                <a:solidFill>
                  <a:srgbClr val="C9961A"/>
                </a:solidFill>
                <a:latin typeface="Cambria" pitchFamily="34" charset="0"/>
                <a:ea typeface="Cambria" pitchFamily="34" charset="-122"/>
                <a:cs typeface="Cambria" pitchFamily="34" charset="-120"/>
              </a:rPr>
              <a:t>3</a:t>
            </a:r>
            <a:endParaRPr lang="en-US" sz="1300" dirty="0"/>
          </a:p>
        </p:txBody>
      </p:sp>
      <p:sp>
        <p:nvSpPr>
          <p:cNvPr id="15" name="Text 13"/>
          <p:cNvSpPr txBox="1"/>
          <p:nvPr/>
        </p:nvSpPr>
        <p:spPr>
          <a:xfrm>
            <a:off x="4392168" y="1911096"/>
            <a:ext cx="1528572" cy="45720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Detect potential issue</a:t>
            </a:r>
            <a:endParaRPr lang="en-US" sz="950" dirty="0"/>
          </a:p>
        </p:txBody>
      </p:sp>
      <p:sp>
        <p:nvSpPr>
          <p:cNvPr id="16" name="Text 14"/>
          <p:cNvSpPr txBox="1"/>
          <p:nvPr/>
        </p:nvSpPr>
        <p:spPr>
          <a:xfrm>
            <a:off x="5957316" y="1856232"/>
            <a:ext cx="274320" cy="274320"/>
          </a:xfrm>
          <a:prstGeom prst="rect">
            <a:avLst/>
          </a:prstGeom>
          <a:noFill/>
          <a:ln/>
        </p:spPr>
        <p:txBody>
          <a:bodyPr wrap="square" lIns="0" tIns="0" rIns="0" bIns="0" rtlCol="0" anchor="ctr"/>
          <a:lstStyle/>
          <a:p>
            <a:pPr algn="ctr" indent="0" marL="0">
              <a:buNone/>
            </a:pPr>
            <a:r>
              <a:rPr lang="en-US" sz="1200" dirty="0">
                <a:solidFill>
                  <a:srgbClr val="9DB8A8"/>
                </a:solidFill>
                <a:latin typeface="Cambria" pitchFamily="34" charset="0"/>
                <a:ea typeface="Cambria" pitchFamily="34" charset="-122"/>
                <a:cs typeface="Cambria" pitchFamily="34" charset="-120"/>
              </a:rPr>
              <a:t>→</a:t>
            </a:r>
            <a:endParaRPr lang="en-US" sz="1200" dirty="0"/>
          </a:p>
        </p:txBody>
      </p:sp>
      <p:sp>
        <p:nvSpPr>
          <p:cNvPr id="17" name="Shape 15"/>
          <p:cNvSpPr/>
          <p:nvPr/>
        </p:nvSpPr>
        <p:spPr>
          <a:xfrm>
            <a:off x="6176772" y="1600200"/>
            <a:ext cx="1711452" cy="768096"/>
          </a:xfrm>
          <a:prstGeom prst="rect">
            <a:avLst/>
          </a:prstGeom>
          <a:solidFill>
            <a:srgbClr val="0E3A25"/>
          </a:solidFill>
          <a:ln w="9525">
            <a:solidFill>
              <a:srgbClr val="2A5C42"/>
            </a:solidFill>
            <a:prstDash val="solid"/>
          </a:ln>
        </p:spPr>
      </p:sp>
      <p:sp>
        <p:nvSpPr>
          <p:cNvPr id="18" name="Text 16"/>
          <p:cNvSpPr txBox="1"/>
          <p:nvPr/>
        </p:nvSpPr>
        <p:spPr>
          <a:xfrm>
            <a:off x="6268212" y="1655064"/>
            <a:ext cx="365760" cy="274320"/>
          </a:xfrm>
          <a:prstGeom prst="rect">
            <a:avLst/>
          </a:prstGeom>
          <a:noFill/>
          <a:ln/>
        </p:spPr>
        <p:txBody>
          <a:bodyPr wrap="square" lIns="0" tIns="0" rIns="0" bIns="0" rtlCol="0" anchor="ctr"/>
          <a:lstStyle/>
          <a:p>
            <a:pPr indent="0" marL="0">
              <a:buNone/>
            </a:pPr>
            <a:r>
              <a:rPr lang="en-US" sz="1300" b="1" dirty="0">
                <a:solidFill>
                  <a:srgbClr val="C9961A"/>
                </a:solidFill>
                <a:latin typeface="Cambria" pitchFamily="34" charset="0"/>
                <a:ea typeface="Cambria" pitchFamily="34" charset="-122"/>
                <a:cs typeface="Cambria" pitchFamily="34" charset="-120"/>
              </a:rPr>
              <a:t>4</a:t>
            </a:r>
            <a:endParaRPr lang="en-US" sz="1300" dirty="0"/>
          </a:p>
        </p:txBody>
      </p:sp>
      <p:sp>
        <p:nvSpPr>
          <p:cNvPr id="19" name="Text 17"/>
          <p:cNvSpPr txBox="1"/>
          <p:nvPr/>
        </p:nvSpPr>
        <p:spPr>
          <a:xfrm>
            <a:off x="6268212" y="1911096"/>
            <a:ext cx="1528572" cy="45720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Identify applicable RBI rule</a:t>
            </a:r>
            <a:endParaRPr lang="en-US" sz="950" dirty="0"/>
          </a:p>
        </p:txBody>
      </p:sp>
      <p:sp>
        <p:nvSpPr>
          <p:cNvPr id="20" name="Text 18"/>
          <p:cNvSpPr txBox="1"/>
          <p:nvPr/>
        </p:nvSpPr>
        <p:spPr>
          <a:xfrm>
            <a:off x="7833360" y="1856232"/>
            <a:ext cx="274320" cy="274320"/>
          </a:xfrm>
          <a:prstGeom prst="rect">
            <a:avLst/>
          </a:prstGeom>
          <a:noFill/>
          <a:ln/>
        </p:spPr>
        <p:txBody>
          <a:bodyPr wrap="square" lIns="0" tIns="0" rIns="0" bIns="0" rtlCol="0" anchor="ctr"/>
          <a:lstStyle/>
          <a:p>
            <a:pPr algn="ctr" indent="0" marL="0">
              <a:buNone/>
            </a:pPr>
            <a:r>
              <a:rPr lang="en-US" sz="1200" dirty="0">
                <a:solidFill>
                  <a:srgbClr val="9DB8A8"/>
                </a:solidFill>
                <a:latin typeface="Cambria" pitchFamily="34" charset="0"/>
                <a:ea typeface="Cambria" pitchFamily="34" charset="-122"/>
                <a:cs typeface="Cambria" pitchFamily="34" charset="-120"/>
              </a:rPr>
              <a:t>→</a:t>
            </a:r>
            <a:endParaRPr lang="en-US" sz="1200" dirty="0"/>
          </a:p>
        </p:txBody>
      </p:sp>
      <p:sp>
        <p:nvSpPr>
          <p:cNvPr id="21" name="Shape 19"/>
          <p:cNvSpPr/>
          <p:nvPr/>
        </p:nvSpPr>
        <p:spPr>
          <a:xfrm>
            <a:off x="8052816" y="1600200"/>
            <a:ext cx="1711452" cy="768096"/>
          </a:xfrm>
          <a:prstGeom prst="rect">
            <a:avLst/>
          </a:prstGeom>
          <a:solidFill>
            <a:srgbClr val="0E3A25"/>
          </a:solidFill>
          <a:ln w="9525">
            <a:solidFill>
              <a:srgbClr val="2A5C42"/>
            </a:solidFill>
            <a:prstDash val="solid"/>
          </a:ln>
        </p:spPr>
      </p:sp>
      <p:sp>
        <p:nvSpPr>
          <p:cNvPr id="22" name="Text 20"/>
          <p:cNvSpPr txBox="1"/>
          <p:nvPr/>
        </p:nvSpPr>
        <p:spPr>
          <a:xfrm>
            <a:off x="8144256" y="1655064"/>
            <a:ext cx="365760" cy="274320"/>
          </a:xfrm>
          <a:prstGeom prst="rect">
            <a:avLst/>
          </a:prstGeom>
          <a:noFill/>
          <a:ln/>
        </p:spPr>
        <p:txBody>
          <a:bodyPr wrap="square" lIns="0" tIns="0" rIns="0" bIns="0" rtlCol="0" anchor="ctr"/>
          <a:lstStyle/>
          <a:p>
            <a:pPr indent="0" marL="0">
              <a:buNone/>
            </a:pPr>
            <a:r>
              <a:rPr lang="en-US" sz="1300" b="1" dirty="0">
                <a:solidFill>
                  <a:srgbClr val="C9961A"/>
                </a:solidFill>
                <a:latin typeface="Cambria" pitchFamily="34" charset="0"/>
                <a:ea typeface="Cambria" pitchFamily="34" charset="-122"/>
                <a:cs typeface="Cambria" pitchFamily="34" charset="-120"/>
              </a:rPr>
              <a:t>5</a:t>
            </a:r>
            <a:endParaRPr lang="en-US" sz="1300" dirty="0"/>
          </a:p>
        </p:txBody>
      </p:sp>
      <p:sp>
        <p:nvSpPr>
          <p:cNvPr id="23" name="Text 21"/>
          <p:cNvSpPr txBox="1"/>
          <p:nvPr/>
        </p:nvSpPr>
        <p:spPr>
          <a:xfrm>
            <a:off x="8144256" y="1911096"/>
            <a:ext cx="1528572" cy="45720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Show actual vs expected</a:t>
            </a:r>
            <a:endParaRPr lang="en-US" sz="950" dirty="0"/>
          </a:p>
        </p:txBody>
      </p:sp>
      <p:sp>
        <p:nvSpPr>
          <p:cNvPr id="24" name="Text 22"/>
          <p:cNvSpPr txBox="1"/>
          <p:nvPr/>
        </p:nvSpPr>
        <p:spPr>
          <a:xfrm>
            <a:off x="9709404" y="1856232"/>
            <a:ext cx="274320" cy="274320"/>
          </a:xfrm>
          <a:prstGeom prst="rect">
            <a:avLst/>
          </a:prstGeom>
          <a:noFill/>
          <a:ln/>
        </p:spPr>
        <p:txBody>
          <a:bodyPr wrap="square" lIns="0" tIns="0" rIns="0" bIns="0" rtlCol="0" anchor="ctr"/>
          <a:lstStyle/>
          <a:p>
            <a:pPr algn="ctr" indent="0" marL="0">
              <a:buNone/>
            </a:pPr>
            <a:r>
              <a:rPr lang="en-US" sz="1200" dirty="0">
                <a:solidFill>
                  <a:srgbClr val="9DB8A8"/>
                </a:solidFill>
                <a:latin typeface="Cambria" pitchFamily="34" charset="0"/>
                <a:ea typeface="Cambria" pitchFamily="34" charset="-122"/>
                <a:cs typeface="Cambria" pitchFamily="34" charset="-120"/>
              </a:rPr>
              <a:t>→</a:t>
            </a:r>
            <a:endParaRPr lang="en-US" sz="1200" dirty="0"/>
          </a:p>
        </p:txBody>
      </p:sp>
      <p:sp>
        <p:nvSpPr>
          <p:cNvPr id="25" name="Shape 23"/>
          <p:cNvSpPr/>
          <p:nvPr/>
        </p:nvSpPr>
        <p:spPr>
          <a:xfrm>
            <a:off x="9928860" y="1600200"/>
            <a:ext cx="1711452" cy="768096"/>
          </a:xfrm>
          <a:prstGeom prst="rect">
            <a:avLst/>
          </a:prstGeom>
          <a:solidFill>
            <a:srgbClr val="0E3A25"/>
          </a:solidFill>
          <a:ln w="9525">
            <a:solidFill>
              <a:srgbClr val="2A5C42"/>
            </a:solidFill>
            <a:prstDash val="solid"/>
          </a:ln>
        </p:spPr>
      </p:sp>
      <p:sp>
        <p:nvSpPr>
          <p:cNvPr id="26" name="Text 24"/>
          <p:cNvSpPr txBox="1"/>
          <p:nvPr/>
        </p:nvSpPr>
        <p:spPr>
          <a:xfrm>
            <a:off x="10020300" y="1655064"/>
            <a:ext cx="365760" cy="274320"/>
          </a:xfrm>
          <a:prstGeom prst="rect">
            <a:avLst/>
          </a:prstGeom>
          <a:noFill/>
          <a:ln/>
        </p:spPr>
        <p:txBody>
          <a:bodyPr wrap="square" lIns="0" tIns="0" rIns="0" bIns="0" rtlCol="0" anchor="ctr"/>
          <a:lstStyle/>
          <a:p>
            <a:pPr indent="0" marL="0">
              <a:buNone/>
            </a:pPr>
            <a:r>
              <a:rPr lang="en-US" sz="1300" b="1" dirty="0">
                <a:solidFill>
                  <a:srgbClr val="C9961A"/>
                </a:solidFill>
                <a:latin typeface="Cambria" pitchFamily="34" charset="0"/>
                <a:ea typeface="Cambria" pitchFamily="34" charset="-122"/>
                <a:cs typeface="Cambria" pitchFamily="34" charset="-120"/>
              </a:rPr>
              <a:t>6</a:t>
            </a:r>
            <a:endParaRPr lang="en-US" sz="1300" dirty="0"/>
          </a:p>
        </p:txBody>
      </p:sp>
      <p:sp>
        <p:nvSpPr>
          <p:cNvPr id="27" name="Text 25"/>
          <p:cNvSpPr txBox="1"/>
          <p:nvPr/>
        </p:nvSpPr>
        <p:spPr>
          <a:xfrm>
            <a:off x="10020300" y="1911096"/>
            <a:ext cx="1528572" cy="45720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Calculate ₹ amount</a:t>
            </a:r>
            <a:endParaRPr lang="en-US" sz="950" dirty="0"/>
          </a:p>
        </p:txBody>
      </p:sp>
      <p:sp>
        <p:nvSpPr>
          <p:cNvPr id="28" name="Shape 26"/>
          <p:cNvSpPr/>
          <p:nvPr/>
        </p:nvSpPr>
        <p:spPr>
          <a:xfrm>
            <a:off x="548640" y="2496312"/>
            <a:ext cx="1711452" cy="768096"/>
          </a:xfrm>
          <a:prstGeom prst="rect">
            <a:avLst/>
          </a:prstGeom>
          <a:solidFill>
            <a:srgbClr val="0E3A25"/>
          </a:solidFill>
          <a:ln w="9525">
            <a:solidFill>
              <a:srgbClr val="2A5C42"/>
            </a:solidFill>
            <a:prstDash val="solid"/>
          </a:ln>
        </p:spPr>
      </p:sp>
      <p:sp>
        <p:nvSpPr>
          <p:cNvPr id="29" name="Text 27"/>
          <p:cNvSpPr txBox="1"/>
          <p:nvPr/>
        </p:nvSpPr>
        <p:spPr>
          <a:xfrm>
            <a:off x="640080" y="2551176"/>
            <a:ext cx="365760" cy="274320"/>
          </a:xfrm>
          <a:prstGeom prst="rect">
            <a:avLst/>
          </a:prstGeom>
          <a:noFill/>
          <a:ln/>
        </p:spPr>
        <p:txBody>
          <a:bodyPr wrap="square" lIns="0" tIns="0" rIns="0" bIns="0" rtlCol="0" anchor="ctr"/>
          <a:lstStyle/>
          <a:p>
            <a:pPr indent="0" marL="0">
              <a:buNone/>
            </a:pPr>
            <a:r>
              <a:rPr lang="en-US" sz="1300" b="1" dirty="0">
                <a:solidFill>
                  <a:srgbClr val="C9961A"/>
                </a:solidFill>
                <a:latin typeface="Cambria" pitchFamily="34" charset="0"/>
                <a:ea typeface="Cambria" pitchFamily="34" charset="-122"/>
                <a:cs typeface="Cambria" pitchFamily="34" charset="-120"/>
              </a:rPr>
              <a:t>7</a:t>
            </a:r>
            <a:endParaRPr lang="en-US" sz="1300" dirty="0"/>
          </a:p>
        </p:txBody>
      </p:sp>
      <p:sp>
        <p:nvSpPr>
          <p:cNvPr id="30" name="Text 28"/>
          <p:cNvSpPr txBox="1"/>
          <p:nvPr/>
        </p:nvSpPr>
        <p:spPr>
          <a:xfrm>
            <a:off x="640080" y="2807208"/>
            <a:ext cx="1528572" cy="45720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Show evidence lines</a:t>
            </a:r>
            <a:endParaRPr lang="en-US" sz="950" dirty="0"/>
          </a:p>
        </p:txBody>
      </p:sp>
      <p:sp>
        <p:nvSpPr>
          <p:cNvPr id="31" name="Text 29"/>
          <p:cNvSpPr txBox="1"/>
          <p:nvPr/>
        </p:nvSpPr>
        <p:spPr>
          <a:xfrm>
            <a:off x="2205228" y="2752344"/>
            <a:ext cx="274320" cy="274320"/>
          </a:xfrm>
          <a:prstGeom prst="rect">
            <a:avLst/>
          </a:prstGeom>
          <a:noFill/>
          <a:ln/>
        </p:spPr>
        <p:txBody>
          <a:bodyPr wrap="square" lIns="0" tIns="0" rIns="0" bIns="0" rtlCol="0" anchor="ctr"/>
          <a:lstStyle/>
          <a:p>
            <a:pPr algn="ctr" indent="0" marL="0">
              <a:buNone/>
            </a:pPr>
            <a:r>
              <a:rPr lang="en-US" sz="1200" dirty="0">
                <a:solidFill>
                  <a:srgbClr val="9DB8A8"/>
                </a:solidFill>
                <a:latin typeface="Cambria" pitchFamily="34" charset="0"/>
                <a:ea typeface="Cambria" pitchFamily="34" charset="-122"/>
                <a:cs typeface="Cambria" pitchFamily="34" charset="-120"/>
              </a:rPr>
              <a:t>→</a:t>
            </a:r>
            <a:endParaRPr lang="en-US" sz="1200" dirty="0"/>
          </a:p>
        </p:txBody>
      </p:sp>
      <p:sp>
        <p:nvSpPr>
          <p:cNvPr id="32" name="Shape 30"/>
          <p:cNvSpPr/>
          <p:nvPr/>
        </p:nvSpPr>
        <p:spPr>
          <a:xfrm>
            <a:off x="2424684" y="2496312"/>
            <a:ext cx="1711452" cy="768096"/>
          </a:xfrm>
          <a:prstGeom prst="rect">
            <a:avLst/>
          </a:prstGeom>
          <a:solidFill>
            <a:srgbClr val="0E3A25"/>
          </a:solidFill>
          <a:ln w="9525">
            <a:solidFill>
              <a:srgbClr val="2A5C42"/>
            </a:solidFill>
            <a:prstDash val="solid"/>
          </a:ln>
        </p:spPr>
      </p:sp>
      <p:sp>
        <p:nvSpPr>
          <p:cNvPr id="33" name="Text 31"/>
          <p:cNvSpPr txBox="1"/>
          <p:nvPr/>
        </p:nvSpPr>
        <p:spPr>
          <a:xfrm>
            <a:off x="2516124" y="2551176"/>
            <a:ext cx="365760" cy="274320"/>
          </a:xfrm>
          <a:prstGeom prst="rect">
            <a:avLst/>
          </a:prstGeom>
          <a:noFill/>
          <a:ln/>
        </p:spPr>
        <p:txBody>
          <a:bodyPr wrap="square" lIns="0" tIns="0" rIns="0" bIns="0" rtlCol="0" anchor="ctr"/>
          <a:lstStyle/>
          <a:p>
            <a:pPr indent="0" marL="0">
              <a:buNone/>
            </a:pPr>
            <a:r>
              <a:rPr lang="en-US" sz="1300" b="1" dirty="0">
                <a:solidFill>
                  <a:srgbClr val="C9961A"/>
                </a:solidFill>
                <a:latin typeface="Cambria" pitchFamily="34" charset="0"/>
                <a:ea typeface="Cambria" pitchFamily="34" charset="-122"/>
                <a:cs typeface="Cambria" pitchFamily="34" charset="-120"/>
              </a:rPr>
              <a:t>8</a:t>
            </a:r>
            <a:endParaRPr lang="en-US" sz="1300" dirty="0"/>
          </a:p>
        </p:txBody>
      </p:sp>
      <p:sp>
        <p:nvSpPr>
          <p:cNvPr id="34" name="Text 32"/>
          <p:cNvSpPr txBox="1"/>
          <p:nvPr/>
        </p:nvSpPr>
        <p:spPr>
          <a:xfrm>
            <a:off x="2516124" y="2807208"/>
            <a:ext cx="1528572" cy="45720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Show confidence label</a:t>
            </a:r>
            <a:endParaRPr lang="en-US" sz="950" dirty="0"/>
          </a:p>
        </p:txBody>
      </p:sp>
      <p:sp>
        <p:nvSpPr>
          <p:cNvPr id="35" name="Text 33"/>
          <p:cNvSpPr txBox="1"/>
          <p:nvPr/>
        </p:nvSpPr>
        <p:spPr>
          <a:xfrm>
            <a:off x="4081272" y="2752344"/>
            <a:ext cx="274320" cy="274320"/>
          </a:xfrm>
          <a:prstGeom prst="rect">
            <a:avLst/>
          </a:prstGeom>
          <a:noFill/>
          <a:ln/>
        </p:spPr>
        <p:txBody>
          <a:bodyPr wrap="square" lIns="0" tIns="0" rIns="0" bIns="0" rtlCol="0" anchor="ctr"/>
          <a:lstStyle/>
          <a:p>
            <a:pPr algn="ctr" indent="0" marL="0">
              <a:buNone/>
            </a:pPr>
            <a:r>
              <a:rPr lang="en-US" sz="1200" dirty="0">
                <a:solidFill>
                  <a:srgbClr val="9DB8A8"/>
                </a:solidFill>
                <a:latin typeface="Cambria" pitchFamily="34" charset="0"/>
                <a:ea typeface="Cambria" pitchFamily="34" charset="-122"/>
                <a:cs typeface="Cambria" pitchFamily="34" charset="-120"/>
              </a:rPr>
              <a:t>→</a:t>
            </a:r>
            <a:endParaRPr lang="en-US" sz="1200" dirty="0"/>
          </a:p>
        </p:txBody>
      </p:sp>
      <p:sp>
        <p:nvSpPr>
          <p:cNvPr id="36" name="Shape 34"/>
          <p:cNvSpPr/>
          <p:nvPr/>
        </p:nvSpPr>
        <p:spPr>
          <a:xfrm>
            <a:off x="4300728" y="2496312"/>
            <a:ext cx="1711452" cy="768096"/>
          </a:xfrm>
          <a:prstGeom prst="rect">
            <a:avLst/>
          </a:prstGeom>
          <a:solidFill>
            <a:srgbClr val="0E3A25"/>
          </a:solidFill>
          <a:ln w="9525">
            <a:solidFill>
              <a:srgbClr val="2A5C42"/>
            </a:solidFill>
            <a:prstDash val="solid"/>
          </a:ln>
        </p:spPr>
      </p:sp>
      <p:sp>
        <p:nvSpPr>
          <p:cNvPr id="37" name="Text 35"/>
          <p:cNvSpPr txBox="1"/>
          <p:nvPr/>
        </p:nvSpPr>
        <p:spPr>
          <a:xfrm>
            <a:off x="4392168" y="2551176"/>
            <a:ext cx="365760" cy="274320"/>
          </a:xfrm>
          <a:prstGeom prst="rect">
            <a:avLst/>
          </a:prstGeom>
          <a:noFill/>
          <a:ln/>
        </p:spPr>
        <p:txBody>
          <a:bodyPr wrap="square" lIns="0" tIns="0" rIns="0" bIns="0" rtlCol="0" anchor="ctr"/>
          <a:lstStyle/>
          <a:p>
            <a:pPr indent="0" marL="0">
              <a:buNone/>
            </a:pPr>
            <a:r>
              <a:rPr lang="en-US" sz="1300" b="1" dirty="0">
                <a:solidFill>
                  <a:srgbClr val="C9961A"/>
                </a:solidFill>
                <a:latin typeface="Cambria" pitchFamily="34" charset="0"/>
                <a:ea typeface="Cambria" pitchFamily="34" charset="-122"/>
                <a:cs typeface="Cambria" pitchFamily="34" charset="-120"/>
              </a:rPr>
              <a:t>9</a:t>
            </a:r>
            <a:endParaRPr lang="en-US" sz="1300" dirty="0"/>
          </a:p>
        </p:txBody>
      </p:sp>
      <p:sp>
        <p:nvSpPr>
          <p:cNvPr id="38" name="Text 36"/>
          <p:cNvSpPr txBox="1"/>
          <p:nvPr/>
        </p:nvSpPr>
        <p:spPr>
          <a:xfrm>
            <a:off x="4392168" y="2807208"/>
            <a:ext cx="1528572" cy="45720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Generate complaint (A4)</a:t>
            </a:r>
            <a:endParaRPr lang="en-US" sz="950" dirty="0"/>
          </a:p>
        </p:txBody>
      </p:sp>
      <p:sp>
        <p:nvSpPr>
          <p:cNvPr id="39" name="Text 37"/>
          <p:cNvSpPr txBox="1"/>
          <p:nvPr/>
        </p:nvSpPr>
        <p:spPr>
          <a:xfrm>
            <a:off x="5957316" y="2752344"/>
            <a:ext cx="274320" cy="274320"/>
          </a:xfrm>
          <a:prstGeom prst="rect">
            <a:avLst/>
          </a:prstGeom>
          <a:noFill/>
          <a:ln/>
        </p:spPr>
        <p:txBody>
          <a:bodyPr wrap="square" lIns="0" tIns="0" rIns="0" bIns="0" rtlCol="0" anchor="ctr"/>
          <a:lstStyle/>
          <a:p>
            <a:pPr algn="ctr" indent="0" marL="0">
              <a:buNone/>
            </a:pPr>
            <a:r>
              <a:rPr lang="en-US" sz="1200" dirty="0">
                <a:solidFill>
                  <a:srgbClr val="9DB8A8"/>
                </a:solidFill>
                <a:latin typeface="Cambria" pitchFamily="34" charset="0"/>
                <a:ea typeface="Cambria" pitchFamily="34" charset="-122"/>
                <a:cs typeface="Cambria" pitchFamily="34" charset="-120"/>
              </a:rPr>
              <a:t>→</a:t>
            </a:r>
            <a:endParaRPr lang="en-US" sz="1200" dirty="0"/>
          </a:p>
        </p:txBody>
      </p:sp>
      <p:sp>
        <p:nvSpPr>
          <p:cNvPr id="40" name="Shape 38"/>
          <p:cNvSpPr/>
          <p:nvPr/>
        </p:nvSpPr>
        <p:spPr>
          <a:xfrm>
            <a:off x="6176772" y="2496312"/>
            <a:ext cx="1711452" cy="768096"/>
          </a:xfrm>
          <a:prstGeom prst="rect">
            <a:avLst/>
          </a:prstGeom>
          <a:solidFill>
            <a:srgbClr val="0E3A25"/>
          </a:solidFill>
          <a:ln w="9525">
            <a:solidFill>
              <a:srgbClr val="2A5C42"/>
            </a:solidFill>
            <a:prstDash val="solid"/>
          </a:ln>
        </p:spPr>
      </p:sp>
      <p:sp>
        <p:nvSpPr>
          <p:cNvPr id="41" name="Text 39"/>
          <p:cNvSpPr txBox="1"/>
          <p:nvPr/>
        </p:nvSpPr>
        <p:spPr>
          <a:xfrm>
            <a:off x="6268212" y="2551176"/>
            <a:ext cx="365760" cy="274320"/>
          </a:xfrm>
          <a:prstGeom prst="rect">
            <a:avLst/>
          </a:prstGeom>
          <a:noFill/>
          <a:ln/>
        </p:spPr>
        <p:txBody>
          <a:bodyPr wrap="square" lIns="0" tIns="0" rIns="0" bIns="0" rtlCol="0" anchor="ctr"/>
          <a:lstStyle/>
          <a:p>
            <a:pPr indent="0" marL="0">
              <a:buNone/>
            </a:pPr>
            <a:r>
              <a:rPr lang="en-US" sz="1300" b="1" dirty="0">
                <a:solidFill>
                  <a:srgbClr val="C9961A"/>
                </a:solidFill>
                <a:latin typeface="Cambria" pitchFamily="34" charset="0"/>
                <a:ea typeface="Cambria" pitchFamily="34" charset="-122"/>
                <a:cs typeface="Cambria" pitchFamily="34" charset="-120"/>
              </a:rPr>
              <a:t>10</a:t>
            </a:r>
            <a:endParaRPr lang="en-US" sz="1300" dirty="0"/>
          </a:p>
        </p:txBody>
      </p:sp>
      <p:sp>
        <p:nvSpPr>
          <p:cNvPr id="42" name="Text 40"/>
          <p:cNvSpPr txBox="1"/>
          <p:nvPr/>
        </p:nvSpPr>
        <p:spPr>
          <a:xfrm>
            <a:off x="6268212" y="2807208"/>
            <a:ext cx="1528572" cy="45720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Explain in Tamil · guardian tap</a:t>
            </a:r>
            <a:endParaRPr lang="en-US" sz="950" dirty="0"/>
          </a:p>
        </p:txBody>
      </p:sp>
      <p:sp>
        <p:nvSpPr>
          <p:cNvPr id="43" name="Text 41"/>
          <p:cNvSpPr txBox="1"/>
          <p:nvPr/>
        </p:nvSpPr>
        <p:spPr>
          <a:xfrm>
            <a:off x="7833360" y="2752344"/>
            <a:ext cx="274320" cy="274320"/>
          </a:xfrm>
          <a:prstGeom prst="rect">
            <a:avLst/>
          </a:prstGeom>
          <a:noFill/>
          <a:ln/>
        </p:spPr>
        <p:txBody>
          <a:bodyPr wrap="square" lIns="0" tIns="0" rIns="0" bIns="0" rtlCol="0" anchor="ctr"/>
          <a:lstStyle/>
          <a:p>
            <a:pPr algn="ctr" indent="0" marL="0">
              <a:buNone/>
            </a:pPr>
            <a:r>
              <a:rPr lang="en-US" sz="1200" dirty="0">
                <a:solidFill>
                  <a:srgbClr val="9DB8A8"/>
                </a:solidFill>
                <a:latin typeface="Cambria" pitchFamily="34" charset="0"/>
                <a:ea typeface="Cambria" pitchFamily="34" charset="-122"/>
                <a:cs typeface="Cambria" pitchFamily="34" charset="-120"/>
              </a:rPr>
              <a:t>→</a:t>
            </a:r>
            <a:endParaRPr lang="en-US" sz="1200" dirty="0"/>
          </a:p>
        </p:txBody>
      </p:sp>
      <p:sp>
        <p:nvSpPr>
          <p:cNvPr id="44" name="Shape 42"/>
          <p:cNvSpPr/>
          <p:nvPr/>
        </p:nvSpPr>
        <p:spPr>
          <a:xfrm>
            <a:off x="8052816" y="2496312"/>
            <a:ext cx="1711452" cy="768096"/>
          </a:xfrm>
          <a:prstGeom prst="rect">
            <a:avLst/>
          </a:prstGeom>
          <a:solidFill>
            <a:srgbClr val="0E3A25"/>
          </a:solidFill>
          <a:ln w="9525">
            <a:solidFill>
              <a:srgbClr val="2A5C42"/>
            </a:solidFill>
            <a:prstDash val="solid"/>
          </a:ln>
        </p:spPr>
      </p:sp>
      <p:sp>
        <p:nvSpPr>
          <p:cNvPr id="45" name="Text 43"/>
          <p:cNvSpPr txBox="1"/>
          <p:nvPr/>
        </p:nvSpPr>
        <p:spPr>
          <a:xfrm>
            <a:off x="8144256" y="2551176"/>
            <a:ext cx="365760" cy="274320"/>
          </a:xfrm>
          <a:prstGeom prst="rect">
            <a:avLst/>
          </a:prstGeom>
          <a:noFill/>
          <a:ln/>
        </p:spPr>
        <p:txBody>
          <a:bodyPr wrap="square" lIns="0" tIns="0" rIns="0" bIns="0" rtlCol="0" anchor="ctr"/>
          <a:lstStyle/>
          <a:p>
            <a:pPr indent="0" marL="0">
              <a:buNone/>
            </a:pPr>
            <a:r>
              <a:rPr lang="en-US" sz="1300" b="1" dirty="0">
                <a:solidFill>
                  <a:srgbClr val="C9961A"/>
                </a:solidFill>
                <a:latin typeface="Cambria" pitchFamily="34" charset="0"/>
                <a:ea typeface="Cambria" pitchFamily="34" charset="-122"/>
                <a:cs typeface="Cambria" pitchFamily="34" charset="-120"/>
              </a:rPr>
              <a:t>11</a:t>
            </a:r>
            <a:endParaRPr lang="en-US" sz="1300" dirty="0"/>
          </a:p>
        </p:txBody>
      </p:sp>
      <p:sp>
        <p:nvSpPr>
          <p:cNvPr id="46" name="Text 44"/>
          <p:cNvSpPr txBox="1"/>
          <p:nvPr/>
        </p:nvSpPr>
        <p:spPr>
          <a:xfrm>
            <a:off x="8144256" y="2807208"/>
            <a:ext cx="1528572" cy="457200"/>
          </a:xfrm>
          <a:prstGeom prst="rect">
            <a:avLst/>
          </a:prstGeom>
          <a:noFill/>
          <a:ln/>
        </p:spPr>
        <p:txBody>
          <a:bodyPr wrap="square" lIns="0" tIns="0" rIns="0" bIns="0" rtlCol="0" anchor="t"/>
          <a:lstStyle/>
          <a:p>
            <a:pPr indent="0" marL="0">
              <a:buNone/>
            </a:pPr>
            <a:r>
              <a:rPr lang="en-US" sz="950" dirty="0">
                <a:solidFill>
                  <a:srgbClr val="FFFFFF"/>
                </a:solidFill>
                <a:latin typeface="Calibri" pitchFamily="34" charset="0"/>
                <a:ea typeface="Calibri" pitchFamily="34" charset="-122"/>
                <a:cs typeface="Calibri" pitchFamily="34" charset="-120"/>
              </a:rPr>
              <a:t>Add historical statement</a:t>
            </a:r>
            <a:endParaRPr lang="en-US" sz="950" dirty="0"/>
          </a:p>
        </p:txBody>
      </p:sp>
      <p:sp>
        <p:nvSpPr>
          <p:cNvPr id="47" name="Text 45"/>
          <p:cNvSpPr txBox="1"/>
          <p:nvPr/>
        </p:nvSpPr>
        <p:spPr>
          <a:xfrm>
            <a:off x="9709404" y="2752344"/>
            <a:ext cx="274320" cy="274320"/>
          </a:xfrm>
          <a:prstGeom prst="rect">
            <a:avLst/>
          </a:prstGeom>
          <a:noFill/>
          <a:ln/>
        </p:spPr>
        <p:txBody>
          <a:bodyPr wrap="square" lIns="0" tIns="0" rIns="0" bIns="0" rtlCol="0" anchor="ctr"/>
          <a:lstStyle/>
          <a:p>
            <a:pPr algn="ctr" indent="0" marL="0">
              <a:buNone/>
            </a:pPr>
            <a:r>
              <a:rPr lang="en-US" sz="1200" dirty="0">
                <a:solidFill>
                  <a:srgbClr val="9DB8A8"/>
                </a:solidFill>
                <a:latin typeface="Cambria" pitchFamily="34" charset="0"/>
                <a:ea typeface="Cambria" pitchFamily="34" charset="-122"/>
                <a:cs typeface="Cambria" pitchFamily="34" charset="-120"/>
              </a:rPr>
              <a:t>→</a:t>
            </a:r>
            <a:endParaRPr lang="en-US" sz="1200" dirty="0"/>
          </a:p>
        </p:txBody>
      </p:sp>
      <p:sp>
        <p:nvSpPr>
          <p:cNvPr id="48" name="Shape 46"/>
          <p:cNvSpPr/>
          <p:nvPr/>
        </p:nvSpPr>
        <p:spPr>
          <a:xfrm>
            <a:off x="9928860" y="2496312"/>
            <a:ext cx="1711452" cy="768096"/>
          </a:xfrm>
          <a:prstGeom prst="rect">
            <a:avLst/>
          </a:prstGeom>
          <a:solidFill>
            <a:srgbClr val="C9961A"/>
          </a:solidFill>
          <a:ln w="9525">
            <a:solidFill>
              <a:srgbClr val="C9961A"/>
            </a:solidFill>
            <a:prstDash val="solid"/>
          </a:ln>
        </p:spPr>
      </p:sp>
      <p:sp>
        <p:nvSpPr>
          <p:cNvPr id="49" name="Text 47"/>
          <p:cNvSpPr txBox="1"/>
          <p:nvPr/>
        </p:nvSpPr>
        <p:spPr>
          <a:xfrm>
            <a:off x="10020300" y="2551176"/>
            <a:ext cx="365760" cy="274320"/>
          </a:xfrm>
          <a:prstGeom prst="rect">
            <a:avLst/>
          </a:prstGeom>
          <a:noFill/>
          <a:ln/>
        </p:spPr>
        <p:txBody>
          <a:bodyPr wrap="square" lIns="0" tIns="0" rIns="0" bIns="0" rtlCol="0" anchor="ctr"/>
          <a:lstStyle/>
          <a:p>
            <a:pPr indent="0" marL="0">
              <a:buNone/>
            </a:pPr>
            <a:r>
              <a:rPr lang="en-US" sz="1300" b="1" dirty="0">
                <a:solidFill>
                  <a:srgbClr val="144C31"/>
                </a:solidFill>
                <a:latin typeface="Cambria" pitchFamily="34" charset="0"/>
                <a:ea typeface="Cambria" pitchFamily="34" charset="-122"/>
                <a:cs typeface="Cambria" pitchFamily="34" charset="-120"/>
              </a:rPr>
              <a:t>12</a:t>
            </a:r>
            <a:endParaRPr lang="en-US" sz="1300" dirty="0"/>
          </a:p>
        </p:txBody>
      </p:sp>
      <p:sp>
        <p:nvSpPr>
          <p:cNvPr id="50" name="Text 48"/>
          <p:cNvSpPr txBox="1"/>
          <p:nvPr/>
        </p:nvSpPr>
        <p:spPr>
          <a:xfrm>
            <a:off x="10020300" y="2807208"/>
            <a:ext cx="1528572" cy="457200"/>
          </a:xfrm>
          <a:prstGeom prst="rect">
            <a:avLst/>
          </a:prstGeom>
          <a:noFill/>
          <a:ln/>
        </p:spPr>
        <p:txBody>
          <a:bodyPr wrap="square" lIns="0" tIns="0" rIns="0" bIns="0" rtlCol="0" anchor="t"/>
          <a:lstStyle/>
          <a:p>
            <a:pPr indent="0" marL="0">
              <a:buNone/>
            </a:pPr>
            <a:r>
              <a:rPr lang="en-US" sz="950" dirty="0">
                <a:solidFill>
                  <a:srgbClr val="144C31"/>
                </a:solidFill>
                <a:latin typeface="Calibri" pitchFamily="34" charset="0"/>
                <a:ea typeface="Calibri" pitchFamily="34" charset="-122"/>
                <a:cs typeface="Calibri" pitchFamily="34" charset="-120"/>
              </a:rPr>
              <a:t>Verdict / state changes</a:t>
            </a:r>
            <a:endParaRPr lang="en-US" sz="950" dirty="0"/>
          </a:p>
        </p:txBody>
      </p:sp>
      <p:sp>
        <p:nvSpPr>
          <p:cNvPr id="51" name="Text 49"/>
          <p:cNvSpPr txBox="1"/>
          <p:nvPr/>
        </p:nvSpPr>
        <p:spPr>
          <a:xfrm>
            <a:off x="548640" y="3401568"/>
            <a:ext cx="11091672" cy="274320"/>
          </a:xfrm>
          <a:prstGeom prst="rect">
            <a:avLst/>
          </a:prstGeom>
          <a:noFill/>
          <a:ln/>
        </p:spPr>
        <p:txBody>
          <a:bodyPr wrap="square" lIns="0" tIns="0" rIns="0" bIns="0" rtlCol="0" anchor="ctr"/>
          <a:lstStyle/>
          <a:p>
            <a:pPr indent="0" marL="0">
              <a:buNone/>
            </a:pPr>
            <a:r>
              <a:rPr lang="en-US" sz="1000" i="1" dirty="0">
                <a:solidFill>
                  <a:srgbClr val="9DB8A8"/>
                </a:solidFill>
                <a:latin typeface="Calibri" pitchFamily="34" charset="0"/>
                <a:ea typeface="Calibri" pitchFamily="34" charset="-122"/>
                <a:cs typeface="Calibri" pitchFamily="34" charset="-120"/>
              </a:rPr>
              <a:t>Recovery is simulated. Nothing is emailed to a bank. No complaint without human confirmation. We say this before anyone asks.</a:t>
            </a:r>
            <a:endParaRPr lang="en-US" sz="1000" dirty="0"/>
          </a:p>
        </p:txBody>
      </p:sp>
      <p:sp>
        <p:nvSpPr>
          <p:cNvPr id="52" name="Text 50"/>
          <p:cNvSpPr txBox="1"/>
          <p:nvPr/>
        </p:nvSpPr>
        <p:spPr>
          <a:xfrm>
            <a:off x="548640" y="3822192"/>
            <a:ext cx="7315200" cy="256032"/>
          </a:xfrm>
          <a:prstGeom prst="rect">
            <a:avLst/>
          </a:prstGeom>
          <a:noFill/>
          <a:ln/>
        </p:spPr>
        <p:txBody>
          <a:bodyPr wrap="square" lIns="0" tIns="0" rIns="0" bIns="0" rtlCol="0" anchor="ctr"/>
          <a:lstStyle/>
          <a:p>
            <a:pPr indent="0" marL="0">
              <a:buNone/>
            </a:pPr>
            <a:r>
              <a:rPr lang="en-US" sz="950" b="1" spc="200" kern="0" dirty="0">
                <a:solidFill>
                  <a:srgbClr val="C9961A"/>
                </a:solidFill>
                <a:latin typeface="Calibri" pitchFamily="34" charset="0"/>
                <a:ea typeface="Calibri" pitchFamily="34" charset="-122"/>
                <a:cs typeface="Calibri" pitchFamily="34" charset="-120"/>
              </a:rPr>
              <a:t>B · BUSINESS MODEL  —  ONE ENGINE. TWO SIDES.</a:t>
            </a:r>
            <a:endParaRPr lang="en-US" sz="950" dirty="0"/>
          </a:p>
        </p:txBody>
      </p:sp>
      <p:sp>
        <p:nvSpPr>
          <p:cNvPr id="53" name="Shape 51"/>
          <p:cNvSpPr/>
          <p:nvPr/>
        </p:nvSpPr>
        <p:spPr>
          <a:xfrm>
            <a:off x="548640" y="4114800"/>
            <a:ext cx="5408676" cy="1417320"/>
          </a:xfrm>
          <a:prstGeom prst="rect">
            <a:avLst/>
          </a:prstGeom>
          <a:solidFill>
            <a:srgbClr val="0E3A25"/>
          </a:solidFill>
          <a:ln w="9525">
            <a:solidFill>
              <a:srgbClr val="2A5C42"/>
            </a:solidFill>
            <a:prstDash val="solid"/>
          </a:ln>
        </p:spPr>
      </p:sp>
      <p:sp>
        <p:nvSpPr>
          <p:cNvPr id="54" name="Text 52"/>
          <p:cNvSpPr txBox="1"/>
          <p:nvPr/>
        </p:nvSpPr>
        <p:spPr>
          <a:xfrm>
            <a:off x="731520" y="4169664"/>
            <a:ext cx="5042916" cy="548640"/>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CONSUMER — FREE</a:t>
            </a:r>
            <a:endParaRPr lang="en-US" sz="1300" dirty="0"/>
          </a:p>
          <a:p>
            <a:pPr indent="0" marL="0">
              <a:buNone/>
            </a:pPr>
            <a:r>
              <a:rPr lang="en-US" sz="950" dirty="0">
                <a:solidFill>
                  <a:srgbClr val="9DB8A8"/>
                </a:solidFill>
                <a:latin typeface="Calibri" pitchFamily="34" charset="0"/>
                <a:ea typeface="Calibri" pitchFamily="34" charset="-122"/>
                <a:cs typeface="Calibri" pitchFamily="34" charset="-120"/>
              </a:rPr>
              <a:t>the account holder and family</a:t>
            </a:r>
            <a:endParaRPr lang="en-US" sz="1300" dirty="0"/>
          </a:p>
        </p:txBody>
      </p:sp>
      <p:sp>
        <p:nvSpPr>
          <p:cNvPr id="55" name="Shape 53"/>
          <p:cNvSpPr/>
          <p:nvPr/>
        </p:nvSpPr>
        <p:spPr>
          <a:xfrm>
            <a:off x="731520" y="4782312"/>
            <a:ext cx="1589532" cy="621792"/>
          </a:xfrm>
          <a:prstGeom prst="rect">
            <a:avLst/>
          </a:prstGeom>
          <a:solidFill>
            <a:srgbClr val="E3EFE7"/>
          </a:solidFill>
          <a:ln w="6350">
            <a:solidFill>
              <a:srgbClr val="1E6A44"/>
            </a:solidFill>
            <a:prstDash val="solid"/>
          </a:ln>
        </p:spPr>
      </p:sp>
      <p:sp>
        <p:nvSpPr>
          <p:cNvPr id="56" name="Text 54"/>
          <p:cNvSpPr txBox="1"/>
          <p:nvPr/>
        </p:nvSpPr>
        <p:spPr>
          <a:xfrm>
            <a:off x="731520" y="4782312"/>
            <a:ext cx="1589532" cy="621792"/>
          </a:xfrm>
          <a:prstGeom prst="rect">
            <a:avLst/>
          </a:prstGeom>
          <a:noFill/>
          <a:ln/>
        </p:spPr>
        <p:txBody>
          <a:bodyPr wrap="square" lIns="508" tIns="508" rIns="508" bIns="508" rtlCol="0" anchor="ctr"/>
          <a:lstStyle/>
          <a:p>
            <a:pPr algn="ctr" indent="0" marL="0">
              <a:buNone/>
            </a:pPr>
            <a:r>
              <a:rPr lang="en-US" sz="900" b="1" dirty="0">
                <a:solidFill>
                  <a:srgbClr val="144C31"/>
                </a:solidFill>
                <a:latin typeface="Calibri" pitchFamily="34" charset="0"/>
                <a:ea typeface="Calibri" pitchFamily="34" charset="-122"/>
                <a:cs typeface="Calibri" pitchFamily="34" charset="-120"/>
              </a:rPr>
              <a:t>Identify potential claims</a:t>
            </a:r>
            <a:endParaRPr lang="en-US" sz="900" dirty="0"/>
          </a:p>
        </p:txBody>
      </p:sp>
      <p:sp>
        <p:nvSpPr>
          <p:cNvPr id="57" name="Text 55"/>
          <p:cNvSpPr txBox="1"/>
          <p:nvPr/>
        </p:nvSpPr>
        <p:spPr>
          <a:xfrm>
            <a:off x="2302764" y="4782312"/>
            <a:ext cx="173736" cy="621792"/>
          </a:xfrm>
          <a:prstGeom prst="rect">
            <a:avLst/>
          </a:prstGeom>
          <a:noFill/>
          <a:ln/>
        </p:spPr>
        <p:txBody>
          <a:bodyPr wrap="square" lIns="0" tIns="0" rIns="0" bIns="0" rtlCol="0" anchor="ctr"/>
          <a:lstStyle/>
          <a:p>
            <a:pPr algn="ctr" indent="0" marL="0">
              <a:buNone/>
            </a:pPr>
            <a:r>
              <a:rPr lang="en-US" sz="1100" dirty="0">
                <a:solidFill>
                  <a:srgbClr val="9DB8A8"/>
                </a:solidFill>
                <a:latin typeface="Cambria" pitchFamily="34" charset="0"/>
                <a:ea typeface="Cambria" pitchFamily="34" charset="-122"/>
                <a:cs typeface="Cambria" pitchFamily="34" charset="-120"/>
              </a:rPr>
              <a:t>→</a:t>
            </a:r>
            <a:endParaRPr lang="en-US" sz="1100" dirty="0"/>
          </a:p>
        </p:txBody>
      </p:sp>
      <p:sp>
        <p:nvSpPr>
          <p:cNvPr id="58" name="Shape 56"/>
          <p:cNvSpPr/>
          <p:nvPr/>
        </p:nvSpPr>
        <p:spPr>
          <a:xfrm>
            <a:off x="2458212" y="4782312"/>
            <a:ext cx="1589532" cy="621792"/>
          </a:xfrm>
          <a:prstGeom prst="rect">
            <a:avLst/>
          </a:prstGeom>
          <a:solidFill>
            <a:srgbClr val="E3EFE7"/>
          </a:solidFill>
          <a:ln w="6350">
            <a:solidFill>
              <a:srgbClr val="1E6A44"/>
            </a:solidFill>
            <a:prstDash val="solid"/>
          </a:ln>
        </p:spPr>
      </p:sp>
      <p:sp>
        <p:nvSpPr>
          <p:cNvPr id="59" name="Text 57"/>
          <p:cNvSpPr txBox="1"/>
          <p:nvPr/>
        </p:nvSpPr>
        <p:spPr>
          <a:xfrm>
            <a:off x="2458212" y="4782312"/>
            <a:ext cx="1589532" cy="621792"/>
          </a:xfrm>
          <a:prstGeom prst="rect">
            <a:avLst/>
          </a:prstGeom>
          <a:noFill/>
          <a:ln/>
        </p:spPr>
        <p:txBody>
          <a:bodyPr wrap="square" lIns="508" tIns="508" rIns="508" bIns="508" rtlCol="0" anchor="ctr"/>
          <a:lstStyle/>
          <a:p>
            <a:pPr algn="ctr" indent="0" marL="0">
              <a:buNone/>
            </a:pPr>
            <a:r>
              <a:rPr lang="en-US" sz="900" b="1" dirty="0">
                <a:solidFill>
                  <a:srgbClr val="144C31"/>
                </a:solidFill>
                <a:latin typeface="Calibri" pitchFamily="34" charset="0"/>
                <a:ea typeface="Calibri" pitchFamily="34" charset="-122"/>
                <a:cs typeface="Calibri" pitchFamily="34" charset="-120"/>
              </a:rPr>
              <a:t>Understand rule + evidence</a:t>
            </a:r>
            <a:endParaRPr lang="en-US" sz="900" dirty="0"/>
          </a:p>
        </p:txBody>
      </p:sp>
      <p:sp>
        <p:nvSpPr>
          <p:cNvPr id="60" name="Text 58"/>
          <p:cNvSpPr txBox="1"/>
          <p:nvPr/>
        </p:nvSpPr>
        <p:spPr>
          <a:xfrm>
            <a:off x="4029456" y="4782312"/>
            <a:ext cx="173736" cy="621792"/>
          </a:xfrm>
          <a:prstGeom prst="rect">
            <a:avLst/>
          </a:prstGeom>
          <a:noFill/>
          <a:ln/>
        </p:spPr>
        <p:txBody>
          <a:bodyPr wrap="square" lIns="0" tIns="0" rIns="0" bIns="0" rtlCol="0" anchor="ctr"/>
          <a:lstStyle/>
          <a:p>
            <a:pPr algn="ctr" indent="0" marL="0">
              <a:buNone/>
            </a:pPr>
            <a:r>
              <a:rPr lang="en-US" sz="1100" dirty="0">
                <a:solidFill>
                  <a:srgbClr val="9DB8A8"/>
                </a:solidFill>
                <a:latin typeface="Cambria" pitchFamily="34" charset="0"/>
                <a:ea typeface="Cambria" pitchFamily="34" charset="-122"/>
                <a:cs typeface="Cambria" pitchFamily="34" charset="-120"/>
              </a:rPr>
              <a:t>→</a:t>
            </a:r>
            <a:endParaRPr lang="en-US" sz="1100" dirty="0"/>
          </a:p>
        </p:txBody>
      </p:sp>
      <p:sp>
        <p:nvSpPr>
          <p:cNvPr id="61" name="Shape 59"/>
          <p:cNvSpPr/>
          <p:nvPr/>
        </p:nvSpPr>
        <p:spPr>
          <a:xfrm>
            <a:off x="4184904" y="4782312"/>
            <a:ext cx="1589532" cy="621792"/>
          </a:xfrm>
          <a:prstGeom prst="rect">
            <a:avLst/>
          </a:prstGeom>
          <a:solidFill>
            <a:srgbClr val="E3EFE7"/>
          </a:solidFill>
          <a:ln w="6350">
            <a:solidFill>
              <a:srgbClr val="1E6A44"/>
            </a:solidFill>
            <a:prstDash val="solid"/>
          </a:ln>
        </p:spPr>
      </p:sp>
      <p:sp>
        <p:nvSpPr>
          <p:cNvPr id="62" name="Text 60"/>
          <p:cNvSpPr txBox="1"/>
          <p:nvPr/>
        </p:nvSpPr>
        <p:spPr>
          <a:xfrm>
            <a:off x="4184904" y="4782312"/>
            <a:ext cx="1589532" cy="621792"/>
          </a:xfrm>
          <a:prstGeom prst="rect">
            <a:avLst/>
          </a:prstGeom>
          <a:noFill/>
          <a:ln/>
        </p:spPr>
        <p:txBody>
          <a:bodyPr wrap="square" lIns="508" tIns="508" rIns="508" bIns="508" rtlCol="0" anchor="ctr"/>
          <a:lstStyle/>
          <a:p>
            <a:pPr algn="ctr" indent="0" marL="0">
              <a:buNone/>
            </a:pPr>
            <a:r>
              <a:rPr lang="en-US" sz="900" b="1" dirty="0">
                <a:solidFill>
                  <a:srgbClr val="144C31"/>
                </a:solidFill>
                <a:latin typeface="Calibri" pitchFamily="34" charset="0"/>
                <a:ea typeface="Calibri" pitchFamily="34" charset="-122"/>
                <a:cs typeface="Calibri" pitchFamily="34" charset="-120"/>
              </a:rPr>
              <a:t>Prepare recovery workflow</a:t>
            </a:r>
            <a:endParaRPr lang="en-US" sz="900" dirty="0"/>
          </a:p>
        </p:txBody>
      </p:sp>
      <p:sp>
        <p:nvSpPr>
          <p:cNvPr id="63" name="Shape 61"/>
          <p:cNvSpPr/>
          <p:nvPr/>
        </p:nvSpPr>
        <p:spPr>
          <a:xfrm>
            <a:off x="6231636" y="4114800"/>
            <a:ext cx="5408676" cy="1417320"/>
          </a:xfrm>
          <a:prstGeom prst="rect">
            <a:avLst/>
          </a:prstGeom>
          <a:solidFill>
            <a:srgbClr val="0E3A25"/>
          </a:solidFill>
          <a:ln w="9525">
            <a:solidFill>
              <a:srgbClr val="2A5C42"/>
            </a:solidFill>
            <a:prstDash val="solid"/>
          </a:ln>
        </p:spPr>
      </p:sp>
      <p:sp>
        <p:nvSpPr>
          <p:cNvPr id="64" name="Text 62"/>
          <p:cNvSpPr txBox="1"/>
          <p:nvPr/>
        </p:nvSpPr>
        <p:spPr>
          <a:xfrm>
            <a:off x="6414516" y="4169664"/>
            <a:ext cx="5042916" cy="548640"/>
          </a:xfrm>
          <a:prstGeom prst="rect">
            <a:avLst/>
          </a:prstGeom>
          <a:noFill/>
          <a:ln/>
        </p:spPr>
        <p:txBody>
          <a:bodyPr wrap="square" lIns="0" tIns="0" rIns="0" bIns="0" rtlCol="0" anchor="t"/>
          <a:lstStyle/>
          <a:p>
            <a:pPr indent="0" marL="0">
              <a:buNone/>
            </a:pPr>
            <a:r>
              <a:rPr lang="en-US" sz="1300" b="1" dirty="0">
                <a:solidFill>
                  <a:srgbClr val="FFFFFF"/>
                </a:solidFill>
                <a:latin typeface="Cambria" pitchFamily="34" charset="0"/>
                <a:ea typeface="Cambria" pitchFamily="34" charset="-122"/>
                <a:cs typeface="Cambria" pitchFamily="34" charset="-120"/>
              </a:rPr>
              <a:t>BANK — LICENSED PRODUCT</a:t>
            </a:r>
            <a:endParaRPr lang="en-US" sz="1300" dirty="0"/>
          </a:p>
          <a:p>
            <a:pPr indent="0" marL="0">
              <a:buNone/>
            </a:pPr>
            <a:r>
              <a:rPr lang="en-US" sz="950" dirty="0">
                <a:solidFill>
                  <a:srgbClr val="9DB8A8"/>
                </a:solidFill>
                <a:latin typeface="Calibri" pitchFamily="34" charset="0"/>
                <a:ea typeface="Calibri" pitchFamily="34" charset="-122"/>
                <a:cs typeface="Calibri" pitchFamily="34" charset="-120"/>
              </a:rPr>
              <a:t>not a tool to reject claims — a tool to find exceptions first</a:t>
            </a:r>
            <a:endParaRPr lang="en-US" sz="1300" dirty="0"/>
          </a:p>
        </p:txBody>
      </p:sp>
      <p:sp>
        <p:nvSpPr>
          <p:cNvPr id="65" name="Shape 63"/>
          <p:cNvSpPr/>
          <p:nvPr/>
        </p:nvSpPr>
        <p:spPr>
          <a:xfrm>
            <a:off x="6414516" y="4782312"/>
            <a:ext cx="1589532" cy="621792"/>
          </a:xfrm>
          <a:prstGeom prst="rect">
            <a:avLst/>
          </a:prstGeom>
          <a:solidFill>
            <a:srgbClr val="F6EDD3"/>
          </a:solidFill>
          <a:ln w="6350">
            <a:solidFill>
              <a:srgbClr val="C9961A"/>
            </a:solidFill>
            <a:prstDash val="solid"/>
          </a:ln>
        </p:spPr>
      </p:sp>
      <p:sp>
        <p:nvSpPr>
          <p:cNvPr id="66" name="Text 64"/>
          <p:cNvSpPr txBox="1"/>
          <p:nvPr/>
        </p:nvSpPr>
        <p:spPr>
          <a:xfrm>
            <a:off x="6414516" y="4782312"/>
            <a:ext cx="1589532" cy="621792"/>
          </a:xfrm>
          <a:prstGeom prst="rect">
            <a:avLst/>
          </a:prstGeom>
          <a:noFill/>
          <a:ln/>
        </p:spPr>
        <p:txBody>
          <a:bodyPr wrap="square" lIns="508" tIns="508" rIns="508" bIns="508" rtlCol="0" anchor="ctr"/>
          <a:lstStyle/>
          <a:p>
            <a:pPr algn="ctr" indent="0" marL="0">
              <a:buNone/>
            </a:pPr>
            <a:r>
              <a:rPr lang="en-US" sz="900" b="1" dirty="0">
                <a:solidFill>
                  <a:srgbClr val="144C31"/>
                </a:solidFill>
                <a:latin typeface="Calibri" pitchFamily="34" charset="0"/>
                <a:ea typeface="Calibri" pitchFamily="34" charset="-122"/>
                <a:cs typeface="Calibri" pitchFamily="34" charset="-120"/>
              </a:rPr>
              <a:t>Detect regulatory exceptions</a:t>
            </a:r>
            <a:endParaRPr lang="en-US" sz="900" dirty="0"/>
          </a:p>
        </p:txBody>
      </p:sp>
      <p:sp>
        <p:nvSpPr>
          <p:cNvPr id="67" name="Text 65"/>
          <p:cNvSpPr txBox="1"/>
          <p:nvPr/>
        </p:nvSpPr>
        <p:spPr>
          <a:xfrm>
            <a:off x="7985760" y="4782312"/>
            <a:ext cx="173736" cy="621792"/>
          </a:xfrm>
          <a:prstGeom prst="rect">
            <a:avLst/>
          </a:prstGeom>
          <a:noFill/>
          <a:ln/>
        </p:spPr>
        <p:txBody>
          <a:bodyPr wrap="square" lIns="0" tIns="0" rIns="0" bIns="0" rtlCol="0" anchor="ctr"/>
          <a:lstStyle/>
          <a:p>
            <a:pPr algn="ctr" indent="0" marL="0">
              <a:buNone/>
            </a:pPr>
            <a:r>
              <a:rPr lang="en-US" sz="1100" dirty="0">
                <a:solidFill>
                  <a:srgbClr val="9DB8A8"/>
                </a:solidFill>
                <a:latin typeface="Cambria" pitchFamily="34" charset="0"/>
                <a:ea typeface="Cambria" pitchFamily="34" charset="-122"/>
                <a:cs typeface="Cambria" pitchFamily="34" charset="-120"/>
              </a:rPr>
              <a:t>→</a:t>
            </a:r>
            <a:endParaRPr lang="en-US" sz="1100" dirty="0"/>
          </a:p>
        </p:txBody>
      </p:sp>
      <p:sp>
        <p:nvSpPr>
          <p:cNvPr id="68" name="Shape 66"/>
          <p:cNvSpPr/>
          <p:nvPr/>
        </p:nvSpPr>
        <p:spPr>
          <a:xfrm>
            <a:off x="8141208" y="4782312"/>
            <a:ext cx="1589532" cy="621792"/>
          </a:xfrm>
          <a:prstGeom prst="rect">
            <a:avLst/>
          </a:prstGeom>
          <a:solidFill>
            <a:srgbClr val="F6EDD3"/>
          </a:solidFill>
          <a:ln w="6350">
            <a:solidFill>
              <a:srgbClr val="C9961A"/>
            </a:solidFill>
            <a:prstDash val="solid"/>
          </a:ln>
        </p:spPr>
      </p:sp>
      <p:sp>
        <p:nvSpPr>
          <p:cNvPr id="69" name="Text 67"/>
          <p:cNvSpPr txBox="1"/>
          <p:nvPr/>
        </p:nvSpPr>
        <p:spPr>
          <a:xfrm>
            <a:off x="8141208" y="4782312"/>
            <a:ext cx="1589532" cy="621792"/>
          </a:xfrm>
          <a:prstGeom prst="rect">
            <a:avLst/>
          </a:prstGeom>
          <a:noFill/>
          <a:ln/>
        </p:spPr>
        <p:txBody>
          <a:bodyPr wrap="square" lIns="508" tIns="508" rIns="508" bIns="508" rtlCol="0" anchor="ctr"/>
          <a:lstStyle/>
          <a:p>
            <a:pPr algn="ctr" indent="0" marL="0">
              <a:buNone/>
            </a:pPr>
            <a:r>
              <a:rPr lang="en-US" sz="900" b="1" dirty="0">
                <a:solidFill>
                  <a:srgbClr val="144C31"/>
                </a:solidFill>
                <a:latin typeface="Calibri" pitchFamily="34" charset="0"/>
                <a:ea typeface="Calibri" pitchFamily="34" charset="-122"/>
                <a:cs typeface="Calibri" pitchFamily="34" charset="-120"/>
              </a:rPr>
              <a:t>Resolve before escalation</a:t>
            </a:r>
            <a:endParaRPr lang="en-US" sz="900" dirty="0"/>
          </a:p>
        </p:txBody>
      </p:sp>
      <p:sp>
        <p:nvSpPr>
          <p:cNvPr id="70" name="Text 68"/>
          <p:cNvSpPr txBox="1"/>
          <p:nvPr/>
        </p:nvSpPr>
        <p:spPr>
          <a:xfrm>
            <a:off x="9712452" y="4782312"/>
            <a:ext cx="173736" cy="621792"/>
          </a:xfrm>
          <a:prstGeom prst="rect">
            <a:avLst/>
          </a:prstGeom>
          <a:noFill/>
          <a:ln/>
        </p:spPr>
        <p:txBody>
          <a:bodyPr wrap="square" lIns="0" tIns="0" rIns="0" bIns="0" rtlCol="0" anchor="ctr"/>
          <a:lstStyle/>
          <a:p>
            <a:pPr algn="ctr" indent="0" marL="0">
              <a:buNone/>
            </a:pPr>
            <a:r>
              <a:rPr lang="en-US" sz="1100" dirty="0">
                <a:solidFill>
                  <a:srgbClr val="9DB8A8"/>
                </a:solidFill>
                <a:latin typeface="Cambria" pitchFamily="34" charset="0"/>
                <a:ea typeface="Cambria" pitchFamily="34" charset="-122"/>
                <a:cs typeface="Cambria" pitchFamily="34" charset="-120"/>
              </a:rPr>
              <a:t>→</a:t>
            </a:r>
            <a:endParaRPr lang="en-US" sz="1100" dirty="0"/>
          </a:p>
        </p:txBody>
      </p:sp>
      <p:sp>
        <p:nvSpPr>
          <p:cNvPr id="71" name="Shape 69"/>
          <p:cNvSpPr/>
          <p:nvPr/>
        </p:nvSpPr>
        <p:spPr>
          <a:xfrm>
            <a:off x="9867900" y="4782312"/>
            <a:ext cx="1589532" cy="621792"/>
          </a:xfrm>
          <a:prstGeom prst="rect">
            <a:avLst/>
          </a:prstGeom>
          <a:solidFill>
            <a:srgbClr val="F6EDD3"/>
          </a:solidFill>
          <a:ln w="6350">
            <a:solidFill>
              <a:srgbClr val="C9961A"/>
            </a:solidFill>
            <a:prstDash val="solid"/>
          </a:ln>
        </p:spPr>
      </p:sp>
      <p:sp>
        <p:nvSpPr>
          <p:cNvPr id="72" name="Text 70"/>
          <p:cNvSpPr txBox="1"/>
          <p:nvPr/>
        </p:nvSpPr>
        <p:spPr>
          <a:xfrm>
            <a:off x="9867900" y="4782312"/>
            <a:ext cx="1589532" cy="621792"/>
          </a:xfrm>
          <a:prstGeom prst="rect">
            <a:avLst/>
          </a:prstGeom>
          <a:noFill/>
          <a:ln/>
        </p:spPr>
        <p:txBody>
          <a:bodyPr wrap="square" lIns="508" tIns="508" rIns="508" bIns="508" rtlCol="0" anchor="ctr"/>
          <a:lstStyle/>
          <a:p>
            <a:pPr algn="ctr" indent="0" marL="0">
              <a:buNone/>
            </a:pPr>
            <a:r>
              <a:rPr lang="en-US" sz="900" b="1" dirty="0">
                <a:solidFill>
                  <a:srgbClr val="144C31"/>
                </a:solidFill>
                <a:latin typeface="Calibri" pitchFamily="34" charset="0"/>
                <a:ea typeface="Calibri" pitchFamily="34" charset="-122"/>
                <a:cs typeface="Calibri" pitchFamily="34" charset="-120"/>
              </a:rPr>
              <a:t>Reduce avoidable complaints</a:t>
            </a:r>
            <a:endParaRPr lang="en-US" sz="900" dirty="0"/>
          </a:p>
        </p:txBody>
      </p:sp>
      <p:sp>
        <p:nvSpPr>
          <p:cNvPr id="73" name="Text 71"/>
          <p:cNvSpPr txBox="1"/>
          <p:nvPr/>
        </p:nvSpPr>
        <p:spPr>
          <a:xfrm>
            <a:off x="548640" y="5623560"/>
            <a:ext cx="8046720" cy="502920"/>
          </a:xfrm>
          <a:prstGeom prst="rect">
            <a:avLst/>
          </a:prstGeom>
          <a:noFill/>
          <a:ln/>
        </p:spPr>
        <p:txBody>
          <a:bodyPr wrap="square" lIns="0" tIns="0" rIns="0" bIns="0" rtlCol="0" anchor="ctr"/>
          <a:lstStyle/>
          <a:p>
            <a:pPr indent="0" marL="0">
              <a:buNone/>
            </a:pPr>
            <a:r>
              <a:rPr lang="en-US" sz="900" dirty="0">
                <a:solidFill>
                  <a:srgbClr val="9DB8A8"/>
                </a:solidFill>
                <a:latin typeface="Calibri" pitchFamily="34" charset="0"/>
                <a:ea typeface="Calibri" pitchFamily="34" charset="-122"/>
                <a:cs typeface="Calibri" pitchFamily="34" charset="-120"/>
              </a:rPr>
              <a:t>Why a bank could have an incentive: earlier detection → earlier resolution → fewer escalations, under RBI’s Internal Ombudsman Directions (14 Jan 2026, auto-escalation of unresolved complaints). No bank is a customer today.</a:t>
            </a:r>
            <a:endParaRPr lang="en-US" sz="900" dirty="0"/>
          </a:p>
        </p:txBody>
      </p:sp>
      <p:sp>
        <p:nvSpPr>
          <p:cNvPr id="74" name="Text 72"/>
          <p:cNvSpPr txBox="1"/>
          <p:nvPr/>
        </p:nvSpPr>
        <p:spPr>
          <a:xfrm>
            <a:off x="8503920" y="5715000"/>
            <a:ext cx="3154680" cy="411480"/>
          </a:xfrm>
          <a:prstGeom prst="rect">
            <a:avLst/>
          </a:prstGeom>
          <a:noFill/>
          <a:ln/>
        </p:spPr>
        <p:txBody>
          <a:bodyPr wrap="square" lIns="0" tIns="0" rIns="0" bIns="0" rtlCol="0" anchor="ctr"/>
          <a:lstStyle/>
          <a:p>
            <a:pPr algn="r" indent="0" marL="0">
              <a:buNone/>
            </a:pPr>
            <a:r>
              <a:rPr lang="en-US" sz="1400" i="1" dirty="0">
                <a:solidFill>
                  <a:srgbClr val="C9961A"/>
                </a:solidFill>
                <a:latin typeface="Cambria" pitchFamily="34" charset="0"/>
                <a:ea typeface="Cambria" pitchFamily="34" charset="-122"/>
                <a:cs typeface="Cambria" pitchFamily="34" charset="-120"/>
              </a:rPr>
              <a:t>Bank rule theriyadhaa?  Vasool Raja paathukkum.</a:t>
            </a:r>
            <a:endParaRPr lang="en-US" sz="1400" dirty="0"/>
          </a:p>
        </p:txBody>
      </p:sp>
      <p:sp>
        <p:nvSpPr>
          <p:cNvPr id="75" name="Text 73"/>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9DB8A8"/>
                </a:solidFill>
                <a:latin typeface="Calibri" pitchFamily="34" charset="0"/>
                <a:ea typeface="Calibri" pitchFamily="34" charset="-122"/>
                <a:cs typeface="Calibri" pitchFamily="34" charset="-120"/>
              </a:rPr>
              <a:t>Vasool Raja  ·  HackVerse 2.0  ·  Digital Twins &amp; FinTech</a:t>
            </a:r>
            <a:endParaRPr lang="en-US" sz="900" dirty="0"/>
          </a:p>
        </p:txBody>
      </p:sp>
      <p:sp>
        <p:nvSpPr>
          <p:cNvPr id="76" name="Text 74"/>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900" dirty="0">
                <a:solidFill>
                  <a:srgbClr val="9DB8A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3657600" cy="274320"/>
          </a:xfrm>
          <a:prstGeom prst="rect">
            <a:avLst/>
          </a:prstGeom>
          <a:noFill/>
          <a:ln/>
        </p:spPr>
        <p:txBody>
          <a:bodyPr wrap="square" lIns="0" tIns="0" rIns="0" bIns="0" rtlCol="0" anchor="ctr"/>
          <a:lstStyle/>
          <a:p>
            <a:pPr indent="0" marL="0">
              <a:buNone/>
            </a:pPr>
            <a:r>
              <a:rPr lang="en-US" sz="1000" b="1" spc="300" kern="0" dirty="0">
                <a:solidFill>
                  <a:srgbClr val="1E6A44"/>
                </a:solidFill>
                <a:latin typeface="Calibri" pitchFamily="34" charset="0"/>
                <a:ea typeface="Calibri" pitchFamily="34" charset="-122"/>
                <a:cs typeface="Calibri" pitchFamily="34" charset="-120"/>
              </a:rPr>
              <a:t>SOURCES</a:t>
            </a:r>
            <a:endParaRPr lang="en-US" sz="1000" dirty="0"/>
          </a:p>
        </p:txBody>
      </p:sp>
      <p:sp>
        <p:nvSpPr>
          <p:cNvPr id="3" name="Text 1"/>
          <p:cNvSpPr txBox="1"/>
          <p:nvPr/>
        </p:nvSpPr>
        <p:spPr>
          <a:xfrm>
            <a:off x="548640" y="640080"/>
            <a:ext cx="11091672" cy="914400"/>
          </a:xfrm>
          <a:prstGeom prst="rect">
            <a:avLst/>
          </a:prstGeom>
          <a:noFill/>
          <a:ln/>
        </p:spPr>
        <p:txBody>
          <a:bodyPr wrap="square" lIns="0" tIns="0" rIns="0" bIns="0" rtlCol="0" anchor="t"/>
          <a:lstStyle/>
          <a:p>
            <a:pPr indent="0" marL="0">
              <a:buNone/>
            </a:pPr>
            <a:r>
              <a:rPr lang="en-US" sz="2800" b="1" dirty="0">
                <a:solidFill>
                  <a:srgbClr val="18261F"/>
                </a:solidFill>
                <a:latin typeface="Cambria" pitchFamily="34" charset="0"/>
                <a:ea typeface="Cambria" pitchFamily="34" charset="-122"/>
                <a:cs typeface="Cambria" pitchFamily="34" charset="-120"/>
              </a:rPr>
              <a:t>Every number, a link. Every rule, a circular.</a:t>
            </a:r>
            <a:endParaRPr lang="en-US" sz="2800" dirty="0"/>
          </a:p>
        </p:txBody>
      </p:sp>
      <p:sp>
        <p:nvSpPr>
          <p:cNvPr id="4" name="Shape 2"/>
          <p:cNvSpPr/>
          <p:nvPr/>
        </p:nvSpPr>
        <p:spPr>
          <a:xfrm>
            <a:off x="548640" y="1463040"/>
            <a:ext cx="6949440" cy="310896"/>
          </a:xfrm>
          <a:prstGeom prst="rect">
            <a:avLst/>
          </a:prstGeom>
          <a:solidFill>
            <a:srgbClr val="144C31"/>
          </a:solidFill>
          <a:ln w="12700">
            <a:solidFill>
              <a:srgbClr val="144C31"/>
            </a:solidFill>
            <a:prstDash val="solid"/>
          </a:ln>
        </p:spPr>
      </p:sp>
      <p:sp>
        <p:nvSpPr>
          <p:cNvPr id="5" name="Text 3"/>
          <p:cNvSpPr txBox="1"/>
          <p:nvPr/>
        </p:nvSpPr>
        <p:spPr>
          <a:xfrm>
            <a:off x="685800" y="1463040"/>
            <a:ext cx="6675120" cy="310896"/>
          </a:xfrm>
          <a:prstGeom prst="rect">
            <a:avLst/>
          </a:prstGeom>
          <a:noFill/>
          <a:ln/>
        </p:spPr>
        <p:txBody>
          <a:bodyPr wrap="square" lIns="0" tIns="0" rIns="0" bIns="0" rtlCol="0" anchor="ctr"/>
          <a:lstStyle/>
          <a:p>
            <a:pPr indent="0" marL="0">
              <a:buNone/>
            </a:pPr>
            <a:r>
              <a:rPr lang="en-US" sz="900" b="1" spc="100" kern="0" dirty="0">
                <a:solidFill>
                  <a:srgbClr val="C9961A"/>
                </a:solidFill>
                <a:latin typeface="Calibri" pitchFamily="34" charset="0"/>
                <a:ea typeface="Calibri" pitchFamily="34" charset="-122"/>
                <a:cs typeface="Calibri" pitchFamily="34" charset="-120"/>
              </a:rPr>
              <a:t>PRIMARY REGULATORY SOURCES  ·  RBI circulars · directions · Ombudsman / CMS</a:t>
            </a:r>
            <a:endParaRPr lang="en-US" sz="900" dirty="0"/>
          </a:p>
        </p:txBody>
      </p:sp>
      <p:sp>
        <p:nvSpPr>
          <p:cNvPr id="6" name="Text 4"/>
          <p:cNvSpPr txBox="1"/>
          <p:nvPr/>
        </p:nvSpPr>
        <p:spPr>
          <a:xfrm>
            <a:off x="548640" y="1874520"/>
            <a:ext cx="6949440" cy="420624"/>
          </a:xfrm>
          <a:prstGeom prst="rect">
            <a:avLst/>
          </a:prstGeom>
          <a:noFill/>
          <a:ln/>
        </p:spPr>
        <p:txBody>
          <a:bodyPr wrap="square" lIns="0" tIns="0" rIns="0" bIns="0" rtlCol="0" anchor="t"/>
          <a:lstStyle/>
          <a:p>
            <a:pPr indent="0" marL="0">
              <a:buNone/>
            </a:pPr>
            <a:r>
              <a:rPr lang="en-US" sz="1000" b="1" dirty="0">
                <a:solidFill>
                  <a:srgbClr val="18261F"/>
                </a:solidFill>
                <a:latin typeface="Calibri" pitchFamily="34" charset="0"/>
                <a:ea typeface="Calibri" pitchFamily="34" charset="-122"/>
                <a:cs typeface="Calibri" pitchFamily="34" charset="-120"/>
              </a:rPr>
              <a:t>RBI/2019-20/67 — TAT and compensation for failed transactions (₹100/day)</a:t>
            </a:r>
            <a:endParaRPr lang="en-US" sz="1000" dirty="0"/>
          </a:p>
          <a:p>
            <a:pPr indent="0" marL="0">
              <a:buNone/>
            </a:pPr>
            <a:r>
              <a:rPr lang="en-US" sz="800" dirty="0">
                <a:solidFill>
                  <a:srgbClr val="4E5D55"/>
                </a:solidFill>
                <a:latin typeface="Calibri" pitchFamily="34" charset="0"/>
                <a:ea typeface="Calibri" pitchFamily="34" charset="-122"/>
                <a:cs typeface="Calibri" pitchFamily="34" charset="-120"/>
              </a:rPr>
              <a:t>rbi.org.in/commonman/English/scripts/Notification.aspx?Id=3074</a:t>
            </a:r>
            <a:endParaRPr lang="en-US" sz="1000" dirty="0"/>
          </a:p>
        </p:txBody>
      </p:sp>
      <p:sp>
        <p:nvSpPr>
          <p:cNvPr id="7" name="Text 5"/>
          <p:cNvSpPr txBox="1"/>
          <p:nvPr/>
        </p:nvSpPr>
        <p:spPr>
          <a:xfrm>
            <a:off x="548640" y="2331720"/>
            <a:ext cx="6949440" cy="420624"/>
          </a:xfrm>
          <a:prstGeom prst="rect">
            <a:avLst/>
          </a:prstGeom>
          <a:noFill/>
          <a:ln/>
        </p:spPr>
        <p:txBody>
          <a:bodyPr wrap="square" lIns="0" tIns="0" rIns="0" bIns="0" rtlCol="0" anchor="t"/>
          <a:lstStyle/>
          <a:p>
            <a:pPr indent="0" marL="0">
              <a:buNone/>
            </a:pPr>
            <a:r>
              <a:rPr lang="en-US" sz="1000" b="1" dirty="0">
                <a:solidFill>
                  <a:srgbClr val="18261F"/>
                </a:solidFill>
                <a:latin typeface="Calibri" pitchFamily="34" charset="0"/>
                <a:ea typeface="Calibri" pitchFamily="34" charset="-122"/>
                <a:cs typeface="Calibri" pitchFamily="34" charset="-120"/>
              </a:rPr>
              <a:t>RBI, 20 Nov 2014 — penal charges for non-maintenance of minimum balance</a:t>
            </a:r>
            <a:endParaRPr lang="en-US" sz="1000" dirty="0"/>
          </a:p>
          <a:p>
            <a:pPr indent="0" marL="0">
              <a:buNone/>
            </a:pPr>
            <a:r>
              <a:rPr lang="en-US" sz="800" dirty="0">
                <a:solidFill>
                  <a:srgbClr val="4E5D55"/>
                </a:solidFill>
                <a:latin typeface="Calibri" pitchFamily="34" charset="0"/>
                <a:ea typeface="Calibri" pitchFamily="34" charset="-122"/>
                <a:cs typeface="Calibri" pitchFamily="34" charset="-120"/>
              </a:rPr>
              <a:t>rbi.org.in/commonman/English/Scripts/Notification.aspx?Id=1500</a:t>
            </a:r>
            <a:endParaRPr lang="en-US" sz="1000" dirty="0"/>
          </a:p>
        </p:txBody>
      </p:sp>
      <p:sp>
        <p:nvSpPr>
          <p:cNvPr id="8" name="Text 6"/>
          <p:cNvSpPr txBox="1"/>
          <p:nvPr/>
        </p:nvSpPr>
        <p:spPr>
          <a:xfrm>
            <a:off x="548640" y="2788920"/>
            <a:ext cx="6949440" cy="420624"/>
          </a:xfrm>
          <a:prstGeom prst="rect">
            <a:avLst/>
          </a:prstGeom>
          <a:noFill/>
          <a:ln/>
        </p:spPr>
        <p:txBody>
          <a:bodyPr wrap="square" lIns="0" tIns="0" rIns="0" bIns="0" rtlCol="0" anchor="t"/>
          <a:lstStyle/>
          <a:p>
            <a:pPr indent="0" marL="0">
              <a:buNone/>
            </a:pPr>
            <a:r>
              <a:rPr lang="en-US" sz="1000" b="1" dirty="0">
                <a:solidFill>
                  <a:srgbClr val="18261F"/>
                </a:solidFill>
                <a:latin typeface="Calibri" pitchFamily="34" charset="0"/>
                <a:ea typeface="Calibri" pitchFamily="34" charset="-122"/>
                <a:cs typeface="Calibri" pitchFamily="34" charset="-120"/>
              </a:rPr>
              <a:t>RBI, 28 Mar 2025 — ATM free transactions and ₹23 cap (eff. 1 May 2025)</a:t>
            </a:r>
            <a:endParaRPr lang="en-US" sz="1000" dirty="0"/>
          </a:p>
          <a:p>
            <a:pPr indent="0" marL="0">
              <a:buNone/>
            </a:pPr>
            <a:r>
              <a:rPr lang="en-US" sz="800" dirty="0">
                <a:solidFill>
                  <a:srgbClr val="4E5D55"/>
                </a:solidFill>
                <a:latin typeface="Calibri" pitchFamily="34" charset="0"/>
                <a:ea typeface="Calibri" pitchFamily="34" charset="-122"/>
                <a:cs typeface="Calibri" pitchFamily="34" charset="-120"/>
              </a:rPr>
              <a:t>rbi.org.in/scripts/NotificationUser.aspx?Id=12111</a:t>
            </a:r>
            <a:endParaRPr lang="en-US" sz="1000" dirty="0"/>
          </a:p>
        </p:txBody>
      </p:sp>
      <p:sp>
        <p:nvSpPr>
          <p:cNvPr id="9" name="Text 7"/>
          <p:cNvSpPr txBox="1"/>
          <p:nvPr/>
        </p:nvSpPr>
        <p:spPr>
          <a:xfrm>
            <a:off x="548640" y="3246120"/>
            <a:ext cx="6949440" cy="420624"/>
          </a:xfrm>
          <a:prstGeom prst="rect">
            <a:avLst/>
          </a:prstGeom>
          <a:noFill/>
          <a:ln/>
        </p:spPr>
        <p:txBody>
          <a:bodyPr wrap="square" lIns="0" tIns="0" rIns="0" bIns="0" rtlCol="0" anchor="t"/>
          <a:lstStyle/>
          <a:p>
            <a:pPr indent="0" marL="0">
              <a:buNone/>
            </a:pPr>
            <a:r>
              <a:rPr lang="en-US" sz="1000" b="1" dirty="0">
                <a:solidFill>
                  <a:srgbClr val="18261F"/>
                </a:solidFill>
                <a:latin typeface="Calibri" pitchFamily="34" charset="0"/>
                <a:ea typeface="Calibri" pitchFamily="34" charset="-122"/>
                <a:cs typeface="Calibri" pitchFamily="34" charset="-120"/>
              </a:rPr>
              <a:t>RBI Master Circular on Customer Service in Banks, 2015 — disclosure, one month’s notice</a:t>
            </a:r>
            <a:endParaRPr lang="en-US" sz="1000" dirty="0"/>
          </a:p>
          <a:p>
            <a:pPr indent="0" marL="0">
              <a:buNone/>
            </a:pPr>
            <a:r>
              <a:rPr lang="en-US" sz="800" dirty="0">
                <a:solidFill>
                  <a:srgbClr val="4E5D55"/>
                </a:solidFill>
                <a:latin typeface="Calibri" pitchFamily="34" charset="0"/>
                <a:ea typeface="Calibri" pitchFamily="34" charset="-122"/>
                <a:cs typeface="Calibri" pitchFamily="34" charset="-120"/>
              </a:rPr>
              <a:t>rbi.org.in/Scripts/BS_ViewMasCirculardetails.aspx?id=9862</a:t>
            </a:r>
            <a:endParaRPr lang="en-US" sz="1000" dirty="0"/>
          </a:p>
        </p:txBody>
      </p:sp>
      <p:sp>
        <p:nvSpPr>
          <p:cNvPr id="10" name="Text 8"/>
          <p:cNvSpPr txBox="1"/>
          <p:nvPr/>
        </p:nvSpPr>
        <p:spPr>
          <a:xfrm>
            <a:off x="548640" y="3703320"/>
            <a:ext cx="6949440" cy="420624"/>
          </a:xfrm>
          <a:prstGeom prst="rect">
            <a:avLst/>
          </a:prstGeom>
          <a:noFill/>
          <a:ln/>
        </p:spPr>
        <p:txBody>
          <a:bodyPr wrap="square" lIns="0" tIns="0" rIns="0" bIns="0" rtlCol="0" anchor="t"/>
          <a:lstStyle/>
          <a:p>
            <a:pPr indent="0" marL="0">
              <a:buNone/>
            </a:pPr>
            <a:r>
              <a:rPr lang="en-US" sz="1000" b="1" dirty="0">
                <a:solidFill>
                  <a:srgbClr val="18261F"/>
                </a:solidFill>
                <a:latin typeface="Calibri" pitchFamily="34" charset="0"/>
                <a:ea typeface="Calibri" pitchFamily="34" charset="-122"/>
                <a:cs typeface="Calibri" pitchFamily="34" charset="-120"/>
              </a:rPr>
              <a:t>RBI Credit Card and Debit Card Directions, 2022 — closure within 7 working days, ₹500/day</a:t>
            </a:r>
            <a:endParaRPr lang="en-US" sz="1000" dirty="0"/>
          </a:p>
          <a:p>
            <a:pPr indent="0" marL="0">
              <a:buNone/>
            </a:pPr>
            <a:r>
              <a:rPr lang="en-US" sz="800" dirty="0">
                <a:solidFill>
                  <a:srgbClr val="4E5D55"/>
                </a:solidFill>
                <a:latin typeface="Calibri" pitchFamily="34" charset="0"/>
                <a:ea typeface="Calibri" pitchFamily="34" charset="-122"/>
                <a:cs typeface="Calibri" pitchFamily="34" charset="-120"/>
              </a:rPr>
              <a:t>rbi.org.in/Scripts/BS_ViewMasDirections.aspx?id=12300</a:t>
            </a:r>
            <a:endParaRPr lang="en-US" sz="1000" dirty="0"/>
          </a:p>
        </p:txBody>
      </p:sp>
      <p:sp>
        <p:nvSpPr>
          <p:cNvPr id="11" name="Text 9"/>
          <p:cNvSpPr txBox="1"/>
          <p:nvPr/>
        </p:nvSpPr>
        <p:spPr>
          <a:xfrm>
            <a:off x="548640" y="4160520"/>
            <a:ext cx="6949440" cy="420624"/>
          </a:xfrm>
          <a:prstGeom prst="rect">
            <a:avLst/>
          </a:prstGeom>
          <a:noFill/>
          <a:ln/>
        </p:spPr>
        <p:txBody>
          <a:bodyPr wrap="square" lIns="0" tIns="0" rIns="0" bIns="0" rtlCol="0" anchor="t"/>
          <a:lstStyle/>
          <a:p>
            <a:pPr indent="0" marL="0">
              <a:buNone/>
            </a:pPr>
            <a:r>
              <a:rPr lang="en-US" sz="1000" b="1" dirty="0">
                <a:solidFill>
                  <a:srgbClr val="18261F"/>
                </a:solidFill>
                <a:latin typeface="Calibri" pitchFamily="34" charset="0"/>
                <a:ea typeface="Calibri" pitchFamily="34" charset="-122"/>
                <a:cs typeface="Calibri" pitchFamily="34" charset="-120"/>
              </a:rPr>
              <a:t>RBI, 6 Jul 2017 — limiting customer liability in unauthorised electronic transactions</a:t>
            </a:r>
            <a:endParaRPr lang="en-US" sz="1000" dirty="0"/>
          </a:p>
          <a:p>
            <a:pPr indent="0" marL="0">
              <a:buNone/>
            </a:pPr>
            <a:r>
              <a:rPr lang="en-US" sz="800" dirty="0">
                <a:solidFill>
                  <a:srgbClr val="4E5D55"/>
                </a:solidFill>
                <a:latin typeface="Calibri" pitchFamily="34" charset="0"/>
                <a:ea typeface="Calibri" pitchFamily="34" charset="-122"/>
                <a:cs typeface="Calibri" pitchFamily="34" charset="-120"/>
              </a:rPr>
              <a:t>rbi.org.in/Scripts/NotificationUser.aspx?Id=11040</a:t>
            </a:r>
            <a:endParaRPr lang="en-US" sz="1000" dirty="0"/>
          </a:p>
        </p:txBody>
      </p:sp>
      <p:sp>
        <p:nvSpPr>
          <p:cNvPr id="12" name="Text 10"/>
          <p:cNvSpPr txBox="1"/>
          <p:nvPr/>
        </p:nvSpPr>
        <p:spPr>
          <a:xfrm>
            <a:off x="548640" y="4617720"/>
            <a:ext cx="6949440" cy="420624"/>
          </a:xfrm>
          <a:prstGeom prst="rect">
            <a:avLst/>
          </a:prstGeom>
          <a:noFill/>
          <a:ln/>
        </p:spPr>
        <p:txBody>
          <a:bodyPr wrap="square" lIns="0" tIns="0" rIns="0" bIns="0" rtlCol="0" anchor="t"/>
          <a:lstStyle/>
          <a:p>
            <a:pPr indent="0" marL="0">
              <a:buNone/>
            </a:pPr>
            <a:r>
              <a:rPr lang="en-US" sz="1000" b="1" dirty="0">
                <a:solidFill>
                  <a:srgbClr val="18261F"/>
                </a:solidFill>
                <a:latin typeface="Calibri" pitchFamily="34" charset="0"/>
                <a:ea typeface="Calibri" pitchFamily="34" charset="-122"/>
                <a:cs typeface="Calibri" pitchFamily="34" charset="-120"/>
              </a:rPr>
              <a:t>RBI Integrated Ombudsman Scheme 2026 (eff. 1 Jul 2026) — FAQs</a:t>
            </a:r>
            <a:endParaRPr lang="en-US" sz="1000" dirty="0"/>
          </a:p>
          <a:p>
            <a:pPr indent="0" marL="0">
              <a:buNone/>
            </a:pPr>
            <a:r>
              <a:rPr lang="en-US" sz="800" dirty="0">
                <a:solidFill>
                  <a:srgbClr val="4E5D55"/>
                </a:solidFill>
                <a:latin typeface="Calibri" pitchFamily="34" charset="0"/>
                <a:ea typeface="Calibri" pitchFamily="34" charset="-122"/>
                <a:cs typeface="Calibri" pitchFamily="34" charset="-120"/>
              </a:rPr>
              <a:t>rbi.org.in/commonman/Upload/English/FAQs/PDFs/RBIOS01072026.pdf</a:t>
            </a:r>
            <a:endParaRPr lang="en-US" sz="1000" dirty="0"/>
          </a:p>
        </p:txBody>
      </p:sp>
      <p:sp>
        <p:nvSpPr>
          <p:cNvPr id="13" name="Text 11"/>
          <p:cNvSpPr txBox="1"/>
          <p:nvPr/>
        </p:nvSpPr>
        <p:spPr>
          <a:xfrm>
            <a:off x="548640" y="5074920"/>
            <a:ext cx="6949440" cy="420624"/>
          </a:xfrm>
          <a:prstGeom prst="rect">
            <a:avLst/>
          </a:prstGeom>
          <a:noFill/>
          <a:ln/>
        </p:spPr>
        <p:txBody>
          <a:bodyPr wrap="square" lIns="0" tIns="0" rIns="0" bIns="0" rtlCol="0" anchor="t"/>
          <a:lstStyle/>
          <a:p>
            <a:pPr indent="0" marL="0">
              <a:buNone/>
            </a:pPr>
            <a:r>
              <a:rPr lang="en-US" sz="1000" b="1" dirty="0">
                <a:solidFill>
                  <a:srgbClr val="18261F"/>
                </a:solidFill>
                <a:latin typeface="Calibri" pitchFamily="34" charset="0"/>
                <a:ea typeface="Calibri" pitchFamily="34" charset="-122"/>
                <a:cs typeface="Calibri" pitchFamily="34" charset="-120"/>
              </a:rPr>
              <a:t>RBI Internal Ombudsman Directions, 14 Jan 2026 — auto-escalation, 30-day reply</a:t>
            </a:r>
            <a:endParaRPr lang="en-US" sz="1000" dirty="0"/>
          </a:p>
          <a:p>
            <a:pPr indent="0" marL="0">
              <a:buNone/>
            </a:pPr>
            <a:r>
              <a:rPr lang="en-US" sz="800" dirty="0">
                <a:solidFill>
                  <a:srgbClr val="4E5D55"/>
                </a:solidFill>
                <a:latin typeface="Calibri" pitchFamily="34" charset="0"/>
                <a:ea typeface="Calibri" pitchFamily="34" charset="-122"/>
                <a:cs typeface="Calibri" pitchFamily="34" charset="-120"/>
              </a:rPr>
              <a:t>reported by business-standard.com (RBI mandates auto-escalation of unresolved complaints)</a:t>
            </a:r>
            <a:endParaRPr lang="en-US" sz="1000" dirty="0"/>
          </a:p>
        </p:txBody>
      </p:sp>
      <p:sp>
        <p:nvSpPr>
          <p:cNvPr id="14" name="Text 12"/>
          <p:cNvSpPr txBox="1"/>
          <p:nvPr/>
        </p:nvSpPr>
        <p:spPr>
          <a:xfrm>
            <a:off x="548640" y="5532120"/>
            <a:ext cx="6949440" cy="420624"/>
          </a:xfrm>
          <a:prstGeom prst="rect">
            <a:avLst/>
          </a:prstGeom>
          <a:noFill/>
          <a:ln/>
        </p:spPr>
        <p:txBody>
          <a:bodyPr wrap="square" lIns="0" tIns="0" rIns="0" bIns="0" rtlCol="0" anchor="t"/>
          <a:lstStyle/>
          <a:p>
            <a:pPr indent="0" marL="0">
              <a:buNone/>
            </a:pPr>
            <a:r>
              <a:rPr lang="en-US" sz="1000" b="1" dirty="0">
                <a:solidFill>
                  <a:srgbClr val="18261F"/>
                </a:solidFill>
                <a:latin typeface="Calibri" pitchFamily="34" charset="0"/>
                <a:ea typeface="Calibri" pitchFamily="34" charset="-122"/>
                <a:cs typeface="Calibri" pitchFamily="34" charset="-120"/>
              </a:rPr>
              <a:t>RBI Ombudsman Scheme annual report 2024–25 — 13.34 lakh complaints</a:t>
            </a:r>
            <a:endParaRPr lang="en-US" sz="1000" dirty="0"/>
          </a:p>
          <a:p>
            <a:pPr indent="0" marL="0">
              <a:buNone/>
            </a:pPr>
            <a:r>
              <a:rPr lang="en-US" sz="800" dirty="0">
                <a:solidFill>
                  <a:srgbClr val="4E5D55"/>
                </a:solidFill>
                <a:latin typeface="Calibri" pitchFamily="34" charset="0"/>
                <a:ea typeface="Calibri" pitchFamily="34" charset="-122"/>
                <a:cs typeface="Calibri" pitchFamily="34" charset="-120"/>
              </a:rPr>
              <a:t>rbi.org.in — Annual Report of Ombudsman Scheme 2024-25</a:t>
            </a:r>
            <a:endParaRPr lang="en-US" sz="1000" dirty="0"/>
          </a:p>
        </p:txBody>
      </p:sp>
      <p:sp>
        <p:nvSpPr>
          <p:cNvPr id="15" name="Shape 13"/>
          <p:cNvSpPr/>
          <p:nvPr/>
        </p:nvSpPr>
        <p:spPr>
          <a:xfrm>
            <a:off x="7818120" y="1463040"/>
            <a:ext cx="3822192" cy="310896"/>
          </a:xfrm>
          <a:prstGeom prst="rect">
            <a:avLst/>
          </a:prstGeom>
          <a:solidFill>
            <a:srgbClr val="F5F7F2"/>
          </a:solidFill>
          <a:ln w="9525">
            <a:solidFill>
              <a:srgbClr val="D7DDD6"/>
            </a:solidFill>
            <a:prstDash val="solid"/>
          </a:ln>
        </p:spPr>
      </p:sp>
      <p:sp>
        <p:nvSpPr>
          <p:cNvPr id="16" name="Text 14"/>
          <p:cNvSpPr txBox="1"/>
          <p:nvPr/>
        </p:nvSpPr>
        <p:spPr>
          <a:xfrm>
            <a:off x="7955280" y="1463040"/>
            <a:ext cx="3547872" cy="310896"/>
          </a:xfrm>
          <a:prstGeom prst="rect">
            <a:avLst/>
          </a:prstGeom>
          <a:noFill/>
          <a:ln/>
        </p:spPr>
        <p:txBody>
          <a:bodyPr wrap="square" lIns="0" tIns="0" rIns="0" bIns="0" rtlCol="0" anchor="ctr"/>
          <a:lstStyle/>
          <a:p>
            <a:pPr indent="0" marL="0">
              <a:buNone/>
            </a:pPr>
            <a:r>
              <a:rPr lang="en-US" sz="900" b="1" spc="100" kern="0" dirty="0">
                <a:solidFill>
                  <a:srgbClr val="4E5D55"/>
                </a:solidFill>
                <a:latin typeface="Calibri" pitchFamily="34" charset="0"/>
                <a:ea typeface="Calibri" pitchFamily="34" charset="-122"/>
                <a:cs typeface="Calibri" pitchFamily="34" charset="-120"/>
              </a:rPr>
              <a:t>SUPPORTING SOURCES  ·  NPCI · Rajya Sabha data · press / media</a:t>
            </a:r>
            <a:endParaRPr lang="en-US" sz="900" dirty="0"/>
          </a:p>
        </p:txBody>
      </p:sp>
      <p:sp>
        <p:nvSpPr>
          <p:cNvPr id="17" name="Text 15"/>
          <p:cNvSpPr txBox="1"/>
          <p:nvPr/>
        </p:nvSpPr>
        <p:spPr>
          <a:xfrm>
            <a:off x="7818120" y="1874520"/>
            <a:ext cx="3822192" cy="566928"/>
          </a:xfrm>
          <a:prstGeom prst="rect">
            <a:avLst/>
          </a:prstGeom>
          <a:noFill/>
          <a:ln/>
        </p:spPr>
        <p:txBody>
          <a:bodyPr wrap="square" lIns="0" tIns="0" rIns="0" bIns="0" rtlCol="0" anchor="t"/>
          <a:lstStyle/>
          <a:p>
            <a:pPr indent="0" marL="0">
              <a:buNone/>
            </a:pPr>
            <a:r>
              <a:rPr lang="en-US" sz="900" b="1" dirty="0">
                <a:solidFill>
                  <a:srgbClr val="18261F"/>
                </a:solidFill>
                <a:latin typeface="Calibri" pitchFamily="34" charset="0"/>
                <a:ea typeface="Calibri" pitchFamily="34" charset="-122"/>
                <a:cs typeface="Calibri" pitchFamily="34" charset="-120"/>
              </a:rPr>
              <a:t>NPCI UPI product statistics — 24.51 bn transactions, Aug 2026</a:t>
            </a:r>
            <a:endParaRPr lang="en-US" sz="900" dirty="0"/>
          </a:p>
          <a:p>
            <a:pPr indent="0" marL="0">
              <a:buNone/>
            </a:pPr>
            <a:r>
              <a:rPr lang="en-US" sz="750" dirty="0">
                <a:solidFill>
                  <a:srgbClr val="4E5D55"/>
                </a:solidFill>
                <a:latin typeface="Calibri" pitchFamily="34" charset="0"/>
                <a:ea typeface="Calibri" pitchFamily="34" charset="-122"/>
                <a:cs typeface="Calibri" pitchFamily="34" charset="-120"/>
              </a:rPr>
              <a:t>npci.org.in/product/upi/product-statistics</a:t>
            </a:r>
            <a:endParaRPr lang="en-US" sz="900" dirty="0"/>
          </a:p>
        </p:txBody>
      </p:sp>
      <p:sp>
        <p:nvSpPr>
          <p:cNvPr id="18" name="Text 16"/>
          <p:cNvSpPr txBox="1"/>
          <p:nvPr/>
        </p:nvSpPr>
        <p:spPr>
          <a:xfrm>
            <a:off x="7818120" y="2478024"/>
            <a:ext cx="3822192" cy="566928"/>
          </a:xfrm>
          <a:prstGeom prst="rect">
            <a:avLst/>
          </a:prstGeom>
          <a:noFill/>
          <a:ln/>
        </p:spPr>
        <p:txBody>
          <a:bodyPr wrap="square" lIns="0" tIns="0" rIns="0" bIns="0" rtlCol="0" anchor="t"/>
          <a:lstStyle/>
          <a:p>
            <a:pPr indent="0" marL="0">
              <a:buNone/>
            </a:pPr>
            <a:r>
              <a:rPr lang="en-US" sz="900" b="1" dirty="0">
                <a:solidFill>
                  <a:srgbClr val="18261F"/>
                </a:solidFill>
                <a:latin typeface="Calibri" pitchFamily="34" charset="0"/>
                <a:ea typeface="Calibri" pitchFamily="34" charset="-122"/>
                <a:cs typeface="Calibri" pitchFamily="34" charset="-120"/>
              </a:rPr>
              <a:t>₹7,086 crore minimum-balance penalties FY26 — Rajya Sabha reply, 28 Jul 2026</a:t>
            </a:r>
            <a:endParaRPr lang="en-US" sz="900" dirty="0"/>
          </a:p>
          <a:p>
            <a:pPr indent="0" marL="0">
              <a:buNone/>
            </a:pPr>
            <a:r>
              <a:rPr lang="en-US" sz="750" dirty="0">
                <a:solidFill>
                  <a:srgbClr val="4E5D55"/>
                </a:solidFill>
                <a:latin typeface="Calibri" pitchFamily="34" charset="0"/>
                <a:ea typeface="Calibri" pitchFamily="34" charset="-122"/>
                <a:cs typeface="Calibri" pitchFamily="34" charset="-120"/>
              </a:rPr>
              <a:t>business-standard.com/finance/news/banks-collected-7-086-crore-as-minimum-balance-penalties-in-fy26</a:t>
            </a:r>
            <a:endParaRPr lang="en-US" sz="900" dirty="0"/>
          </a:p>
        </p:txBody>
      </p:sp>
      <p:sp>
        <p:nvSpPr>
          <p:cNvPr id="19" name="Text 17"/>
          <p:cNvSpPr txBox="1"/>
          <p:nvPr/>
        </p:nvSpPr>
        <p:spPr>
          <a:xfrm>
            <a:off x="7818120" y="3081528"/>
            <a:ext cx="3822192" cy="566928"/>
          </a:xfrm>
          <a:prstGeom prst="rect">
            <a:avLst/>
          </a:prstGeom>
          <a:noFill/>
          <a:ln/>
        </p:spPr>
        <p:txBody>
          <a:bodyPr wrap="square" lIns="0" tIns="0" rIns="0" bIns="0" rtlCol="0" anchor="t"/>
          <a:lstStyle/>
          <a:p>
            <a:pPr indent="0" marL="0">
              <a:buNone/>
            </a:pPr>
            <a:r>
              <a:rPr lang="en-US" sz="900" b="1" dirty="0">
                <a:solidFill>
                  <a:srgbClr val="18261F"/>
                </a:solidFill>
                <a:latin typeface="Calibri" pitchFamily="34" charset="0"/>
                <a:ea typeface="Calibri" pitchFamily="34" charset="-122"/>
                <a:cs typeface="Calibri" pitchFamily="34" charset="-120"/>
              </a:rPr>
              <a:t>₹35,587 crore charges FY18–FY23 — Rajya Sabha reply, 8 Aug 2023</a:t>
            </a:r>
            <a:endParaRPr lang="en-US" sz="900" dirty="0"/>
          </a:p>
          <a:p>
            <a:pPr indent="0" marL="0">
              <a:buNone/>
            </a:pPr>
            <a:r>
              <a:rPr lang="en-US" sz="750" dirty="0">
                <a:solidFill>
                  <a:srgbClr val="4E5D55"/>
                </a:solidFill>
                <a:latin typeface="Calibri" pitchFamily="34" charset="0"/>
                <a:ea typeface="Calibri" pitchFamily="34" charset="-122"/>
                <a:cs typeface="Calibri" pitchFamily="34" charset="-120"/>
              </a:rPr>
              <a:t>businesstoday.in (banks levied Rs 35,587 crore as service charge penalty since 2018)</a:t>
            </a:r>
            <a:endParaRPr lang="en-US" sz="900" dirty="0"/>
          </a:p>
        </p:txBody>
      </p:sp>
      <p:sp>
        <p:nvSpPr>
          <p:cNvPr id="20" name="Text 18"/>
          <p:cNvSpPr txBox="1"/>
          <p:nvPr/>
        </p:nvSpPr>
        <p:spPr>
          <a:xfrm>
            <a:off x="7818120" y="3685032"/>
            <a:ext cx="3822192" cy="566928"/>
          </a:xfrm>
          <a:prstGeom prst="rect">
            <a:avLst/>
          </a:prstGeom>
          <a:noFill/>
          <a:ln/>
        </p:spPr>
        <p:txBody>
          <a:bodyPr wrap="square" lIns="0" tIns="0" rIns="0" bIns="0" rtlCol="0" anchor="t"/>
          <a:lstStyle/>
          <a:p>
            <a:pPr indent="0" marL="0">
              <a:buNone/>
            </a:pPr>
            <a:r>
              <a:rPr lang="en-US" sz="900" b="1" dirty="0">
                <a:solidFill>
                  <a:srgbClr val="18261F"/>
                </a:solidFill>
                <a:latin typeface="Calibri" pitchFamily="34" charset="0"/>
                <a:ea typeface="Calibri" pitchFamily="34" charset="-122"/>
                <a:cs typeface="Calibri" pitchFamily="34" charset="-120"/>
              </a:rPr>
              <a:t>Punjab &amp; Sind Bank ordered to pay ₹59,600 on a failed ATM transaction — ANI, 10 Sep 2026</a:t>
            </a:r>
            <a:endParaRPr lang="en-US" sz="900" dirty="0"/>
          </a:p>
          <a:p>
            <a:pPr indent="0" marL="0">
              <a:buNone/>
            </a:pPr>
            <a:r>
              <a:rPr lang="en-US" sz="750" dirty="0">
                <a:solidFill>
                  <a:srgbClr val="4E5D55"/>
                </a:solidFill>
                <a:latin typeface="Calibri" pitchFamily="34" charset="0"/>
                <a:ea typeface="Calibri" pitchFamily="34" charset="-122"/>
                <a:cs typeface="Calibri" pitchFamily="34" charset="-120"/>
              </a:rPr>
              <a:t>aninews.in (consumer commission orders Punjab &amp; Sind Bank to pay Rs 59,600)</a:t>
            </a:r>
            <a:endParaRPr lang="en-US" sz="900" dirty="0"/>
          </a:p>
        </p:txBody>
      </p:sp>
      <p:sp>
        <p:nvSpPr>
          <p:cNvPr id="21" name="Text 19"/>
          <p:cNvSpPr txBox="1"/>
          <p:nvPr/>
        </p:nvSpPr>
        <p:spPr>
          <a:xfrm>
            <a:off x="7818120" y="4288536"/>
            <a:ext cx="3822192" cy="566928"/>
          </a:xfrm>
          <a:prstGeom prst="rect">
            <a:avLst/>
          </a:prstGeom>
          <a:noFill/>
          <a:ln/>
        </p:spPr>
        <p:txBody>
          <a:bodyPr wrap="square" lIns="0" tIns="0" rIns="0" bIns="0" rtlCol="0" anchor="t"/>
          <a:lstStyle/>
          <a:p>
            <a:pPr indent="0" marL="0">
              <a:buNone/>
            </a:pPr>
            <a:r>
              <a:rPr lang="en-US" sz="900" b="1" dirty="0">
                <a:solidFill>
                  <a:srgbClr val="18261F"/>
                </a:solidFill>
                <a:latin typeface="Calibri" pitchFamily="34" charset="0"/>
                <a:ea typeface="Calibri" pitchFamily="34" charset="-122"/>
                <a:cs typeface="Calibri" pitchFamily="34" charset="-120"/>
              </a:rPr>
              <a:t>Kasaragod consumer court — ₹2 SMS fee, ₹295 penalty, bank fined — Onmanorama, 23 Jul 2026</a:t>
            </a:r>
            <a:endParaRPr lang="en-US" sz="900" dirty="0"/>
          </a:p>
          <a:p>
            <a:pPr indent="0" marL="0">
              <a:buNone/>
            </a:pPr>
            <a:r>
              <a:rPr lang="en-US" sz="750" dirty="0">
                <a:solidFill>
                  <a:srgbClr val="4E5D55"/>
                </a:solidFill>
                <a:latin typeface="Calibri" pitchFamily="34" charset="0"/>
                <a:ea typeface="Calibri" pitchFamily="34" charset="-122"/>
                <a:cs typeface="Calibri" pitchFamily="34" charset="-120"/>
              </a:rPr>
              <a:t>onmanorama.com/news/kerala/2026/07/23/bank-deducts-sms-fee</a:t>
            </a:r>
            <a:endParaRPr lang="en-US" sz="900" dirty="0"/>
          </a:p>
        </p:txBody>
      </p:sp>
      <p:sp>
        <p:nvSpPr>
          <p:cNvPr id="22" name="Shape 20"/>
          <p:cNvSpPr/>
          <p:nvPr/>
        </p:nvSpPr>
        <p:spPr>
          <a:xfrm>
            <a:off x="548640" y="5989320"/>
            <a:ext cx="11091672" cy="347472"/>
          </a:xfrm>
          <a:prstGeom prst="rect">
            <a:avLst/>
          </a:prstGeom>
          <a:solidFill>
            <a:srgbClr val="E3EFE7"/>
          </a:solidFill>
          <a:ln w="12700">
            <a:solidFill>
              <a:srgbClr val="E3EFE7"/>
            </a:solidFill>
            <a:prstDash val="solid"/>
          </a:ln>
        </p:spPr>
      </p:sp>
      <p:sp>
        <p:nvSpPr>
          <p:cNvPr id="23" name="Text 21"/>
          <p:cNvSpPr txBox="1"/>
          <p:nvPr/>
        </p:nvSpPr>
        <p:spPr>
          <a:xfrm>
            <a:off x="685800" y="5989320"/>
            <a:ext cx="10817352" cy="347472"/>
          </a:xfrm>
          <a:prstGeom prst="rect">
            <a:avLst/>
          </a:prstGeom>
          <a:noFill/>
          <a:ln/>
        </p:spPr>
        <p:txBody>
          <a:bodyPr wrap="square" lIns="0" tIns="0" rIns="0" bIns="0" rtlCol="0" anchor="ctr"/>
          <a:lstStyle/>
          <a:p>
            <a:pPr indent="0" marL="0">
              <a:buNone/>
            </a:pPr>
            <a:r>
              <a:rPr lang="en-US" sz="1050" b="1" dirty="0">
                <a:solidFill>
                  <a:srgbClr val="1E6A44"/>
                </a:solidFill>
                <a:latin typeface="Calibri" pitchFamily="34" charset="0"/>
                <a:ea typeface="Calibri" pitchFamily="34" charset="-122"/>
                <a:cs typeface="Calibri" pitchFamily="34" charset="-120"/>
              </a:rPr>
              <a:t>Every implemented rule in the rulebook links to a primary regulatory source and its effective window.</a:t>
            </a:r>
            <a:endParaRPr lang="en-US" sz="1050" dirty="0"/>
          </a:p>
        </p:txBody>
      </p:sp>
      <p:sp>
        <p:nvSpPr>
          <p:cNvPr id="24" name="Text 22"/>
          <p:cNvSpPr txBox="1"/>
          <p:nvPr/>
        </p:nvSpPr>
        <p:spPr>
          <a:xfrm>
            <a:off x="548640" y="6355080"/>
            <a:ext cx="7315200" cy="274320"/>
          </a:xfrm>
          <a:prstGeom prst="rect">
            <a:avLst/>
          </a:prstGeom>
          <a:noFill/>
          <a:ln/>
        </p:spPr>
        <p:txBody>
          <a:bodyPr wrap="square" lIns="0" tIns="0" rIns="0" bIns="0" rtlCol="0" anchor="ctr"/>
          <a:lstStyle/>
          <a:p>
            <a:pPr indent="0" marL="0">
              <a:buNone/>
            </a:pPr>
            <a:r>
              <a:rPr lang="en-US" sz="900" dirty="0">
                <a:solidFill>
                  <a:srgbClr val="4E5D55"/>
                </a:solidFill>
                <a:latin typeface="Calibri" pitchFamily="34" charset="0"/>
                <a:ea typeface="Calibri" pitchFamily="34" charset="-122"/>
                <a:cs typeface="Calibri" pitchFamily="34" charset="-120"/>
              </a:rPr>
              <a:t>Vasool Raja  ·  HackVerse 2.0  ·  Digital Twins &amp; FinTech</a:t>
            </a:r>
            <a:endParaRPr lang="en-US" sz="900" dirty="0"/>
          </a:p>
        </p:txBody>
      </p:sp>
      <p:sp>
        <p:nvSpPr>
          <p:cNvPr id="25" name="Text 23"/>
          <p:cNvSpPr txBox="1"/>
          <p:nvPr/>
        </p:nvSpPr>
        <p:spPr>
          <a:xfrm>
            <a:off x="11091672" y="6355080"/>
            <a:ext cx="548640" cy="274320"/>
          </a:xfrm>
          <a:prstGeom prst="rect">
            <a:avLst/>
          </a:prstGeom>
          <a:noFill/>
          <a:ln/>
        </p:spPr>
        <p:txBody>
          <a:bodyPr wrap="square" lIns="0" tIns="0" rIns="0" bIns="0" rtlCol="0" anchor="ctr"/>
          <a:lstStyle/>
          <a:p>
            <a:pPr algn="r" indent="0" marL="0">
              <a:buNone/>
            </a:pPr>
            <a:r>
              <a:rPr lang="en-US" sz="900" dirty="0">
                <a:solidFill>
                  <a:srgbClr val="4E5D5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Vasool Raja — Regulatory Digital Twin (HackVerse 2.0)</dc:title>
  <dc:subject>PptxGenJS Presentation</dc:subject>
  <dc:creator>Mad Angles, Coimbatore Institute of Technology</dc:creator>
  <cp:lastModifiedBy>Mad Angles, Coimbatore Institute of Technology</cp:lastModifiedBy>
  <cp:revision>1</cp:revision>
  <dcterms:created xsi:type="dcterms:W3CDTF">2026-09-17T16:25:41Z</dcterms:created>
  <dcterms:modified xsi:type="dcterms:W3CDTF">2026-09-17T16:25:41Z</dcterms:modified>
</cp:coreProperties>
</file>